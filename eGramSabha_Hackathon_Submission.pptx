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38" d="100"/>
          <a:sy n="138" d="100"/>
        </p:scale>
        <p:origin x="83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" y="3447288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Team Name : </a:t>
            </a:r>
            <a:r>
              <a:rPr sz="1600">
                <a:solidFill>
                  <a:srgbClr val="202729"/>
                </a:solidFill>
                <a:latin typeface="Manrope"/>
              </a:rPr>
              <a:t>Empower Panchayat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58768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Team Leader Name : </a:t>
            </a:r>
            <a:r>
              <a:rPr sz="1600">
                <a:solidFill>
                  <a:srgbClr val="202729"/>
                </a:solidFill>
                <a:latin typeface="Manrope"/>
              </a:rPr>
              <a:t>Anshul Jain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4297680"/>
            <a:ext cx="8522208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02729"/>
                </a:solidFill>
                <a:latin typeface="Manrope SemiBold"/>
              </a:rPr>
              <a:t>Problem Statement : </a:t>
            </a:r>
            <a:r>
              <a:rPr sz="1600">
                <a:solidFill>
                  <a:srgbClr val="202729"/>
                </a:solidFill>
                <a:latin typeface="Manrope"/>
              </a:rPr>
              <a:t>PS03 - AI for Rural Innovation &amp; Sustainable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Brief about the Idea: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371600"/>
            <a:ext cx="457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" y="16002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eGramSabha is an AI-powered platform by Empower Panchayat that digitises Gram Sabha governance -- democratizing AI to ensure marginalized rural citizens receive transparent, accountable local governance.</a:t>
            </a:r>
          </a:p>
          <a:p>
            <a:pPr>
              <a:spcAft>
                <a:spcPts val="400"/>
              </a:spcAft>
            </a:pPr>
            <a:endParaRPr sz="1000">
              <a:solidFill>
                <a:srgbClr val="434343"/>
              </a:solidFill>
              <a:latin typeface="Manrope"/>
            </a:endParaR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Aligned with Article 40 and the 73rd Constitutional Amendment, it addresses real challenges panchayats face: inadequate administrative support, insufficient training, and lack of digital infrastructure -- by bringing AI-driven competence building directly to the Gram Panchayat level.</a:t>
            </a:r>
          </a:p>
          <a:p>
            <a:pPr>
              <a:spcAft>
                <a:spcPts val="400"/>
              </a:spcAft>
            </a:pPr>
            <a:endParaRPr sz="1000">
              <a:solidFill>
                <a:srgbClr val="434343"/>
              </a:solidFill>
              <a:latin typeface="Manrope"/>
            </a:endParaRP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34343"/>
                </a:solidFill>
                <a:latin typeface="Manrope"/>
              </a:rPr>
              <a:t>It combines face recognition auth, multilingual voice input, LLM-powered meeting intelligence, and smart agenda creation across three role-based portals (Citizen, Official, Admin) -- strengthening community participation and enabling transparent resource administration.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41148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0" y="1645920"/>
            <a:ext cx="41148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66420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Configurable AI Provider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56816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Pattern lets deployments switch AI backends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multiple cloud &amp; open-source AI services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Change one env variable -- no code changes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880360"/>
            <a:ext cx="41148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0" y="2880360"/>
            <a:ext cx="411480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289864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Purpose-Built for Rural India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91256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auth for citizens who cannot type passwords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Voice-first issue creation in native languages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Low-bandwidth optimized, async AI 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069080"/>
            <a:ext cx="41148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4069080"/>
            <a:ext cx="411480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63440" y="40873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Open Source (Apache 2.0)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37997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Digital India and e-Panchayat initiatives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Solution Overview: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How is it different?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No existing platform combines face-auth + voice input + AI meeting intelligence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recognition replaces passwords -- an accessibility breakthrough for low-literacy users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providers with configurable fallback options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 transcription uses expert rural development prompts for domain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How does it solve the problem?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Citizens speak issues in native language -- AI transcribes, corrects, translates automatically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AI clusters similar issues into structured multilingual agendas (significant effort reduction)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Meeting recordings become formal Minutes in multiple languages simultaneously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Complete lifecycle: Reported → Agenda → Discussed → Resolved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USP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Configurable AI providers -- switch backends with one env variable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Purpose-built for rural India: face auth, voice-first, multilingual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Open-source under Apache 2.0 license, cloud-agnostic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Key Features: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Face Recognition 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Client-side biometric face recognition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Liveness detection (anti-spoofing)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High-accuracy face matching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Multilingual Voice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Citizens speak in native language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 support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 correction with domain prompts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Meeting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Auto MOM in multiple languages from audio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Smart agenda clusters similar issues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Async processing with scheduled pipelines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896" y="324612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Three Role-Based Portals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Citizen: face login, voice issues, RSVP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Official: meetings, agenda, MOM, export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Admin: onboarding, bulk import, config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9125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91256" y="324612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8269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Configurable AI Providers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269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Pattern + Factory design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LLM: Configurable cloud providers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STT: Configurable speech providers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71616" y="3246120"/>
            <a:ext cx="269748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71616" y="324612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63056" y="326440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Complete Governance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3557016"/>
            <a:ext cx="25146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Issue lifecycle tracking end-to-end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Role-based access control with data isolation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PDF/CSV export with Hindi + letterhead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Process Flow -- AI Pipeline: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8016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CITIZEN ISSUE CREATION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472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Face Login
(liveness check)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54480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709928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46504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Voice Record
(native language)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3512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108960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45536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Audio Upload
(cloud storage)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52544" y="169164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07992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4568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STT Provider
(configurable)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51576" y="169164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07024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0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LLM Correction
(expert prompts)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150608" y="169164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06056" y="150876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42632" y="154533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Multilingual
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" y="233172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MEETING INTELLIGENCE 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Schedule
Meeting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4480" y="274320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709928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46504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AI Agenda
from Issues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953512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108960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45536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Face Attend.
+ Record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352544" y="2743200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507992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44568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Audio → STT
Transcription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751576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07024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0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LLM Enhance
+ Translate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150608" y="2743200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306056" y="2560320"/>
            <a:ext cx="1234440" cy="566928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42632" y="2596896"/>
            <a:ext cx="1161288" cy="49377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Multilingual
MOM Output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" y="338328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" y="3474720"/>
            <a:ext cx="841248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Async Processing Architecture: All AI operations run asynchronously with database-backed state tracking. Each request returns immediately with a request_id and polling URLs. The pipeline supports: progress checkpoints at defined milestones • automatic retry with configurable attempts • resume from last successful stage • TTL-based cleanup • Scheduled jobs orchestrate the full pipeline (transcription polling, agenda generation, translation at configurable intervals).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Citizen Authentication Flow: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34440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STEP 1 — IDENTIFICATION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66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Enter Last 4 Digits
of Voter ID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57984" y="1572768"/>
            <a:ext cx="18288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3682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140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Select
Panchayat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15384" y="1572768"/>
            <a:ext cx="18288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256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714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Backend Finds
User Record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272784" y="1572768"/>
            <a:ext cx="18288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83096" y="141732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444752"/>
            <a:ext cx="1737360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Security Token
Generated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2103120"/>
            <a:ext cx="841248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896" y="2212848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STEP 2 — FACE VERIFICATION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Start Camera
+ Liveness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737360" y="2551176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892808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929384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Capture Face
Descriptor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319272" y="2551176"/>
            <a:ext cx="146304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474720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11296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Backend Verifies
Token + Face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901184" y="2551176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56632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93208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JWT Token
Issued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483096" y="2551176"/>
            <a:ext cx="146304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638544" y="2395728"/>
            <a:ext cx="1417320" cy="50292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0" y="2423160"/>
            <a:ext cx="1344168" cy="44805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Redirect to
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" y="310896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10896" y="3200400"/>
            <a:ext cx="84124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Security: No face images stored on server -- only mathematical descriptors for privacy. Liveness detection (blink + head movement) prevents photo/video spoofing. Time-limited security tokens with separate JWT secrets per user type. All communication over HTTPS with encrypted data in transit.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Issue &amp; Meeting Lifecycles: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123444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ISSUE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5661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Reported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76272" y="155448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5973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0545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Picked in
Agenda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325112" y="155448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41732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54296" y="144475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Discussed in
Gram Sabha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473952" y="1554480"/>
            <a:ext cx="22860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784848" y="1307592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30568" y="1325880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Resolved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4848" y="1682496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30568" y="1700784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Transferred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4848" y="2057400"/>
            <a:ext cx="1463040" cy="3200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524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30568" y="2075688"/>
            <a:ext cx="137160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No 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" y="2464308"/>
            <a:ext cx="8412480" cy="182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80"/>
            <a:ext cx="27432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MEETING LIFECYCLE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661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Scheduled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2176272" y="2788920"/>
            <a:ext cx="228600" cy="164592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45973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0545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In Progress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4325112" y="2788920"/>
            <a:ext cx="228600" cy="164592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608576" y="265176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54296" y="2679192"/>
            <a:ext cx="1737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Concluded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133856" y="3127248"/>
            <a:ext cx="182880" cy="182880"/>
          </a:xfrm>
          <a:prstGeom prst="down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10896" y="3364992"/>
            <a:ext cx="1097280" cy="3200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524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56616" y="3383280"/>
            <a:ext cx="100584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>
                <a:solidFill>
                  <a:srgbClr val="202729"/>
                </a:solidFill>
                <a:latin typeface="Manrope SemiBold"/>
              </a:rPr>
              <a:t>Cancelled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99616" y="3364992"/>
            <a:ext cx="1097280" cy="320040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545336" y="3383280"/>
            <a:ext cx="1005840" cy="28346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 dirty="0">
                <a:solidFill>
                  <a:srgbClr val="202729"/>
                </a:solidFill>
                <a:latin typeface="Manrope SemiBold"/>
              </a:rPr>
              <a:t>Rescheduled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0896" y="3753612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0896" y="3794760"/>
            <a:ext cx="8412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Issue Categories: Culture &amp; Nature • Infrastructure • Earning Opportunities • Basic Amenities • Social Welfare Schemes • Other  |  Meeting Features: RSVP management • Face-based attendance • Quorum tracking • AI agenda generation • Multilingual MOM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Data Architecture &amp; Relationships: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88336" y="1207008"/>
            <a:ext cx="3657600" cy="38404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688336" y="1207008"/>
            <a:ext cx="54864" cy="38404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825496" y="1252728"/>
            <a:ext cx="338328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1976D2"/>
                </a:solidFill>
                <a:latin typeface="Manrope SemiBold"/>
              </a:rPr>
              <a:t>PANCHAYAT  —  Central Governance Unit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07992" y="159105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293876" y="1682496"/>
            <a:ext cx="6446520" cy="1828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08576" y="1627632"/>
            <a:ext cx="822960" cy="12801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1976D2"/>
                </a:solidFill>
                <a:latin typeface="Manrope SemiBold"/>
              </a:rPr>
              <a:t>has many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473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3357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8241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31252" y="1682496"/>
            <a:ext cx="18288" cy="914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089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1773936"/>
            <a:ext cx="196596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Wards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Geographic subdivisions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Population tracking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Ward-level data isolation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973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459736" y="1773936"/>
            <a:ext cx="196596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5117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Users / Citizens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Voter ID + personal details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biometric descriptors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Ward assignment + status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0857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608576" y="1773936"/>
            <a:ext cx="196596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001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Attachments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Audio + Transcription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Category, status, lifecycle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57416" y="1773936"/>
            <a:ext cx="19659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757416" y="1773936"/>
            <a:ext cx="1965960" cy="2560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48856" y="1792224"/>
            <a:ext cx="17830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Gram Sabha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8856" y="2084832"/>
            <a:ext cx="1783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Agenda Items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Attendance Records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embeds: Guest Info + RSVP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" y="3072383"/>
            <a:ext cx="1965960" cy="659753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0896" y="3072384"/>
            <a:ext cx="45720" cy="6597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0624" y="3108960"/>
            <a:ext cx="1746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>
                <a:solidFill>
                  <a:srgbClr val="2E7D32"/>
                </a:solidFill>
                <a:latin typeface="Manrope SemiBold"/>
              </a:rPr>
              <a:t>Officials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" y="3291840"/>
            <a:ext cx="1746504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434343"/>
                </a:solidFill>
                <a:latin typeface="Manrope"/>
              </a:rPr>
              <a:t>Role-based accounts • Credentials • Panchayat link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331720" y="3227832"/>
            <a:ext cx="274320" cy="146304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642616" y="3145536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>
                <a:solidFill>
                  <a:srgbClr val="2E7D32"/>
                </a:solidFill>
                <a:latin typeface="Manrope SemiBold"/>
              </a:rPr>
              <a:t>optional link
to Users / Citizens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37176" y="3072383"/>
            <a:ext cx="4023360" cy="62774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837176" y="3072384"/>
            <a:ext cx="4023360" cy="20116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928616" y="3081528"/>
            <a:ext cx="38404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FFFFFF"/>
                </a:solidFill>
                <a:latin typeface="Manrope SemiBold"/>
              </a:rPr>
              <a:t>Supporting Collections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8616" y="3310128"/>
            <a:ext cx="38404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dirty="0">
                <a:solidFill>
                  <a:srgbClr val="434343"/>
                </a:solidFill>
                <a:latin typeface="Manrope"/>
              </a:rPr>
              <a:t>RSVP (Users ↔ Meetings)  •  Support Tickets  •  Platform Config  •  Roles &amp; Permissions  •  Issue Summaries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" y="3809861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" y="3915017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dirty="0">
                <a:solidFill>
                  <a:srgbClr val="666666"/>
                </a:solidFill>
                <a:latin typeface="Manrope"/>
              </a:rPr>
              <a:t>Storage: MongoDB document database with file storage for binary data (face images, audio recordings, letterheads). Separate async tracking database for AI request lifecycle. Compound + text indexes for optimized query patterns.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Application Portals: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9260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Citizen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Face Login:</a:t>
            </a:r>
            <a:r>
              <a:rPr sz="900">
                <a:solidFill>
                  <a:srgbClr val="434343"/>
                </a:solidFill>
                <a:latin typeface="Manrope"/>
              </a:rPr>
              <a:t> liveness detection verified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Voice Issues:</a:t>
            </a:r>
            <a:r>
              <a:rPr sz="900">
                <a:solidFill>
                  <a:srgbClr val="434343"/>
                </a:solidFill>
                <a:latin typeface="Manrope"/>
              </a:rPr>
              <a:t> record audio in native language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Issue Tracking:</a:t>
            </a:r>
            <a:r>
              <a:rPr sz="900">
                <a:solidFill>
                  <a:srgbClr val="434343"/>
                </a:solidFill>
                <a:latin typeface="Manrope"/>
              </a:rPr>
              <a:t> real-time status dashboard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Meeting RSVP:</a:t>
            </a:r>
            <a:r>
              <a:rPr sz="900">
                <a:solidFill>
                  <a:srgbClr val="434343"/>
                </a:solidFill>
                <a:latin typeface="Manrope"/>
              </a:rPr>
              <a:t> confirm attendance + history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Multilingual:</a:t>
            </a:r>
            <a:r>
              <a:rPr sz="900">
                <a:solidFill>
                  <a:srgbClr val="434343"/>
                </a:solidFill>
                <a:latin typeface="Manrope"/>
              </a:rPr>
              <a:t> bilingual UI (English + Hindi)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Official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Issue Mgmt:</a:t>
            </a:r>
            <a:r>
              <a:rPr sz="900">
                <a:solidFill>
                  <a:srgbClr val="434343"/>
                </a:solidFill>
                <a:latin typeface="Manrope"/>
              </a:rPr>
              <a:t> status workflow Reported → Resolved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Meeting Scheduler:</a:t>
            </a:r>
            <a:r>
              <a:rPr sz="900">
                <a:solidFill>
                  <a:srgbClr val="434343"/>
                </a:solidFill>
                <a:latin typeface="Manrope"/>
              </a:rPr>
              <a:t> RSVP tracking + quorum mgmt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AI Agenda:</a:t>
            </a:r>
            <a:r>
              <a:rPr sz="900">
                <a:solidFill>
                  <a:srgbClr val="434343"/>
                </a:solidFill>
                <a:latin typeface="Manrope"/>
              </a:rPr>
              <a:t> auto-generated from citizen issues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AI MOM:</a:t>
            </a:r>
            <a:r>
              <a:rPr sz="900">
                <a:solidFill>
                  <a:srgbClr val="434343"/>
                </a:solidFill>
                <a:latin typeface="Manrope"/>
              </a:rPr>
              <a:t> multilingual minutes from recordings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Export:</a:t>
            </a:r>
            <a:r>
              <a:rPr sz="900">
                <a:solidFill>
                  <a:srgbClr val="434343"/>
                </a:solidFill>
                <a:latin typeface="Manrope"/>
              </a:rPr>
              <a:t> PDF/CSV with letterhead + Hindi fonts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9260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5331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Admin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709928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Onboarding:</a:t>
            </a:r>
            <a:r>
              <a:rPr sz="900">
                <a:solidFill>
                  <a:srgbClr val="434343"/>
                </a:solidFill>
                <a:latin typeface="Manrope"/>
              </a:rPr>
              <a:t> panchayat setup with LGD codes + wards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Bulk Import:</a:t>
            </a:r>
            <a:r>
              <a:rPr sz="900">
                <a:solidFill>
                  <a:srgbClr val="434343"/>
                </a:solidFill>
                <a:latin typeface="Manrope"/>
              </a:rPr>
              <a:t> CSV citizen registration + dedup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Officials:</a:t>
            </a:r>
            <a:r>
              <a:rPr sz="900">
                <a:solidFill>
                  <a:srgbClr val="434343"/>
                </a:solidFill>
                <a:latin typeface="Manrope"/>
              </a:rPr>
              <a:t> manage accounts + RBAC role assignment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Config:</a:t>
            </a:r>
            <a:r>
              <a:rPr sz="900">
                <a:solidFill>
                  <a:srgbClr val="434343"/>
                </a:solidFill>
                <a:latin typeface="Manrope"/>
              </a:rPr>
              <a:t> face thresholds, liveness, platform settings</a:t>
            </a:r>
          </a:p>
          <a:p>
            <a:pPr>
              <a:spcBef>
                <a:spcPts val="100"/>
              </a:spcBef>
              <a:spcAft>
                <a:spcPts val="400"/>
              </a:spcAft>
            </a:pPr>
            <a:r>
              <a:rPr sz="900" b="1">
                <a:solidFill>
                  <a:srgbClr val="202729"/>
                </a:solidFill>
                <a:latin typeface="Manrope SemiBold"/>
              </a:rPr>
              <a:t>• Analytics:</a:t>
            </a:r>
            <a:r>
              <a:rPr sz="900">
                <a:solidFill>
                  <a:srgbClr val="434343"/>
                </a:solidFill>
                <a:latin typeface="Manrope"/>
              </a:rPr>
              <a:t> system-wide registration + usage statistics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System Architecture: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25880"/>
            <a:ext cx="5303520" cy="658368"/>
          </a:xfrm>
          <a:prstGeom prst="roundRect">
            <a:avLst>
              <a:gd name="adj" fmla="val 6000"/>
            </a:avLst>
          </a:prstGeom>
          <a:solidFill>
            <a:srgbClr val="E3F2FD"/>
          </a:solidFill>
          <a:ln w="1905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6245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1976D2"/>
                </a:solidFill>
                <a:latin typeface="Manrope SemiBold"/>
              </a:rPr>
              <a:t>Frontend  (React + Material-UI)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18488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434343"/>
                </a:solidFill>
                <a:latin typeface="Manrope"/>
              </a:rPr>
              <a:t>3 Portals  |  Face Recognition  |  Biometric Engine  |  Bilingual UI  |  Report Generation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34640" y="1993392"/>
            <a:ext cx="182880" cy="164592"/>
          </a:xfrm>
          <a:prstGeom prst="down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5760" y="2194560"/>
            <a:ext cx="5303520" cy="658368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23113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2E7D32"/>
                </a:solidFill>
                <a:latin typeface="Manrope SemiBold"/>
              </a:rPr>
              <a:t>Backend API  (Node.js + Express)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87168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434343"/>
                </a:solidFill>
                <a:latin typeface="Manrope"/>
              </a:rPr>
              <a:t>REST APIs  |  Data Models  |  JWT Auth  |  RBAC  |  File Storage  |  Scheduled Jobs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34640" y="2862072"/>
            <a:ext cx="182880" cy="164592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5760" y="3063240"/>
            <a:ext cx="5303520" cy="658368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09981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E65C00"/>
                </a:solidFill>
                <a:latin typeface="Manrope SemiBold"/>
              </a:rPr>
              <a:t>AI/ML Service  (Python + FastAPI)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55848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434343"/>
                </a:solidFill>
                <a:latin typeface="Manrope"/>
              </a:rPr>
              <a:t>Async STT + LLM + Translation  |  Strategy Pattern Providers  |  MongoDB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1234440"/>
            <a:ext cx="28346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0D47A1"/>
                </a:solidFill>
                <a:latin typeface="Manrope SemiBold"/>
              </a:rPr>
              <a:t>AI PROVIDERS (CONFIGURABLE)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463040"/>
            <a:ext cx="283464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89320" y="1463040"/>
            <a:ext cx="54864" cy="4114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26480" y="1472184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1976D2"/>
                </a:solidFill>
                <a:latin typeface="Manrope SemiBold"/>
              </a:rPr>
              <a:t>STT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664208"/>
            <a:ext cx="2560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Manrope"/>
              </a:rPr>
              <a:t>Multiple speech-to-text providers (configurable)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1938528"/>
            <a:ext cx="283464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89320" y="1938528"/>
            <a:ext cx="54864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1947672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2E7D32"/>
                </a:solidFill>
                <a:latin typeface="Manrope SemiBold"/>
              </a:rPr>
              <a:t>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139696"/>
            <a:ext cx="2560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Manrope"/>
              </a:rPr>
              <a:t>Multiple LLM providers (configurable)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2414016"/>
            <a:ext cx="283464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989320" y="2414016"/>
            <a:ext cx="54864" cy="41148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0" y="2423160"/>
            <a:ext cx="64008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E65C00"/>
                </a:solidFill>
                <a:latin typeface="Manrope SemiBold"/>
              </a:rPr>
              <a:t>Translate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15184"/>
            <a:ext cx="2560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Manrope"/>
              </a:rPr>
              <a:t>Multiple translation providers (configurable)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2971800"/>
            <a:ext cx="283464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>
                <a:solidFill>
                  <a:srgbClr val="0D47A1"/>
                </a:solidFill>
                <a:latin typeface="Manrope SemiBold"/>
              </a:rPr>
              <a:t>DATABASE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200400"/>
            <a:ext cx="2834640" cy="54864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80760" y="3218688"/>
            <a:ext cx="265176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434343"/>
                </a:solidFill>
                <a:latin typeface="Manrope"/>
              </a:rPr>
              <a:t>MongoDB • Multiple Collections • File Storage
Async AI state tracking database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" y="3977639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0896" y="4069080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Deployment: Docker Compose (containerized microservices)  •  Health checks + restart policies  •  Reverse proxy  •  Cloud-agnostic -- runs on any cloud or Kubernetes cluster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Technologies Used: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411480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React + Material-UI (MUI)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recognition engine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PDF generation, internationalization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Client-side biometric processing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Bilingual UI (English + Hindi)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54296" y="132588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54296" y="1325880"/>
            <a:ext cx="41148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45736" y="1344168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5736" y="1636776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Node.js + Express + MongoDB ODM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MongoDB with file storage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JWT authentication + secure hashing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Auto-generated API documentation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Scheduled job 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" y="3200399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10896" y="3200399"/>
            <a:ext cx="411480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02336" y="3218687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/ ML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3511295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Python + FastAPI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Async MongoDB driver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providers (Indian languages)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LLM providers (configurable)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Audio processing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54296" y="3200399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54296" y="3200399"/>
            <a:ext cx="4114800" cy="25603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45736" y="3218687"/>
            <a:ext cx="3931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Cloud Services + Infra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511295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LLM APIs (configurable provider)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STT services (Indian languages)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translation services (optional)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Docker Compose + Reverse Proxy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SDKs for provider integration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Estimated Implementation Cost: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280160"/>
            <a:ext cx="8412480" cy="36576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8056" y="1316736"/>
            <a:ext cx="82296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>
                <a:solidFill>
                  <a:srgbClr val="2E7D32"/>
                </a:solidFill>
                <a:latin typeface="Manrope SemiBold"/>
              </a:rPr>
              <a:t>eGramSabha is fully open-source (Apache 2.0) -- Zero licensing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0896" y="1874519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VM instance for hosting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MongoDB free tier available for pilot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Docker deployment minimizes ops 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9125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91256" y="1874519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8269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Services (Pay-per-use)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269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Open-source models with free tiers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Regional STT provider programs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LLM: pay-per-use token pricing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 STT: pay-per-use audio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874519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71616" y="1874519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63056" y="1892807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Cost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6" y="2185415"/>
            <a:ext cx="2514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Switch providers via env variable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Free-tier for pilots, cloud at scale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Mix-and-match STT + LLM providers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" y="3749039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>
                <a:solidFill>
                  <a:srgbClr val="666666"/>
                </a:solidFill>
                <a:latin typeface="Manrope"/>
              </a:rPr>
              <a:t>Target: Serve panchayats across India with infrastructure that adapts to budget constraints through configurable AI provider selection.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0896" y="859536"/>
            <a:ext cx="84124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>
                <a:solidFill>
                  <a:srgbClr val="202729"/>
                </a:solidFill>
                <a:latin typeface="Manrope"/>
              </a:rPr>
              <a:t>Impact, Scalability &amp; Innovation: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10896" y="1325880"/>
            <a:ext cx="2697480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233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Rural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Gram Panchayats across India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Millions of rural citizen beneficiaries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Face auth removes literacy barrier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Voice-first in native languages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Supports Digital India 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9125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91256" y="1325880"/>
            <a:ext cx="26974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8269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Scalability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269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Stateless services scale horizontally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Cloud-agnostic, runs on any platform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Separate DB for transactional + AI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Configurable cloud providers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Database replica set + sharding ready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71616" y="1325880"/>
            <a:ext cx="269748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71616" y="1325880"/>
            <a:ext cx="2697480" cy="256032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63056" y="1344168"/>
            <a:ext cx="25146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>
                <a:solidFill>
                  <a:srgbClr val="FFFFFF"/>
                </a:solidFill>
                <a:latin typeface="Manrope SemiBold"/>
              </a:rPr>
              <a:t>AI Innovation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3056" y="1636776"/>
            <a:ext cx="2514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Multiple STT provider pipeline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Expert rural development LLM prompts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Smart issue-to-agenda clustering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Multilingual MOM from single recording</a:t>
            </a:r>
          </a:p>
          <a:p>
            <a:pPr>
              <a:spcBef>
                <a:spcPts val="100"/>
              </a:spcBef>
              <a:spcAft>
                <a:spcPts val="200"/>
              </a:spcAft>
            </a:pPr>
            <a:r>
              <a:rPr sz="900">
                <a:solidFill>
                  <a:srgbClr val="434343"/>
                </a:solidFill>
                <a:latin typeface="Manrope"/>
              </a:rPr>
              <a:t>• Strategy + Factory provider pattern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" y="3886200"/>
            <a:ext cx="8412480" cy="274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0896" y="3977639"/>
            <a:ext cx="84124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>
                <a:solidFill>
                  <a:srgbClr val="666666"/>
                </a:solidFill>
                <a:latin typeface="Manrope"/>
              </a:rPr>
              <a:t>Future Roadmap: Native mobile apps  •  SMS/WhatsApp notifications  •  Offline sync  •  Government portal integration (e-Panchayat, LGD)  •  Voice-first navigation  •  Predictive analytics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1607</Words>
  <Application>Microsoft Office PowerPoint</Application>
  <PresentationFormat>On-screen Show (16:9)</PresentationFormat>
  <Paragraphs>227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Manrope</vt:lpstr>
      <vt:lpstr>Manrope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Anuj Pratap Singh</cp:lastModifiedBy>
  <cp:revision>3</cp:revision>
  <dcterms:created xsi:type="dcterms:W3CDTF">2013-01-27T09:14:16Z</dcterms:created>
  <dcterms:modified xsi:type="dcterms:W3CDTF">2026-02-15T17:06:28Z</dcterms:modified>
  <cp:category/>
</cp:coreProperties>
</file>