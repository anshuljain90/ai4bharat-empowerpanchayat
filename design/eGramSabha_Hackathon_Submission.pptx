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3447288"/>
            <a:ext cx="852220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02729"/>
                </a:solidFill>
                <a:latin typeface="Manrope SemiBold"/>
              </a:rPr>
              <a:t>Team Name : </a:t>
            </a:r>
            <a:r>
              <a:rPr sz="1600">
                <a:solidFill>
                  <a:srgbClr val="202729"/>
                </a:solidFill>
                <a:latin typeface="Manrope"/>
              </a:rPr>
              <a:t>Empower Panchayat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58768"/>
            <a:ext cx="852220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02729"/>
                </a:solidFill>
                <a:latin typeface="Manrope SemiBold"/>
              </a:rPr>
              <a:t>Team Leader Name : </a:t>
            </a:r>
            <a:r>
              <a:rPr sz="1600">
                <a:solidFill>
                  <a:srgbClr val="202729"/>
                </a:solidFill>
                <a:latin typeface="Manrope"/>
              </a:rPr>
              <a:t>Anshul Jain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297680"/>
            <a:ext cx="852220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02729"/>
                </a:solidFill>
                <a:latin typeface="Manrope SemiBold"/>
              </a:rPr>
              <a:t>Problem Statement : </a:t>
            </a:r>
            <a:r>
              <a:rPr sz="1600">
                <a:solidFill>
                  <a:srgbClr val="202729"/>
                </a:solidFill>
                <a:latin typeface="Manrope"/>
              </a:rPr>
              <a:t>PS03 - AI for Rural Innovation &amp; Sustainable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Brief about the Idea: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371600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1976D2"/>
                </a:solidFill>
                <a:latin typeface="Manrope SemiBold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002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34343"/>
                </a:solidFill>
                <a:latin typeface="Manrope"/>
              </a:rPr>
              <a:t>eGramSabha is an AI-powered platform by Empower Panchayat that digitises Gram Sabha governance -- democratizing AI to ensure marginalized rural citizens receive transparent, accountable local governance.</a:t>
            </a:r>
          </a:p>
          <a:p>
            <a:pPr>
              <a:spcAft>
                <a:spcPts val="400"/>
              </a:spcAft>
            </a:pPr>
            <a:endParaRPr sz="1000">
              <a:solidFill>
                <a:srgbClr val="434343"/>
              </a:solidFill>
              <a:latin typeface="Manrope"/>
            </a:endParaRP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34343"/>
                </a:solidFill>
                <a:latin typeface="Manrope"/>
              </a:rPr>
              <a:t>Aligned with Article 40 and the 73rd Constitutional Amendment, it addresses real challenges panchayats face: inadequate administrative support, insufficient training, and lack of digital infrastructure -- by bringing AI-driven competence building directly to the Gram Panchayat level.</a:t>
            </a:r>
          </a:p>
          <a:p>
            <a:pPr>
              <a:spcAft>
                <a:spcPts val="400"/>
              </a:spcAft>
            </a:pPr>
            <a:endParaRPr sz="1000">
              <a:solidFill>
                <a:srgbClr val="434343"/>
              </a:solidFill>
              <a:latin typeface="Manrope"/>
            </a:endParaRP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34343"/>
                </a:solidFill>
                <a:latin typeface="Manrope"/>
              </a:rPr>
              <a:t>It combines face recognition auth, multilingual voice input, LLM-powered meeting intelligence, and smart agenda creation across three role-based portals (Citizen, Official, Admin) -- strengthening community participation and enabling transparent resource administration.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371600"/>
            <a:ext cx="10972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2E7D32"/>
                </a:solidFill>
                <a:latin typeface="Manrope SemiBold"/>
              </a:rPr>
              <a:t>INNOVATION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645920"/>
            <a:ext cx="41148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0" y="1645920"/>
            <a:ext cx="41148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66420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Configurable AI Provider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56816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Strategy Pattern lets deployments switch AI backends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Supports multiple cloud &amp; open-source AI services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Change one env variable -- no code changes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880360"/>
            <a:ext cx="41148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0" y="2880360"/>
            <a:ext cx="411480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289864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Purpose-Built for Rural India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91256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auth for citizens who cannot type passwords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Voice-first issue creation in native languages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Low-bandwidth optimized, async AI processing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069080"/>
            <a:ext cx="41148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0" y="4069080"/>
            <a:ext cx="411480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0" y="408736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Open Source (Apache 2.0)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37997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Supports Digital India and e-Panchayat initiatives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Solution Overview: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How is it different?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636776"/>
            <a:ext cx="2514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No existing platform combines face-auth + voice input + AI meeting intelligence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recognition replaces passwords -- an accessibility breakthrough for low-literacy users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STT providers with configurable fallback options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LLM transcription uses expert rural development prompts for domain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125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91256" y="1325880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8269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How does it solve the problem?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1636776"/>
            <a:ext cx="2514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Citizens speak issues in native language -- AI transcribes, corrects, translates automatically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AI clusters similar issues into structured multilingual agendas (significant effort reduction)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Meeting recordings become formal Minutes in multiple languages simultaneously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Complete lifecycle: Reported → Agenda → Discussed → Resolved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71616" y="1325880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6305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USP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1636776"/>
            <a:ext cx="2514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Configurable AI providers -- switch backends with one env variable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Purpose-built for rural India: face auth, voice-first, multilingual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Open-source under Apache 2.0 license, cloud-agnostic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Key Features: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Face Recognition 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63677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Client-side biometric face recognition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Liveness detection (anti-spoofing)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High-accuracy face matching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1256" y="132588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91256" y="1325880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8269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Multilingual Voice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163677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Citizens speak in native language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STT provider support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LLM correction with domain prompts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32588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71616" y="1325880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6305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AI Meeting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163677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Auto MOM in multiple languages from audio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Smart agenda clusters similar issues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Async processing with scheduled pipelines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" y="324612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10896" y="3246120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6" y="326440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Three Role-Based Portals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" y="355701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Citizen: face login, voice issues, RSVP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Official: meetings, agenda, MOM, export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Admin: onboarding, bulk import, config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91256" y="324612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91256" y="3246120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82696" y="326440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Configurable AI Providers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2696" y="355701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Strategy Pattern + Factory design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LLM: Configurable cloud providers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STT: Configurable speech providers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71616" y="324612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071616" y="3246120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63056" y="326440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Complete Governance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355701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Issue lifecycle tracking end-to-end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Role-based access control with data isolation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PDF/CSV export with Hindi + letterhead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Process Flow -- AI Pipeline: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28016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1976D2"/>
                </a:solidFill>
                <a:latin typeface="Manrope SemiBold"/>
              </a:rPr>
              <a:t>CITIZEN ISSUE CREATION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7472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Face Login
(liveness check)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554480" y="169164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709928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46504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Voice Record
(native language)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53512" y="169164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108960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45536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Audio Upload
(cloud storage)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352544" y="169164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07992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4568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STT Provider
(configurable)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751576" y="169164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907024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0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LLM Correction
(expert prompts)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50608" y="169164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06056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42632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Multilingual
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" y="233172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2E7D32"/>
                </a:solidFill>
                <a:latin typeface="Manrope SemiBold"/>
              </a:rPr>
              <a:t>MEETING INTELLIGENCE 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Schedule
Meeting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554480" y="274320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709928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46504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AI Agenda
from Issues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953512" y="274320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108960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45536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Face Attend.
+ Record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352544" y="274320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507992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44568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Audio → STT
Transcription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751576" y="274320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907024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0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LLM Enhance
+ Translate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150608" y="274320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306056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42632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Multilingual
MOM Output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" y="3383280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10896" y="3474720"/>
            <a:ext cx="841248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Manrope"/>
              </a:rPr>
              <a:t>Async Processing Architecture: All AI operations run asynchronously with database-backed state tracking. Each request returns immediately with a request_id and polling URLs. The pipeline supports: progress checkpoints at defined milestones • automatic retry with configurable attempts • resume from last successful stage • TTL-based cleanup • Scheduled jobs orchestrate the full pipeline (transcription polling, agenda generation, translation at configurable intervals).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Citizen Authentication Flow: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234440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1976D2"/>
                </a:solidFill>
                <a:latin typeface="Manrope SemiBold"/>
              </a:rPr>
              <a:t>STEP 1 — IDENTIFICATION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" y="1417320"/>
            <a:ext cx="1828800" cy="50292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56616" y="1444752"/>
            <a:ext cx="1737360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Enter Last 4 Digits
of Voter ID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57984" y="1572768"/>
            <a:ext cx="18288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368296" y="1417320"/>
            <a:ext cx="1828800" cy="50292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14016" y="1444752"/>
            <a:ext cx="1737360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Select
Panchayat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215384" y="1572768"/>
            <a:ext cx="18288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25696" y="1417320"/>
            <a:ext cx="1828800" cy="5029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71416" y="1444752"/>
            <a:ext cx="1737360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Backend Finds
User Record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272784" y="1572768"/>
            <a:ext cx="182880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83096" y="1417320"/>
            <a:ext cx="1828800" cy="5029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444752"/>
            <a:ext cx="1737360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Security Token
Generated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2103120"/>
            <a:ext cx="8412480" cy="1828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0896" y="2212848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2E7D32"/>
                </a:solidFill>
                <a:latin typeface="Manrope SemiBold"/>
              </a:rPr>
              <a:t>STEP 2 — FACE VERIFICATION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Start Camera
+ Liveness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737360" y="2551176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892808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929384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Capture Face
Descriptor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319272" y="2551176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474720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11296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Backend Verifies
Token + Face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901184" y="2551176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56632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93208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JWT Token
Issued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483096" y="2551176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638544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75120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Redirect to
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6" y="3108960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10896" y="3200400"/>
            <a:ext cx="84124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Manrope"/>
              </a:rPr>
              <a:t>Security: No face images stored on server -- only mathematical descriptors for privacy. Liveness detection (blink + head movement) prevents photo/video spoofing. Time-limited security tokens with separate JWT secrets per user type. All communication over HTTPS with encrypted data in transit.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Issue &amp; Meeting Lifecycles: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23444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1976D2"/>
                </a:solidFill>
                <a:latin typeface="Manrope SemiBold"/>
              </a:rPr>
              <a:t>ISSUE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" y="141732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56616" y="144475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Reported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76272" y="1554480"/>
            <a:ext cx="22860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459736" y="141732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05456" y="144475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Picked in
Agenda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325112" y="1554480"/>
            <a:ext cx="22860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08576" y="141732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54296" y="144475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Discussed in
Gram Sabha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473952" y="1554480"/>
            <a:ext cx="228600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784848" y="1307592"/>
            <a:ext cx="1463040" cy="32004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30568" y="1325880"/>
            <a:ext cx="137160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Resolved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4848" y="1682496"/>
            <a:ext cx="1463040" cy="32004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30568" y="1700784"/>
            <a:ext cx="137160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Transferred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4848" y="2057400"/>
            <a:ext cx="1463040" cy="3200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524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30568" y="2075688"/>
            <a:ext cx="137160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No Action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" y="2441448"/>
            <a:ext cx="8412480" cy="182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0896" y="246888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2E7D32"/>
                </a:solidFill>
                <a:latin typeface="Manrope SemiBold"/>
              </a:rPr>
              <a:t>MEETING LIFECYCLE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" y="265176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6616" y="267919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Scheduled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2176272" y="2788920"/>
            <a:ext cx="22860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459736" y="265176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05456" y="267919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In Progress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325112" y="2788920"/>
            <a:ext cx="228600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608576" y="265176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54296" y="267919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Concluded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1133856" y="3127248"/>
            <a:ext cx="182880" cy="182880"/>
          </a:xfrm>
          <a:prstGeom prst="down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10896" y="3364992"/>
            <a:ext cx="1097280" cy="3200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524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56616" y="3383280"/>
            <a:ext cx="100584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Cancelled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99616" y="3364992"/>
            <a:ext cx="1097280" cy="32004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545336" y="3383280"/>
            <a:ext cx="100584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Rescheduled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0896" y="3762756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0896" y="3794760"/>
            <a:ext cx="8412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Manrope"/>
              </a:rPr>
              <a:t>Issue Categories: Culture &amp; Nature • Infrastructure • Earning Opportunities • Basic Amenities • Social Welfare Schemes • Other  |  Meeting Features: RSVP management • Face-based attendance • Quorum tracking • AI agenda generation • Multilingual MOM export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Data Architecture &amp; Relationships: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88336" y="1207008"/>
            <a:ext cx="3657600" cy="38404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688336" y="1207008"/>
            <a:ext cx="54864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25496" y="1252728"/>
            <a:ext cx="3383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1976D2"/>
                </a:solidFill>
                <a:latin typeface="Manrope SemiBold"/>
              </a:rPr>
              <a:t>PANCHAYAT  —  Central Governance Unit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07992" y="159105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293876" y="1682496"/>
            <a:ext cx="6446520" cy="1828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08576" y="1627632"/>
            <a:ext cx="822960" cy="12801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1976D2"/>
                </a:solidFill>
                <a:latin typeface="Manrope SemiBold"/>
              </a:rPr>
              <a:t>has many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4732" y="168249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33572" y="168249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582412" y="168249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31252" y="168249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10896" y="1773936"/>
            <a:ext cx="19659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0896" y="1773936"/>
            <a:ext cx="196596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2336" y="1792224"/>
            <a:ext cx="1783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Wards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" y="2084832"/>
            <a:ext cx="1783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Geographic subdivisions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Population tracking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Ward-level data isolation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9736" y="1773936"/>
            <a:ext cx="19659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459736" y="1773936"/>
            <a:ext cx="196596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51176" y="1792224"/>
            <a:ext cx="1783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Users / Citizens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084832"/>
            <a:ext cx="1783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Voter ID + personal details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biometric descriptors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Ward assignment + status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08576" y="1773936"/>
            <a:ext cx="19659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608576" y="1773936"/>
            <a:ext cx="196596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00016" y="1792224"/>
            <a:ext cx="1783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Issues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2084832"/>
            <a:ext cx="1783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Attachments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Audio + Transcription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Category, status, lifecycle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57416" y="1773936"/>
            <a:ext cx="19659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757416" y="1773936"/>
            <a:ext cx="1965960" cy="25603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48856" y="1792224"/>
            <a:ext cx="1783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Gram Sabha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8856" y="2084832"/>
            <a:ext cx="1783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Agenda Items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Attendance Records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Guest Info + RSVP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0896" y="3072384"/>
            <a:ext cx="1965960" cy="585216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10896" y="3072384"/>
            <a:ext cx="457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0624" y="3108960"/>
            <a:ext cx="1746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>
                <a:solidFill>
                  <a:srgbClr val="2E7D32"/>
                </a:solidFill>
                <a:latin typeface="Manrope SemiBold"/>
              </a:rPr>
              <a:t>Officials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" y="3291840"/>
            <a:ext cx="1746504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dirty="0">
                <a:solidFill>
                  <a:srgbClr val="434343"/>
                </a:solidFill>
                <a:latin typeface="Manrope"/>
              </a:rPr>
              <a:t>Role-based accounts • Credentials • Panchayat link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2331720" y="3227832"/>
            <a:ext cx="274320" cy="146304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642616" y="3145536"/>
            <a:ext cx="1097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2E7D32"/>
                </a:solidFill>
                <a:latin typeface="Manrope SemiBold"/>
              </a:rPr>
              <a:t>optional link
to Users / Citizens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37176" y="3072384"/>
            <a:ext cx="4023360" cy="5852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837176" y="3072384"/>
            <a:ext cx="4023360" cy="20116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28616" y="3081528"/>
            <a:ext cx="3840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FFFFFF"/>
                </a:solidFill>
                <a:latin typeface="Manrope SemiBold"/>
              </a:rPr>
              <a:t>Supporting Collections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28616" y="3310128"/>
            <a:ext cx="38404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dirty="0">
                <a:solidFill>
                  <a:srgbClr val="434343"/>
                </a:solidFill>
                <a:latin typeface="Manrope"/>
              </a:rPr>
              <a:t>RSVP (Users ↔ Meetings)  •  Support Tickets  •  Platform Config  •  Roles &amp; Permissions  •  Issue Summaries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3756" y="3712464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10896" y="3730752"/>
            <a:ext cx="8412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Manrope"/>
              </a:rPr>
              <a:t>Storage: MongoDB document database with file storage for binary data (face images, audio recordings, letterheads). Separate async tracking database for AI request lifecycle. Compound + text indexes for optimized query patterns.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Application Portals: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2697480" cy="29260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5331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Citizen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709928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Face Login:</a:t>
            </a:r>
            <a:r>
              <a:rPr sz="900">
                <a:solidFill>
                  <a:srgbClr val="434343"/>
                </a:solidFill>
                <a:latin typeface="Manrope"/>
              </a:rPr>
              <a:t> liveness detection verified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Voice Issues:</a:t>
            </a:r>
            <a:r>
              <a:rPr sz="900">
                <a:solidFill>
                  <a:srgbClr val="434343"/>
                </a:solidFill>
                <a:latin typeface="Manrope"/>
              </a:rPr>
              <a:t> record audio in native language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Issue Tracking:</a:t>
            </a:r>
            <a:r>
              <a:rPr sz="900">
                <a:solidFill>
                  <a:srgbClr val="434343"/>
                </a:solidFill>
                <a:latin typeface="Manrope"/>
              </a:rPr>
              <a:t> real-time status dashboard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Meeting RSVP:</a:t>
            </a:r>
            <a:r>
              <a:rPr sz="900">
                <a:solidFill>
                  <a:srgbClr val="434343"/>
                </a:solidFill>
                <a:latin typeface="Manrope"/>
              </a:rPr>
              <a:t> confirm attendance + history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Multilingual:</a:t>
            </a:r>
            <a:r>
              <a:rPr sz="900">
                <a:solidFill>
                  <a:srgbClr val="434343"/>
                </a:solidFill>
                <a:latin typeface="Manrope"/>
              </a:rPr>
              <a:t> bilingual UI (English + Hindi)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125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91256" y="1325880"/>
            <a:ext cx="269748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82696" y="135331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Official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1709928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Issue Mgmt:</a:t>
            </a:r>
            <a:r>
              <a:rPr sz="900">
                <a:solidFill>
                  <a:srgbClr val="434343"/>
                </a:solidFill>
                <a:latin typeface="Manrope"/>
              </a:rPr>
              <a:t> status workflow Reported → Resolved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Meeting Scheduler:</a:t>
            </a:r>
            <a:r>
              <a:rPr sz="900">
                <a:solidFill>
                  <a:srgbClr val="434343"/>
                </a:solidFill>
                <a:latin typeface="Manrope"/>
              </a:rPr>
              <a:t> RSVP tracking + quorum mgmt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AI Agenda:</a:t>
            </a:r>
            <a:r>
              <a:rPr sz="900">
                <a:solidFill>
                  <a:srgbClr val="434343"/>
                </a:solidFill>
                <a:latin typeface="Manrope"/>
              </a:rPr>
              <a:t> auto-generated from citizen issues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AI MOM:</a:t>
            </a:r>
            <a:r>
              <a:rPr sz="900">
                <a:solidFill>
                  <a:srgbClr val="434343"/>
                </a:solidFill>
                <a:latin typeface="Manrope"/>
              </a:rPr>
              <a:t> multilingual minutes from recordings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Export:</a:t>
            </a:r>
            <a:r>
              <a:rPr sz="900">
                <a:solidFill>
                  <a:srgbClr val="434343"/>
                </a:solidFill>
                <a:latin typeface="Manrope"/>
              </a:rPr>
              <a:t> PDF/CSV with letterhead + Hindi fonts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71616" y="1325880"/>
            <a:ext cx="2697480" cy="29260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63056" y="135331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Admin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1709928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Onboarding:</a:t>
            </a:r>
            <a:r>
              <a:rPr sz="900">
                <a:solidFill>
                  <a:srgbClr val="434343"/>
                </a:solidFill>
                <a:latin typeface="Manrope"/>
              </a:rPr>
              <a:t> panchayat setup with LGD codes + wards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Bulk Import:</a:t>
            </a:r>
            <a:r>
              <a:rPr sz="900">
                <a:solidFill>
                  <a:srgbClr val="434343"/>
                </a:solidFill>
                <a:latin typeface="Manrope"/>
              </a:rPr>
              <a:t> CSV citizen registration + dedup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Officials:</a:t>
            </a:r>
            <a:r>
              <a:rPr sz="900">
                <a:solidFill>
                  <a:srgbClr val="434343"/>
                </a:solidFill>
                <a:latin typeface="Manrope"/>
              </a:rPr>
              <a:t> manage accounts + RBAC role assignment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Config:</a:t>
            </a:r>
            <a:r>
              <a:rPr sz="900">
                <a:solidFill>
                  <a:srgbClr val="434343"/>
                </a:solidFill>
                <a:latin typeface="Manrope"/>
              </a:rPr>
              <a:t> face thresholds, liveness, platform settings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Analytics:</a:t>
            </a:r>
            <a:r>
              <a:rPr sz="900">
                <a:solidFill>
                  <a:srgbClr val="434343"/>
                </a:solidFill>
                <a:latin typeface="Manrope"/>
              </a:rPr>
              <a:t> system-wide registration + usage statistics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System Architecture: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188720"/>
            <a:ext cx="8412480" cy="621792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20624" y="1207008"/>
            <a:ext cx="228600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>
                <a:solidFill>
                  <a:srgbClr val="1976D2"/>
                </a:solidFill>
                <a:latin typeface="Manrope SemiBold"/>
              </a:rPr>
              <a:t>Client Browser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389888"/>
            <a:ext cx="260604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08176"/>
            <a:ext cx="2496312" cy="1188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0D47A1"/>
                </a:solidFill>
                <a:latin typeface="Manrope SemiBold"/>
              </a:rPr>
              <a:t>Admin Portal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536192"/>
            <a:ext cx="24963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>
                <a:solidFill>
                  <a:srgbClr val="434343"/>
                </a:solidFill>
                <a:latin typeface="Manrope"/>
              </a:rPr>
              <a:t>Panchayat Onboarding
Bulk Import • Statistics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63824" y="1389888"/>
            <a:ext cx="260604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18688" y="1408176"/>
            <a:ext cx="2496312" cy="1188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0D47A1"/>
                </a:solidFill>
                <a:latin typeface="Manrope SemiBold"/>
              </a:rPr>
              <a:t>Official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8688" y="1536192"/>
            <a:ext cx="24963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>
                <a:solidFill>
                  <a:srgbClr val="434343"/>
                </a:solidFill>
                <a:latin typeface="Manrope"/>
              </a:rPr>
              <a:t>Issue Mgmt • Meeting Mgmt
Attendance • Agenda/MOM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07024" y="1389888"/>
            <a:ext cx="260604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61888" y="1408176"/>
            <a:ext cx="2496312" cy="1188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0D47A1"/>
                </a:solidFill>
                <a:latin typeface="Manrope SemiBold"/>
              </a:rPr>
              <a:t>Citizen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536192"/>
            <a:ext cx="24963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>
                <a:solidFill>
                  <a:srgbClr val="434343"/>
                </a:solidFill>
                <a:latin typeface="Manrope"/>
              </a:rPr>
              <a:t>Face Login • Issue Report
RSVP • Tracking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4425696" y="1819656"/>
            <a:ext cx="182880" cy="146304"/>
          </a:xfrm>
          <a:prstGeom prst="down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81728" y="1819656"/>
            <a:ext cx="1645920" cy="12801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1">
                <a:solidFill>
                  <a:srgbClr val="1976D2"/>
                </a:solidFill>
                <a:latin typeface="Manrope SemiBold"/>
              </a:rPr>
              <a:t>HTTPS / REST + JWT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1993392"/>
            <a:ext cx="8412480" cy="54864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0624" y="2011680"/>
            <a:ext cx="457200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>
                <a:solidFill>
                  <a:srgbClr val="2E7D32"/>
                </a:solidFill>
                <a:latin typeface="Manrope SemiBold"/>
              </a:rPr>
              <a:t>Backend API Service  (Node.js + Express)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" y="2185416"/>
            <a:ext cx="8193024" cy="12801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6" y="2194560"/>
            <a:ext cx="8046720" cy="1097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>
                <a:solidFill>
                  <a:srgbClr val="2E7D32"/>
                </a:solidFill>
                <a:latin typeface="Manrope SemiBold"/>
              </a:rPr>
              <a:t>Middleware:  Security → Rate Limit → Auth → Authorization → Data Scope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" y="2340864"/>
            <a:ext cx="1920240" cy="146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0624" y="2350008"/>
            <a:ext cx="1920240" cy="12801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>
                <a:solidFill>
                  <a:srgbClr val="2E7D32"/>
                </a:solidFill>
                <a:latin typeface="Manrope SemiBold"/>
              </a:rPr>
              <a:t>Route Files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50592" y="2340864"/>
            <a:ext cx="1920240" cy="146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50592" y="2350008"/>
            <a:ext cx="1920240" cy="12801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>
                <a:solidFill>
                  <a:srgbClr val="2E7D32"/>
                </a:solidFill>
                <a:latin typeface="Manrope SemiBold"/>
              </a:rPr>
              <a:t>Business Logic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2340864"/>
            <a:ext cx="1920240" cy="146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80560" y="2350008"/>
            <a:ext cx="1920240" cy="12801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>
                <a:solidFill>
                  <a:srgbClr val="2E7D32"/>
                </a:solidFill>
                <a:latin typeface="Manrope SemiBold"/>
              </a:rPr>
              <a:t>GridFS Storage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10528" y="2340864"/>
            <a:ext cx="1920240" cy="146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10528" y="2350008"/>
            <a:ext cx="1920240" cy="12801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>
                <a:solidFill>
                  <a:srgbClr val="2E7D32"/>
                </a:solidFill>
                <a:latin typeface="Manrope SemiBold"/>
              </a:rPr>
              <a:t>Cron Jobs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2212848" y="2551176"/>
            <a:ext cx="182880" cy="146304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459736" y="2551176"/>
            <a:ext cx="1463040" cy="12801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1">
                <a:solidFill>
                  <a:srgbClr val="2E7D32"/>
                </a:solidFill>
                <a:latin typeface="Manrope SemiBold"/>
              </a:rPr>
              <a:t>REST / Async Polling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6574536" y="2551176"/>
            <a:ext cx="182880" cy="146304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21424" y="2551176"/>
            <a:ext cx="1280160" cy="12801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1">
                <a:solidFill>
                  <a:srgbClr val="2E7D32"/>
                </a:solidFill>
                <a:latin typeface="Manrope SemiBold"/>
              </a:rPr>
              <a:t>Mongoose ODM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0896" y="2743200"/>
            <a:ext cx="3977639" cy="713232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02336" y="2761488"/>
            <a:ext cx="320040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>
                <a:solidFill>
                  <a:srgbClr val="E65C00"/>
                </a:solidFill>
                <a:latin typeface="Manrope SemiBold"/>
              </a:rPr>
              <a:t>AI/ML Service  (Python + FastAPI)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2336" y="2944368"/>
            <a:ext cx="228600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2953512"/>
            <a:ext cx="2176272" cy="1188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E65C00"/>
                </a:solidFill>
                <a:latin typeface="Manrope SemiBold"/>
              </a:rPr>
              <a:t>Provider Abstraction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090672"/>
            <a:ext cx="217627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>
                <a:solidFill>
                  <a:srgbClr val="434343"/>
                </a:solidFill>
                <a:latin typeface="Manrope"/>
              </a:rPr>
              <a:t>• STT Pipeline    • LLM Pipeline
• Translation    • Async Processing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79776" y="2944368"/>
            <a:ext cx="141732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834640" y="2953512"/>
            <a:ext cx="1307592" cy="1188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E65C00"/>
                </a:solidFill>
                <a:latin typeface="Manrope SemiBold"/>
              </a:rPr>
              <a:t>Request Tracker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34640" y="3090672"/>
            <a:ext cx="130759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>
                <a:solidFill>
                  <a:srgbClr val="434343"/>
                </a:solidFill>
                <a:latin typeface="Manrope"/>
              </a:rPr>
              <a:t>• Status Management
• Progress Updates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08576" y="2743200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905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00016" y="2761488"/>
            <a:ext cx="274320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>
                <a:solidFill>
                  <a:srgbClr val="0D47A1"/>
                </a:solidFill>
                <a:latin typeface="Manrope SemiBold"/>
              </a:rPr>
              <a:t>MongoDB Database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0016" y="2944368"/>
            <a:ext cx="260604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54880" y="2953512"/>
            <a:ext cx="2496312" cy="1188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0D47A1"/>
                </a:solidFill>
                <a:latin typeface="Manrope SemiBold"/>
              </a:rPr>
              <a:t>Collections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090672"/>
            <a:ext cx="249631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>
                <a:solidFill>
                  <a:srgbClr val="434343"/>
                </a:solidFill>
                <a:latin typeface="Manrope"/>
              </a:rPr>
              <a:t>users • officials • panchayats • issues
gramsabhas • rsvps • roles • config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97496" y="2944368"/>
            <a:ext cx="1234440" cy="438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452360" y="2953512"/>
            <a:ext cx="1124712" cy="1188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0D47A1"/>
                </a:solidFill>
                <a:latin typeface="Manrope SemiBold"/>
              </a:rPr>
              <a:t>GridFS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52360" y="3090672"/>
            <a:ext cx="112471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>
                <a:solidFill>
                  <a:srgbClr val="434343"/>
                </a:solidFill>
                <a:latin typeface="Manrope"/>
              </a:rPr>
              <a:t>fs.files
fs.chunks</a:t>
            </a:r>
          </a:p>
        </p:txBody>
      </p:sp>
      <p:sp>
        <p:nvSpPr>
          <p:cNvPr id="49" name="Down Arrow 48"/>
          <p:cNvSpPr/>
          <p:nvPr/>
        </p:nvSpPr>
        <p:spPr>
          <a:xfrm>
            <a:off x="2212848" y="3465576"/>
            <a:ext cx="182880" cy="146304"/>
          </a:xfrm>
          <a:prstGeom prst="downArrow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459736" y="3465576"/>
            <a:ext cx="1828800" cy="12801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1">
                <a:solidFill>
                  <a:srgbClr val="E65C00"/>
                </a:solidFill>
                <a:latin typeface="Manrope SemiBold"/>
              </a:rPr>
              <a:t>HTTP/HTTPS + API Keys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0896" y="3657600"/>
            <a:ext cx="3977639" cy="5541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02336" y="3675888"/>
            <a:ext cx="2286000" cy="12801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0D47A1"/>
                </a:solidFill>
                <a:latin typeface="Manrope SemiBold"/>
              </a:rPr>
              <a:t>External AI Services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02336" y="3840480"/>
            <a:ext cx="1188720" cy="3020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635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38912" y="3849624"/>
            <a:ext cx="1115568" cy="1097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>
                <a:solidFill>
                  <a:srgbClr val="0D47A1"/>
                </a:solidFill>
                <a:latin typeface="Manrope SemiBold"/>
              </a:rPr>
              <a:t>Speech-to-Text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" y="3959352"/>
            <a:ext cx="1115568" cy="1005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00" b="0">
                <a:solidFill>
                  <a:srgbClr val="434343"/>
                </a:solidFill>
                <a:latin typeface="Manrope"/>
              </a:rPr>
              <a:t>(Multiple Providers)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64208" y="3840480"/>
            <a:ext cx="1188720" cy="3020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635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700784" y="3849624"/>
            <a:ext cx="1115568" cy="1097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>
                <a:solidFill>
                  <a:srgbClr val="0D47A1"/>
                </a:solidFill>
                <a:latin typeface="Manrope SemiBold"/>
              </a:rPr>
              <a:t>Language Model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00784" y="3959352"/>
            <a:ext cx="1115568" cy="1005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00" b="0">
                <a:solidFill>
                  <a:srgbClr val="434343"/>
                </a:solidFill>
                <a:latin typeface="Manrope"/>
              </a:rPr>
              <a:t>(Multiple Providers)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926080" y="3840479"/>
            <a:ext cx="1188720" cy="302029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635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962656" y="3849624"/>
            <a:ext cx="1115568" cy="1097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>
                <a:solidFill>
                  <a:srgbClr val="0D47A1"/>
                </a:solidFill>
                <a:latin typeface="Manrope SemiBold"/>
              </a:rPr>
              <a:t>Translation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3959352"/>
            <a:ext cx="1115568" cy="10058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00" b="0" dirty="0">
                <a:solidFill>
                  <a:srgbClr val="434343"/>
                </a:solidFill>
                <a:latin typeface="Manrope"/>
              </a:rPr>
              <a:t>(Multiple Providers)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608576" y="3657600"/>
            <a:ext cx="4114800" cy="554182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524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608576" y="3657600"/>
            <a:ext cx="45720" cy="55418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718304" y="3685032"/>
            <a:ext cx="1371600" cy="12801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0D47A1"/>
                </a:solidFill>
                <a:latin typeface="Manrope SemiBold"/>
              </a:rPr>
              <a:t>Deployment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18304" y="3831336"/>
            <a:ext cx="389534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>
                <a:solidFill>
                  <a:srgbClr val="434343"/>
                </a:solidFill>
                <a:latin typeface="Manrope"/>
              </a:rPr>
              <a:t>• Docker Compose (containerized)
• Health checks + restart policies
• Reverse proxy • Cloud-agnostic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Technologies Used: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411480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4416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636776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React + Material-UI (MUI)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recognition engine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PDF generation, internationalization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Client-side biometric processing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Bilingual UI (English + Hindi)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54296" y="1325880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654296" y="1325880"/>
            <a:ext cx="41148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45736" y="134416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5736" y="1636776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Node.js + Express + MongoDB ODM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MongoDB with file storage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JWT authentication + secure hashing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Auto-generated API documentation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Scheduled job 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3200399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10896" y="3200399"/>
            <a:ext cx="411480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02336" y="3218687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AI / ML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3511295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Python + FastAPI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Async MongoDB driver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STT providers (Indian languages)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LLM providers (configurable)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Audio processing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54296" y="3200399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54296" y="3200399"/>
            <a:ext cx="4114800" cy="25603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45736" y="3218687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Cloud Services + Infra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3511295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LLM APIs (configurable provider)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STT services (Indian languages)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translation services (optional)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Docker Compose + Reverse Proxy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SDKs for provider integration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Estimated Implementation Cost: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280160"/>
            <a:ext cx="8412480" cy="36576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8056" y="1316736"/>
            <a:ext cx="82296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2E7D32"/>
                </a:solidFill>
                <a:latin typeface="Manrope SemiBold"/>
              </a:rPr>
              <a:t>eGramSabha is fully open-source (Apache 2.0) -- Zero licensing cost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874519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0896" y="1874519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2336" y="1892807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2185415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VM instance for hosting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MongoDB free tier available for pilot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Docker deployment minimizes ops 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91256" y="1874519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91256" y="1874519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82696" y="1892807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AI Services (Pay-per-use)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2696" y="2185415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Open-source models with free tiers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Regional STT provider programs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LLM: pay-per-use token pricing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STT: pay-per-use audio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874519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71616" y="1874519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63056" y="1892807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Cost Optimization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6" y="2185415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Switch providers via env variable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Free-tier for pilots, cloud at scale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Mix-and-match STT + LLM providers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749039"/>
            <a:ext cx="8412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666666"/>
                </a:solidFill>
                <a:latin typeface="Manrope"/>
              </a:rPr>
              <a:t>Target: Serve panchayats across India with infrastructure that adapts to budget constraints through configurable AI provider selection.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Impact, Scalability &amp; Innovation: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Rural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636776"/>
            <a:ext cx="2514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Gram Panchayats across India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Millions of rural citizen beneficiaries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auth removes literacy barrier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Voice-first in native languages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Supports Digital India 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1256" y="13258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91256" y="1325880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8269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Scalability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1636776"/>
            <a:ext cx="2514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Stateless services scale horizontally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Cloud-agnostic, runs on any platform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Separate DB for transactional + AI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Configurable cloud providers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Database replica set + sharding ready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3258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71616" y="1325880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6305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AI Innovation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1636776"/>
            <a:ext cx="2514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STT provider pipeline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Expert rural development LLM prompts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Smart issue-to-agenda clustering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Multilingual MOM from single recording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Strategy + Factory provider pattern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886200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1624</Words>
  <Application>Microsoft Office PowerPoint</Application>
  <PresentationFormat>On-screen Show (16:9)</PresentationFormat>
  <Paragraphs>246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Manrope</vt:lpstr>
      <vt:lpstr>Manrope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Anuj Pratap Singh</cp:lastModifiedBy>
  <cp:revision>4</cp:revision>
  <dcterms:created xsi:type="dcterms:W3CDTF">2013-01-27T09:14:16Z</dcterms:created>
  <dcterms:modified xsi:type="dcterms:W3CDTF">2026-02-15T17:20:49Z</dcterms:modified>
  <cp:category/>
</cp:coreProperties>
</file>