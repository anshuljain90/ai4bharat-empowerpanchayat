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Manrope SemiBold"/>
      <p:regular r:id="rId20"/>
      <p:bold r:id="rId21"/>
    </p:embeddedFont>
    <p:embeddedFont>
      <p:font typeface="Poppins"/>
      <p:regular r:id="rId22"/>
      <p:bold r:id="rId23"/>
      <p:italic r:id="rId24"/>
      <p:boldItalic r:id="rId25"/>
    </p:embeddedFont>
    <p:embeddedFont>
      <p:font typeface="Manrope"/>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font" Target="fonts/ManropeSemiBold-regular.fntdata"/><Relationship Id="rId21" Type="http://schemas.openxmlformats.org/officeDocument/2006/relationships/font" Target="fonts/ManropeSemiBold-bold.fntdata"/><Relationship Id="rId22" Type="http://schemas.openxmlformats.org/officeDocument/2006/relationships/font" Target="fonts/Poppins-regular.fntdata"/><Relationship Id="rId23" Type="http://schemas.openxmlformats.org/officeDocument/2006/relationships/font" Target="fonts/Poppins-bold.fntdata"/><Relationship Id="rId24" Type="http://schemas.openxmlformats.org/officeDocument/2006/relationships/font" Target="fonts/Poppins-italic.fntdata"/><Relationship Id="rId25" Type="http://schemas.openxmlformats.org/officeDocument/2006/relationships/font" Target="fonts/Poppins-boldItalic.fntdata"/><Relationship Id="rId26" Type="http://schemas.openxmlformats.org/officeDocument/2006/relationships/font" Target="fonts/Manrope-regular.fntdata"/><Relationship Id="rId27" Type="http://schemas.openxmlformats.org/officeDocument/2006/relationships/font" Target="fonts/Manrope-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b6c7e6215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b6c7e6215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b6c7e62156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b6c7e62156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b6c7e6215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b6c7e6215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b6c7e62156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b6c7e62156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b6c7e6215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b6c7e6215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b6c7e62156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b6c7e6215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b6c7e62156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b6c7e62156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b6c7e62156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b6c7e62156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cb91012bb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cb91012bb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cb91012bb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cb91012bb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cb91012bb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cb91012bb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cb91012bb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cb91012bb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b6c7e6215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b6c7e6215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1.png"/><Relationship Id="rId5"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Artscfghgboard – 5.png"/>
          <p:cNvPicPr preferRelativeResize="0"/>
          <p:nvPr/>
        </p:nvPicPr>
        <p:blipFill>
          <a:blip r:embed="rId3">
            <a:alphaModFix/>
          </a:blip>
          <a:stretch>
            <a:fillRect/>
          </a:stretch>
        </p:blipFill>
        <p:spPr>
          <a:xfrm>
            <a:off x="0" y="0"/>
            <a:ext cx="9144018" cy="5143501"/>
          </a:xfrm>
          <a:prstGeom prst="rect">
            <a:avLst/>
          </a:prstGeom>
          <a:noFill/>
          <a:ln>
            <a:noFill/>
          </a:ln>
        </p:spPr>
      </p:pic>
      <p:pic>
        <p:nvPicPr>
          <p:cNvPr id="55" name="Picture 54" descr="logo.png"/>
          <p:cNvPicPr>
            <a:picLocks noChangeAspect="1"/>
          </p:cNvPicPr>
          <p:nvPr/>
        </p:nvPicPr>
        <p:blipFill>
          <a:blip r:embed="rId4"/>
          <a:stretch>
            <a:fillRect/>
          </a:stretch>
        </p:blipFill>
        <p:spPr>
          <a:xfrm>
            <a:off x="274320" y="182880"/>
            <a:ext cx="1097280" cy="1097280"/>
          </a:xfrm>
          <a:prstGeom prst="rect">
            <a:avLst/>
          </a:prstGeom>
        </p:spPr>
      </p:pic>
      <p:sp>
        <p:nvSpPr>
          <p:cNvPr id="56" name="TextBox 55"/>
          <p:cNvSpPr txBox="1"/>
          <p:nvPr/>
        </p:nvSpPr>
        <p:spPr>
          <a:xfrm>
            <a:off x="1554480" y="274320"/>
            <a:ext cx="6858000" cy="914400"/>
          </a:xfrm>
          <a:prstGeom prst="rect">
            <a:avLst/>
          </a:prstGeom>
          <a:noFill/>
        </p:spPr>
        <p:txBody>
          <a:bodyPr wrap="square">
            <a:spAutoFit/>
          </a:bodyPr>
          <a:lstStyle/>
          <a:p>
            <a:r>
              <a:rPr sz="3600" b="1" i="0">
                <a:solidFill>
                  <a:srgbClr val="2E7D32"/>
                </a:solidFill>
                <a:latin typeface="Manrope"/>
              </a:rPr>
              <a:t>eGramSabha</a:t>
            </a:r>
          </a:p>
          <a:p>
            <a:pPr algn="l">
              <a:spcBef>
                <a:spcPts val="400"/>
              </a:spcBef>
              <a:spcAft>
                <a:spcPts val="200"/>
              </a:spcAft>
            </a:pPr>
            <a:r>
              <a:rPr sz="1600" b="0" i="0">
                <a:solidFill>
                  <a:srgbClr val="757575"/>
                </a:solidFill>
                <a:latin typeface="Manrope"/>
              </a:rPr>
              <a:t>AI-Powered Digital Gram Sabha Platform</a:t>
            </a:r>
          </a:p>
        </p:txBody>
      </p:sp>
      <p:sp>
        <p:nvSpPr>
          <p:cNvPr id="57" name="TextBox 56"/>
          <p:cNvSpPr txBox="1"/>
          <p:nvPr/>
        </p:nvSpPr>
        <p:spPr>
          <a:xfrm>
            <a:off x="457200" y="1828800"/>
            <a:ext cx="8229600" cy="2286000"/>
          </a:xfrm>
          <a:prstGeom prst="rect">
            <a:avLst/>
          </a:prstGeom>
          <a:noFill/>
        </p:spPr>
        <p:txBody>
          <a:bodyPr wrap="square">
            <a:spAutoFit/>
          </a:bodyPr>
          <a:lstStyle/>
          <a:p/>
          <a:p>
            <a:pPr algn="l">
              <a:spcBef>
                <a:spcPts val="800"/>
              </a:spcBef>
              <a:spcAft>
                <a:spcPts val="800"/>
              </a:spcAft>
            </a:pPr>
            <a:r>
              <a:rPr sz="1800" b="1" i="0">
                <a:solidFill>
                  <a:srgbClr val="202729"/>
                </a:solidFill>
                <a:latin typeface="Manrope"/>
              </a:rPr>
              <a:t>Team Name:  Empower Panchayat</a:t>
            </a:r>
          </a:p>
          <a:p>
            <a:pPr algn="l">
              <a:spcBef>
                <a:spcPts val="800"/>
              </a:spcBef>
              <a:spcAft>
                <a:spcPts val="800"/>
              </a:spcAft>
            </a:pPr>
            <a:r>
              <a:rPr sz="1800" b="1" i="0">
                <a:solidFill>
                  <a:srgbClr val="202729"/>
                </a:solidFill>
                <a:latin typeface="Manrope"/>
              </a:rPr>
              <a:t>Team Leader Name:  (see submission form)</a:t>
            </a:r>
          </a:p>
          <a:p>
            <a:pPr algn="l">
              <a:spcBef>
                <a:spcPts val="800"/>
              </a:spcBef>
              <a:spcAft>
                <a:spcPts val="800"/>
              </a:spcAft>
            </a:pPr>
            <a:r>
              <a:rPr sz="1800" b="1" i="0">
                <a:solidFill>
                  <a:srgbClr val="202729"/>
                </a:solidFill>
                <a:latin typeface="Manrope"/>
              </a:rPr>
              <a:t>Problem Statement:  AI-Powered Digital Gram Sabha Platform</a:t>
            </a:r>
          </a:p>
        </p:txBody>
      </p:sp>
      <p:sp>
        <p:nvSpPr>
          <p:cNvPr id="58" name="TextBox 57"/>
          <p:cNvSpPr txBox="1"/>
          <p:nvPr/>
        </p:nvSpPr>
        <p:spPr>
          <a:xfrm>
            <a:off x="457200" y="4389120"/>
            <a:ext cx="8229600" cy="457200"/>
          </a:xfrm>
          <a:prstGeom prst="rect">
            <a:avLst/>
          </a:prstGeom>
          <a:noFill/>
        </p:spPr>
        <p:txBody>
          <a:bodyPr wrap="square">
            <a:spAutoFit/>
          </a:bodyPr>
          <a:lstStyle/>
          <a:p>
            <a:pPr algn="ctr"/>
            <a:r>
              <a:rPr sz="1000" b="0" i="1">
                <a:solidFill>
                  <a:srgbClr val="757575"/>
                </a:solidFill>
                <a:latin typeface="Manrope"/>
              </a:rPr>
              <a:t>empowerpanchayat.org  |  Apache 2.0 Open Source  |  "Sashakt Panchayat, Samriddh Bharat"</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p14"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63" name="TextBox 62"/>
          <p:cNvSpPr txBox="1"/>
          <p:nvPr/>
        </p:nvSpPr>
        <p:spPr>
          <a:xfrm>
            <a:off x="311700" y="863550"/>
            <a:ext cx="8520600" cy="457200"/>
          </a:xfrm>
          <a:prstGeom prst="rect">
            <a:avLst/>
          </a:prstGeom>
          <a:noFill/>
        </p:spPr>
        <p:txBody>
          <a:bodyPr wrap="square">
            <a:spAutoFit/>
          </a:bodyPr>
          <a:lstStyle/>
          <a:p>
            <a:r>
              <a:rPr sz="2200" b="1" i="0">
                <a:solidFill>
                  <a:srgbClr val="202729"/>
                </a:solidFill>
                <a:latin typeface="Manrope"/>
              </a:rPr>
              <a:t>Problem Statement</a:t>
            </a:r>
          </a:p>
        </p:txBody>
      </p:sp>
      <p:sp>
        <p:nvSpPr>
          <p:cNvPr id="64" name="TextBox 63"/>
          <p:cNvSpPr txBox="1"/>
          <p:nvPr/>
        </p:nvSpPr>
        <p:spPr>
          <a:xfrm>
            <a:off x="311700" y="1280160"/>
            <a:ext cx="8520600" cy="548640"/>
          </a:xfrm>
          <a:prstGeom prst="rect">
            <a:avLst/>
          </a:prstGeom>
          <a:noFill/>
        </p:spPr>
        <p:txBody>
          <a:bodyPr wrap="square">
            <a:spAutoFit/>
          </a:bodyPr>
          <a:lstStyle/>
          <a:p>
            <a:r>
              <a:rPr sz="1000" b="0" i="1">
                <a:solidFill>
                  <a:srgbClr val="202729"/>
                </a:solidFill>
                <a:latin typeface="Manrope"/>
              </a:rPr>
              <a:t>In 1992, India passed the 73rd Constitutional Amendment — a radical act of faith in its own people. It created 250,000+ Gram Panchayats and mandated Gram Sabhas as the foundation of grassroots democracy where every adult citizen can participate. Three decades later, that promise remains largely unfulfilled.</a:t>
            </a:r>
          </a:p>
        </p:txBody>
      </p:sp>
      <p:sp>
        <p:nvSpPr>
          <p:cNvPr id="65" name="Rounded Rectangle 64"/>
          <p:cNvSpPr/>
          <p:nvPr/>
        </p:nvSpPr>
        <p:spPr>
          <a:xfrm>
            <a:off x="365760" y="1874519"/>
            <a:ext cx="1554480" cy="731520"/>
          </a:xfrm>
          <a:prstGeom prst="round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FFFFFF"/>
                </a:solidFill>
                <a:latin typeface="Manrope"/>
              </a:rPr>
              <a:t>5-10%</a:t>
            </a:r>
          </a:p>
          <a:p>
            <a:pPr algn="ctr"/>
            <a:r>
              <a:rPr sz="700" b="0" i="0">
                <a:solidFill>
                  <a:srgbClr val="FFFFFF"/>
                </a:solidFill>
                <a:latin typeface="Manrope"/>
              </a:rPr>
              <a:t>Average Gram Sabha
attendance</a:t>
            </a:r>
          </a:p>
        </p:txBody>
      </p:sp>
      <p:sp>
        <p:nvSpPr>
          <p:cNvPr id="66" name="Rounded Rectangle 65"/>
          <p:cNvSpPr/>
          <p:nvPr/>
        </p:nvSpPr>
        <p:spPr>
          <a:xfrm>
            <a:off x="2103120" y="1874519"/>
            <a:ext cx="1554480" cy="731520"/>
          </a:xfrm>
          <a:prstGeom prst="round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FFFFFF"/>
                </a:solidFill>
                <a:latin typeface="Manrope"/>
              </a:rPr>
              <a:t>&lt;3%</a:t>
            </a:r>
          </a:p>
          <a:p>
            <a:pPr algn="ctr"/>
            <a:r>
              <a:rPr sz="700" b="0" i="0">
                <a:solidFill>
                  <a:srgbClr val="FFFFFF"/>
                </a:solidFill>
                <a:latin typeface="Manrope"/>
              </a:rPr>
              <a:t>Women participation
in many states</a:t>
            </a:r>
          </a:p>
        </p:txBody>
      </p:sp>
      <p:sp>
        <p:nvSpPr>
          <p:cNvPr id="67" name="Rounded Rectangle 66"/>
          <p:cNvSpPr/>
          <p:nvPr/>
        </p:nvSpPr>
        <p:spPr>
          <a:xfrm>
            <a:off x="3840480" y="1874519"/>
            <a:ext cx="1554480" cy="731520"/>
          </a:xfrm>
          <a:prstGeom prst="roundRect">
            <a:avLst/>
          </a:prstGeom>
          <a:solidFill>
            <a:srgbClr val="0073B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FFFFFF"/>
                </a:solidFill>
                <a:latin typeface="Manrope"/>
              </a:rPr>
              <a:t>60%+</a:t>
            </a:r>
          </a:p>
          <a:p>
            <a:pPr algn="ctr"/>
            <a:r>
              <a:rPr sz="700" b="0" i="0">
                <a:solidFill>
                  <a:srgbClr val="FFFFFF"/>
                </a:solidFill>
                <a:latin typeface="Manrope"/>
              </a:rPr>
              <a:t>Rural Indians with
limited literacy</a:t>
            </a:r>
          </a:p>
        </p:txBody>
      </p:sp>
      <p:sp>
        <p:nvSpPr>
          <p:cNvPr id="68" name="Rounded Rectangle 67"/>
          <p:cNvSpPr/>
          <p:nvPr/>
        </p:nvSpPr>
        <p:spPr>
          <a:xfrm>
            <a:off x="5577840" y="1874519"/>
            <a:ext cx="1554480" cy="73152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FFFFFF"/>
                </a:solidFill>
                <a:latin typeface="Manrope"/>
              </a:rPr>
              <a:t>30%</a:t>
            </a:r>
          </a:p>
          <a:p>
            <a:pPr algn="ctr"/>
            <a:r>
              <a:rPr sz="700" b="0" i="0">
                <a:solidFill>
                  <a:srgbClr val="FFFFFF"/>
                </a:solidFill>
                <a:latin typeface="Manrope"/>
              </a:rPr>
              <a:t>Eligible citizens excluded
from welfare schemes</a:t>
            </a:r>
          </a:p>
        </p:txBody>
      </p:sp>
      <p:sp>
        <p:nvSpPr>
          <p:cNvPr id="69" name="Rounded Rectangle 68"/>
          <p:cNvSpPr/>
          <p:nvPr/>
        </p:nvSpPr>
        <p:spPr>
          <a:xfrm>
            <a:off x="7315200" y="1874519"/>
            <a:ext cx="1554480" cy="731520"/>
          </a:xfrm>
          <a:prstGeom prst="roundRect">
            <a:avLst/>
          </a:prstGeom>
          <a:solidFill>
            <a:srgbClr val="757575"/>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FFFFFF"/>
                </a:solidFill>
                <a:latin typeface="Manrope"/>
              </a:rPr>
              <a:t>ZERO</a:t>
            </a:r>
          </a:p>
          <a:p>
            <a:pPr algn="ctr"/>
            <a:r>
              <a:rPr sz="700" b="0" i="0">
                <a:solidFill>
                  <a:srgbClr val="FFFFFF"/>
                </a:solidFill>
                <a:latin typeface="Manrope"/>
              </a:rPr>
              <a:t>Digital trail of
Gram Sabha decisions</a:t>
            </a:r>
          </a:p>
        </p:txBody>
      </p:sp>
      <p:graphicFrame>
        <p:nvGraphicFramePr>
          <p:cNvPr id="70" name="Table 69"/>
          <p:cNvGraphicFramePr>
            <a:graphicFrameLocks noGrp="1"/>
          </p:cNvGraphicFramePr>
          <p:nvPr/>
        </p:nvGraphicFramePr>
        <p:xfrm>
          <a:off x="365760" y="2743200"/>
          <a:ext cx="8412480" cy="2011680"/>
        </p:xfrm>
        <a:graphic>
          <a:graphicData uri="http://schemas.openxmlformats.org/drawingml/2006/table">
            <a:tbl>
              <a:tblPr firstRow="1" bandRow="1">
                <a:tableStyleId>{5C22544A-7EE6-4342-B048-85BDC9FD1C3A}</a:tableStyleId>
              </a:tblPr>
              <a:tblGrid>
                <a:gridCol w="3657600"/>
                <a:gridCol w="4754880"/>
              </a:tblGrid>
              <a:tr h="287382">
                <a:tc>
                  <a:txBody>
                    <a:bodyPr/>
                    <a:lstStyle/>
                    <a:p>
                      <a:pPr>
                        <a:spcBef>
                          <a:spcPts val="100"/>
                        </a:spcBef>
                        <a:spcAft>
                          <a:spcPts val="100"/>
                        </a:spcAft>
                      </a:pPr>
                      <a:r>
                        <a:rPr sz="1000" b="1" i="0">
                          <a:solidFill>
                            <a:srgbClr val="FFFFFF"/>
                          </a:solidFill>
                          <a:latin typeface="Manrope"/>
                        </a:rPr>
                        <a:t>Barrier</a:t>
                      </a:r>
                    </a:p>
                  </a:txBody>
                  <a:tcPr>
                    <a:solidFill>
                      <a:srgbClr val="2E7D32"/>
                    </a:solidFill>
                  </a:tcPr>
                </a:tc>
                <a:tc>
                  <a:txBody>
                    <a:bodyPr/>
                    <a:lstStyle/>
                    <a:p>
                      <a:pPr>
                        <a:spcBef>
                          <a:spcPts val="100"/>
                        </a:spcBef>
                        <a:spcAft>
                          <a:spcPts val="100"/>
                        </a:spcAft>
                      </a:pPr>
                      <a:r>
                        <a:rPr sz="1000" b="1" i="0">
                          <a:solidFill>
                            <a:srgbClr val="FFFFFF"/>
                          </a:solidFill>
                          <a:latin typeface="Manrope"/>
                        </a:rPr>
                        <a:t>Impact</a:t>
                      </a:r>
                    </a:p>
                  </a:txBody>
                  <a:tcPr>
                    <a:solidFill>
                      <a:srgbClr val="2E7D32"/>
                    </a:solidFill>
                  </a:tcPr>
                </a:tc>
              </a:tr>
              <a:tr h="287382">
                <a:tc>
                  <a:txBody>
                    <a:bodyPr/>
                    <a:lstStyle/>
                    <a:p>
                      <a:pPr>
                        <a:spcBef>
                          <a:spcPts val="100"/>
                        </a:spcBef>
                        <a:spcAft>
                          <a:spcPts val="100"/>
                        </a:spcAft>
                      </a:pPr>
                      <a:r>
                        <a:rPr sz="900" b="0" i="0">
                          <a:solidFill>
                            <a:srgbClr val="202729"/>
                          </a:solidFill>
                          <a:latin typeface="Manrope"/>
                        </a:rPr>
                        <a:t>Paper agendas on notice boards</a:t>
                      </a:r>
                    </a:p>
                  </a:txBody>
                  <a:tcPr/>
                </a:tc>
                <a:tc>
                  <a:txBody>
                    <a:bodyPr/>
                    <a:lstStyle/>
                    <a:p>
                      <a:pPr>
                        <a:spcBef>
                          <a:spcPts val="100"/>
                        </a:spcBef>
                        <a:spcAft>
                          <a:spcPts val="100"/>
                        </a:spcAft>
                      </a:pPr>
                      <a:r>
                        <a:rPr sz="900" b="0" i="0">
                          <a:solidFill>
                            <a:srgbClr val="202729"/>
                          </a:solidFill>
                          <a:latin typeface="Manrope"/>
                        </a:rPr>
                        <a:t>Low awareness — excludes remote hamlets, women at home, daily wage workers</a:t>
                      </a:r>
                    </a:p>
                  </a:txBody>
                  <a:tcPr/>
                </a:tc>
              </a:tr>
              <a:tr h="287382">
                <a:tc>
                  <a:txBody>
                    <a:bodyPr/>
                    <a:lstStyle/>
                    <a:p>
                      <a:pPr>
                        <a:spcBef>
                          <a:spcPts val="100"/>
                        </a:spcBef>
                        <a:spcAft>
                          <a:spcPts val="100"/>
                        </a:spcAft>
                      </a:pPr>
                      <a:r>
                        <a:rPr sz="900" b="0" i="0">
                          <a:solidFill>
                            <a:srgbClr val="202729"/>
                          </a:solidFill>
                          <a:latin typeface="Manrope"/>
                        </a:rPr>
                        <a:t>Paper sign-in sheets</a:t>
                      </a:r>
                    </a:p>
                  </a:txBody>
                  <a:tcPr>
                    <a:solidFill>
                      <a:srgbClr val="E8F5E9"/>
                    </a:solidFill>
                  </a:tcPr>
                </a:tc>
                <a:tc>
                  <a:txBody>
                    <a:bodyPr/>
                    <a:lstStyle/>
                    <a:p>
                      <a:pPr>
                        <a:spcBef>
                          <a:spcPts val="100"/>
                        </a:spcBef>
                        <a:spcAft>
                          <a:spcPts val="100"/>
                        </a:spcAft>
                      </a:pPr>
                      <a:r>
                        <a:rPr sz="900" b="0" i="0">
                          <a:solidFill>
                            <a:srgbClr val="202729"/>
                          </a:solidFill>
                          <a:latin typeface="Manrope"/>
                        </a:rPr>
                        <a:t>Easy to forge — routinely inflated to show higher attendance numbers</a:t>
                      </a:r>
                    </a:p>
                  </a:txBody>
                  <a:tcPr>
                    <a:solidFill>
                      <a:srgbClr val="E8F5E9"/>
                    </a:solidFill>
                  </a:tcPr>
                </a:tc>
              </a:tr>
              <a:tr h="287382">
                <a:tc>
                  <a:txBody>
                    <a:bodyPr/>
                    <a:lstStyle/>
                    <a:p>
                      <a:pPr>
                        <a:spcBef>
                          <a:spcPts val="100"/>
                        </a:spcBef>
                        <a:spcAft>
                          <a:spcPts val="100"/>
                        </a:spcAft>
                      </a:pPr>
                      <a:r>
                        <a:rPr sz="900" b="0" i="0">
                          <a:solidFill>
                            <a:srgbClr val="202729"/>
                          </a:solidFill>
                          <a:latin typeface="Manrope"/>
                        </a:rPr>
                        <a:t>Hand-written minutes by clerk</a:t>
                      </a:r>
                    </a:p>
                  </a:txBody>
                  <a:tcPr/>
                </a:tc>
                <a:tc>
                  <a:txBody>
                    <a:bodyPr/>
                    <a:lstStyle/>
                    <a:p>
                      <a:pPr>
                        <a:spcBef>
                          <a:spcPts val="100"/>
                        </a:spcBef>
                        <a:spcAft>
                          <a:spcPts val="100"/>
                        </a:spcAft>
                      </a:pPr>
                      <a:r>
                        <a:rPr sz="900" b="0" i="0">
                          <a:solidFill>
                            <a:srgbClr val="202729"/>
                          </a:solidFill>
                          <a:latin typeface="Manrope"/>
                        </a:rPr>
                        <a:t>Subjective, often incomplete, sometimes pre-written before the meeting happens</a:t>
                      </a:r>
                    </a:p>
                  </a:txBody>
                  <a:tcPr/>
                </a:tc>
              </a:tr>
              <a:tr h="287382">
                <a:tc>
                  <a:txBody>
                    <a:bodyPr/>
                    <a:lstStyle/>
                    <a:p>
                      <a:pPr>
                        <a:spcBef>
                          <a:spcPts val="100"/>
                        </a:spcBef>
                        <a:spcAft>
                          <a:spcPts val="100"/>
                        </a:spcAft>
                      </a:pPr>
                      <a:r>
                        <a:rPr sz="900" b="0" i="0">
                          <a:solidFill>
                            <a:srgbClr val="202729"/>
                          </a:solidFill>
                          <a:latin typeface="Manrope"/>
                        </a:rPr>
                        <a:t>Single language proceedings</a:t>
                      </a:r>
                    </a:p>
                  </a:txBody>
                  <a:tcPr>
                    <a:solidFill>
                      <a:srgbClr val="E8F5E9"/>
                    </a:solidFill>
                  </a:tcPr>
                </a:tc>
                <a:tc>
                  <a:txBody>
                    <a:bodyPr/>
                    <a:lstStyle/>
                    <a:p>
                      <a:pPr>
                        <a:spcBef>
                          <a:spcPts val="100"/>
                        </a:spcBef>
                        <a:spcAft>
                          <a:spcPts val="100"/>
                        </a:spcAft>
                      </a:pPr>
                      <a:r>
                        <a:rPr sz="900" b="0" i="0">
                          <a:solidFill>
                            <a:srgbClr val="202729"/>
                          </a:solidFill>
                          <a:latin typeface="Manrope"/>
                        </a:rPr>
                        <a:t>Excludes tribal &amp; minority communities — Gondi, Santhali, Bhili speakers silenced</a:t>
                      </a:r>
                    </a:p>
                  </a:txBody>
                  <a:tcPr>
                    <a:solidFill>
                      <a:srgbClr val="E8F5E9"/>
                    </a:solidFill>
                  </a:tcPr>
                </a:tc>
              </a:tr>
              <a:tr h="287382">
                <a:tc>
                  <a:txBody>
                    <a:bodyPr/>
                    <a:lstStyle/>
                    <a:p>
                      <a:pPr>
                        <a:spcBef>
                          <a:spcPts val="100"/>
                        </a:spcBef>
                        <a:spcAft>
                          <a:spcPts val="100"/>
                        </a:spcAft>
                      </a:pPr>
                      <a:r>
                        <a:rPr sz="900" b="0" i="0">
                          <a:solidFill>
                            <a:srgbClr val="202729"/>
                          </a:solidFill>
                          <a:latin typeface="Manrope"/>
                        </a:rPr>
                        <a:t>No issue tracking system</a:t>
                      </a:r>
                    </a:p>
                  </a:txBody>
                  <a:tcPr/>
                </a:tc>
                <a:tc>
                  <a:txBody>
                    <a:bodyPr/>
                    <a:lstStyle/>
                    <a:p>
                      <a:pPr>
                        <a:spcBef>
                          <a:spcPts val="100"/>
                        </a:spcBef>
                        <a:spcAft>
                          <a:spcPts val="100"/>
                        </a:spcAft>
                      </a:pPr>
                      <a:r>
                        <a:rPr sz="900" b="0" i="0">
                          <a:solidFill>
                            <a:srgbClr val="202729"/>
                          </a:solidFill>
                          <a:latin typeface="Manrope"/>
                        </a:rPr>
                        <a:t>Promises forgotten between meetings — citizens stop attending because nothing changes</a:t>
                      </a:r>
                    </a:p>
                  </a:txBody>
                  <a:tcPr/>
                </a:tc>
              </a:tr>
              <a:tr h="287388">
                <a:tc>
                  <a:txBody>
                    <a:bodyPr/>
                    <a:lstStyle/>
                    <a:p>
                      <a:pPr>
                        <a:spcBef>
                          <a:spcPts val="100"/>
                        </a:spcBef>
                        <a:spcAft>
                          <a:spcPts val="100"/>
                        </a:spcAft>
                      </a:pPr>
                      <a:r>
                        <a:rPr sz="900" b="0" i="0">
                          <a:solidFill>
                            <a:srgbClr val="202729"/>
                          </a:solidFill>
                          <a:latin typeface="Manrope"/>
                        </a:rPr>
                        <a:t>Physical presence required</a:t>
                      </a:r>
                    </a:p>
                  </a:txBody>
                  <a:tcPr>
                    <a:solidFill>
                      <a:srgbClr val="E8F5E9"/>
                    </a:solidFill>
                  </a:tcPr>
                </a:tc>
                <a:tc>
                  <a:txBody>
                    <a:bodyPr/>
                    <a:lstStyle/>
                    <a:p>
                      <a:pPr>
                        <a:spcBef>
                          <a:spcPts val="100"/>
                        </a:spcBef>
                        <a:spcAft>
                          <a:spcPts val="100"/>
                        </a:spcAft>
                      </a:pPr>
                      <a:r>
                        <a:rPr sz="900" b="0" i="0">
                          <a:solidFill>
                            <a:srgbClr val="202729"/>
                          </a:solidFill>
                          <a:latin typeface="Manrope"/>
                        </a:rPr>
                        <a:t>Excludes women (social norms), elderly (mobility), differently-abled citizens</a:t>
                      </a:r>
                    </a:p>
                  </a:txBody>
                  <a:tcPr>
                    <a:solidFill>
                      <a:srgbClr val="E8F5E9"/>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pic>
        <p:nvPicPr>
          <p:cNvPr id="68" name="Google Shape;68;p15"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69" name="TextBox 68"/>
          <p:cNvSpPr txBox="1"/>
          <p:nvPr/>
        </p:nvSpPr>
        <p:spPr>
          <a:xfrm>
            <a:off x="311700" y="863550"/>
            <a:ext cx="8520600" cy="365760"/>
          </a:xfrm>
          <a:prstGeom prst="rect">
            <a:avLst/>
          </a:prstGeom>
          <a:noFill/>
        </p:spPr>
        <p:txBody>
          <a:bodyPr wrap="square">
            <a:spAutoFit/>
          </a:bodyPr>
          <a:lstStyle/>
          <a:p>
            <a:r>
              <a:rPr sz="2200" b="1" i="0">
                <a:solidFill>
                  <a:srgbClr val="202729"/>
                </a:solidFill>
                <a:latin typeface="Manrope"/>
              </a:rPr>
              <a:t>Brief About the Idea</a:t>
            </a:r>
          </a:p>
        </p:txBody>
      </p:sp>
      <p:sp>
        <p:nvSpPr>
          <p:cNvPr id="70" name="TextBox 69"/>
          <p:cNvSpPr txBox="1"/>
          <p:nvPr/>
        </p:nvSpPr>
        <p:spPr>
          <a:xfrm>
            <a:off x="311700" y="1234440"/>
            <a:ext cx="4023360" cy="914400"/>
          </a:xfrm>
          <a:prstGeom prst="rect">
            <a:avLst/>
          </a:prstGeom>
          <a:noFill/>
        </p:spPr>
        <p:txBody>
          <a:bodyPr wrap="square">
            <a:spAutoFit/>
          </a:bodyPr>
          <a:lstStyle/>
          <a:p>
            <a:r>
              <a:rPr sz="1400" b="1" i="0">
                <a:solidFill>
                  <a:srgbClr val="2E7D32"/>
                </a:solidFill>
                <a:latin typeface="Manrope"/>
              </a:rPr>
              <a:t>Solution Overview</a:t>
            </a:r>
          </a:p>
          <a:p>
            <a:pPr algn="l">
              <a:spcBef>
                <a:spcPts val="400"/>
              </a:spcBef>
              <a:spcAft>
                <a:spcPts val="200"/>
              </a:spcAft>
            </a:pPr>
            <a:r>
              <a:rPr sz="900" b="0" i="0">
                <a:solidFill>
                  <a:srgbClr val="202729"/>
                </a:solidFill>
                <a:latin typeface="Manrope"/>
              </a:rPr>
              <a:t>eGramSabha is a voice-first, face-authenticated platform that digitizes the entire Gram Sabha lifecycle — from citizen registration to issue resolution tracking. It is a direct response to the structural barriers that prevent Gram Sabhas from functioning as the Constitution intended.</a:t>
            </a:r>
          </a:p>
        </p:txBody>
      </p:sp>
      <p:pic>
        <p:nvPicPr>
          <p:cNvPr id="71" name="Picture 70" descr="workflow.png"/>
          <p:cNvPicPr>
            <a:picLocks noChangeAspect="1"/>
          </p:cNvPicPr>
          <p:nvPr/>
        </p:nvPicPr>
        <p:blipFill>
          <a:blip r:embed="rId4"/>
          <a:stretch>
            <a:fillRect/>
          </a:stretch>
        </p:blipFill>
        <p:spPr>
          <a:xfrm>
            <a:off x="274320" y="2103120"/>
            <a:ext cx="8503920" cy="640080"/>
          </a:xfrm>
          <a:prstGeom prst="rect">
            <a:avLst/>
          </a:prstGeom>
        </p:spPr>
      </p:pic>
      <p:sp>
        <p:nvSpPr>
          <p:cNvPr id="72" name="TextBox 71"/>
          <p:cNvSpPr txBox="1"/>
          <p:nvPr/>
        </p:nvSpPr>
        <p:spPr>
          <a:xfrm>
            <a:off x="311700" y="2880360"/>
            <a:ext cx="8520600" cy="2103120"/>
          </a:xfrm>
          <a:prstGeom prst="rect">
            <a:avLst/>
          </a:prstGeom>
          <a:noFill/>
        </p:spPr>
        <p:txBody>
          <a:bodyPr wrap="square">
            <a:spAutoFit/>
          </a:bodyPr>
          <a:lstStyle/>
          <a:p>
            <a:r>
              <a:rPr sz="1400" b="1" i="0">
                <a:solidFill>
                  <a:srgbClr val="2E7D32"/>
                </a:solidFill>
                <a:latin typeface="Manrope"/>
              </a:rPr>
              <a:t>Why AI is Required</a:t>
            </a:r>
          </a:p>
          <a:p>
            <a:pPr>
              <a:spcBef>
                <a:spcPts val="200"/>
              </a:spcBef>
              <a:spcAft>
                <a:spcPts val="100"/>
              </a:spcAft>
            </a:pPr>
            <a:r>
              <a:rPr sz="800" b="1" i="0">
                <a:solidFill>
                  <a:srgbClr val="2E7D32"/>
                </a:solidFill>
                <a:latin typeface="Manrope"/>
              </a:rPr>
              <a:t>Voice-First Removes the Literacy Barrier: </a:t>
            </a:r>
            <a:r>
              <a:rPr sz="800" b="0" i="0">
                <a:solidFill>
                  <a:srgbClr val="202729"/>
                </a:solidFill>
                <a:latin typeface="Manrope"/>
              </a:rPr>
              <a:t>60%+ of rural Indians have limited literacy. Paper complaint registers, written agendas, and printed minutes exclude them by design. Voice-first AI lets a tribal woman in Jharkhand or an elderly farmer in Tamil Nadu speak a complaint and have it formally recorded in 3 languages — without writing a single word.</a:t>
            </a:r>
          </a:p>
          <a:p>
            <a:pPr>
              <a:spcBef>
                <a:spcPts val="200"/>
              </a:spcBef>
              <a:spcAft>
                <a:spcPts val="100"/>
              </a:spcAft>
            </a:pPr>
            <a:r>
              <a:rPr sz="800" b="1" i="0">
                <a:solidFill>
                  <a:srgbClr val="2E7D32"/>
                </a:solidFill>
                <a:latin typeface="Manrope"/>
              </a:rPr>
              <a:t>AI Transcription + Grammar Correction + Translation: </a:t>
            </a:r>
            <a:r>
              <a:rPr sz="800" b="0" i="0">
                <a:solidFill>
                  <a:srgbClr val="202729"/>
                </a:solidFill>
                <a:latin typeface="Manrope"/>
              </a:rPr>
              <a:t>Raw voice recordings are transcribed by STT (Jio/Whisper/AWS Transcribe — provider-agnostic). Amazon Bedrock then corrects grammar and translates to the original language + English + Hindi. A single voice complaint becomes a trilingual formal issue.</a:t>
            </a:r>
          </a:p>
          <a:p>
            <a:pPr>
              <a:spcBef>
                <a:spcPts val="200"/>
              </a:spcBef>
              <a:spcAft>
                <a:spcPts val="100"/>
              </a:spcAft>
            </a:pPr>
            <a:r>
              <a:rPr sz="800" b="1" i="0">
                <a:solidFill>
                  <a:srgbClr val="2E7D32"/>
                </a:solidFill>
                <a:latin typeface="Manrope"/>
              </a:rPr>
              <a:t>AI Sentiment Analysis + Auto-Priority: </a:t>
            </a:r>
            <a:r>
              <a:rPr sz="800" b="0" i="0">
                <a:solidFill>
                  <a:srgbClr val="202729"/>
                </a:solidFill>
                <a:latin typeface="Manrope"/>
              </a:rPr>
              <a:t>Every issue is analysed for sentiment (positive/negative/neutral/mixed), key phrases extracted, and urgency auto-detected. A complaint about 'sewage flowing into drinking water supply' is automatically flagged URGENT — it doesn't wait for the next monthly meeting. Officials see a prioritised dashboard: urgent issues first.</a:t>
            </a:r>
          </a:p>
          <a:p>
            <a:pPr>
              <a:spcBef>
                <a:spcPts val="200"/>
              </a:spcBef>
              <a:spcAft>
                <a:spcPts val="100"/>
              </a:spcAft>
            </a:pPr>
            <a:r>
              <a:rPr sz="800" b="1" i="0">
                <a:solidFill>
                  <a:srgbClr val="2E7D32"/>
                </a:solidFill>
                <a:latin typeface="Manrope"/>
              </a:rPr>
              <a:t>AI-Generated Minutes of Meeting (MOM): </a:t>
            </a:r>
            <a:r>
              <a:rPr sz="800" b="0" i="0">
                <a:solidFill>
                  <a:srgbClr val="202729"/>
                </a:solidFill>
                <a:latin typeface="Manrope"/>
              </a:rPr>
              <a:t>Gram Sabha minutes are hand-written by clerks — often days later, subjective, incomplete, sometimes pre-written. AI generates structured MOM instantly: Meeting Overview, Discussion Points, Decisions Taken, Action Items, Next Steps. Auto-translated to 3 languages. For the first time, proceedings exist as a permanent, searchable, verifiable record.</a:t>
            </a:r>
          </a:p>
          <a:p>
            <a:pPr>
              <a:spcBef>
                <a:spcPts val="200"/>
              </a:spcBef>
              <a:spcAft>
                <a:spcPts val="100"/>
              </a:spcAft>
            </a:pPr>
            <a:r>
              <a:rPr sz="800" b="1" i="0">
                <a:solidFill>
                  <a:srgbClr val="2E7D32"/>
                </a:solidFill>
                <a:latin typeface="Manrope"/>
              </a:rPr>
              <a:t>AI-Generated Agendas — Democratic by Default: </a:t>
            </a:r>
            <a:r>
              <a:rPr sz="800" b="0" i="0">
                <a:solidFill>
                  <a:srgbClr val="202729"/>
                </a:solidFill>
                <a:latin typeface="Manrope"/>
              </a:rPr>
              <a:t>Current agendas are ad-hoc, influenced by powerful voices. AI generates structured agendas from ALL citizen-reported issues — every voice has equal weight. Officials cannot selectively omit issues.</a:t>
            </a:r>
          </a:p>
          <a:p>
            <a:pPr>
              <a:spcBef>
                <a:spcPts val="200"/>
              </a:spcBef>
              <a:spcAft>
                <a:spcPts val="100"/>
              </a:spcAft>
            </a:pPr>
            <a:r>
              <a:rPr sz="800" b="1" i="0">
                <a:solidFill>
                  <a:srgbClr val="2E7D32"/>
                </a:solidFill>
                <a:latin typeface="Manrope"/>
              </a:rPr>
              <a:t>Text-to-Speech — Information Reaches Everyone: </a:t>
            </a:r>
            <a:r>
              <a:rPr sz="800" b="0" i="0">
                <a:solidFill>
                  <a:srgbClr val="202729"/>
                </a:solidFill>
                <a:latin typeface="Manrope"/>
              </a:rPr>
              <a:t>Amazon Polly reads agendas aloud in the citizen's language. The illiterate elderly man who could never read the notice board can now listen to what will be discussed on his phone.</a:t>
            </a:r>
          </a:p>
          <a:p>
            <a:pPr>
              <a:spcBef>
                <a:spcPts val="200"/>
              </a:spcBef>
              <a:spcAft>
                <a:spcPts val="100"/>
              </a:spcAft>
            </a:pPr>
            <a:r>
              <a:rPr sz="800" b="1" i="0">
                <a:solidFill>
                  <a:srgbClr val="2E7D32"/>
                </a:solidFill>
                <a:latin typeface="Manrope"/>
              </a:rPr>
              <a:t>Without AI: An Impossible Scale Problem: </a:t>
            </a:r>
            <a:r>
              <a:rPr sz="800" b="0" i="0">
                <a:solidFill>
                  <a:srgbClr val="202729"/>
                </a:solidFill>
                <a:latin typeface="Manrope"/>
              </a:rPr>
              <a:t>250,000 panchayats x multiple languages x regular meetings = Without AI, this would require an army of clerks, translators, and transcribers at every panchayat. AI makes inclusive governance scalable.</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id="74" name="Google Shape;74;p16"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75" name="TextBox 74"/>
          <p:cNvSpPr txBox="1"/>
          <p:nvPr/>
        </p:nvSpPr>
        <p:spPr>
          <a:xfrm>
            <a:off x="311700" y="863550"/>
            <a:ext cx="8520600" cy="365760"/>
          </a:xfrm>
          <a:prstGeom prst="rect">
            <a:avLst/>
          </a:prstGeom>
          <a:noFill/>
        </p:spPr>
        <p:txBody>
          <a:bodyPr wrap="square">
            <a:spAutoFit/>
          </a:bodyPr>
          <a:lstStyle/>
          <a:p>
            <a:r>
              <a:rPr sz="2200" b="1" i="0">
                <a:solidFill>
                  <a:srgbClr val="202729"/>
                </a:solidFill>
                <a:latin typeface="Manrope"/>
              </a:rPr>
              <a:t>Brief About the Idea (continued)</a:t>
            </a:r>
          </a:p>
        </p:txBody>
      </p:sp>
      <p:sp>
        <p:nvSpPr>
          <p:cNvPr id="76" name="TextBox 75"/>
          <p:cNvSpPr txBox="1"/>
          <p:nvPr/>
        </p:nvSpPr>
        <p:spPr>
          <a:xfrm>
            <a:off x="274320" y="1234440"/>
            <a:ext cx="4206240" cy="3383280"/>
          </a:xfrm>
          <a:prstGeom prst="rect">
            <a:avLst/>
          </a:prstGeom>
          <a:noFill/>
        </p:spPr>
        <p:txBody>
          <a:bodyPr wrap="square">
            <a:spAutoFit/>
          </a:bodyPr>
          <a:lstStyle/>
          <a:p>
            <a:r>
              <a:rPr sz="1200" b="1" i="0">
                <a:solidFill>
                  <a:srgbClr val="2E7D32"/>
                </a:solidFill>
                <a:latin typeface="Manrope"/>
              </a:rPr>
              <a:t>AWS Services (11 Active + 4 Code-Ready = 15)</a:t>
            </a:r>
          </a:p>
          <a:p>
            <a:pPr>
              <a:spcBef>
                <a:spcPts val="100"/>
              </a:spcBef>
              <a:spcAft>
                <a:spcPts val="0"/>
              </a:spcAft>
            </a:pPr>
            <a:r>
              <a:rPr sz="750" b="1" i="0">
                <a:solidFill>
                  <a:srgbClr val="0073BB"/>
                </a:solidFill>
                <a:latin typeface="Manrope"/>
              </a:rPr>
              <a:t>  Amazon Bedrock (Nova Lite via Converse API): </a:t>
            </a:r>
            <a:r>
              <a:rPr sz="750" b="0" i="0">
                <a:solidFill>
                  <a:srgbClr val="202729"/>
                </a:solidFill>
                <a:latin typeface="Manrope"/>
              </a:rPr>
              <a:t>LLM backbone powering 5 AI tasks: MOM generation, agenda creation, grammar correction, sentiment analysis, and translation fallback. Temperature 0.3 for consistent output. Large transcriptions chunked (1500 chars, 200 overlap) to handle hour-long meetings.</a:t>
            </a:r>
          </a:p>
          <a:p>
            <a:pPr>
              <a:spcBef>
                <a:spcPts val="100"/>
              </a:spcBef>
              <a:spcAft>
                <a:spcPts val="0"/>
              </a:spcAft>
            </a:pPr>
            <a:r>
              <a:rPr sz="750" b="1" i="0">
                <a:solidFill>
                  <a:srgbClr val="0073BB"/>
                </a:solidFill>
                <a:latin typeface="Manrope"/>
              </a:rPr>
              <a:t>  Amazon S3 (2 buckets, Intelligent-Tiering): </a:t>
            </a:r>
            <a:r>
              <a:rPr sz="750" b="0" i="0">
                <a:solidFill>
                  <a:srgbClr val="202729"/>
                </a:solidFill>
                <a:latin typeface="Manrope"/>
              </a:rPr>
              <a:t>egramsabha-assets: face photos, letterheads, issue attachments, TTS audio cache. egramsabha-transcribe-temp: temporary audio for Transcribe jobs. All uploads use INTELLIGENT_TIERING — auto-moves cold data to cheaper tiers.</a:t>
            </a:r>
          </a:p>
          <a:p>
            <a:pPr>
              <a:spcBef>
                <a:spcPts val="100"/>
              </a:spcBef>
              <a:spcAft>
                <a:spcPts val="0"/>
              </a:spcAft>
            </a:pPr>
            <a:r>
              <a:rPr sz="750" b="1" i="0">
                <a:solidFill>
                  <a:srgbClr val="0073BB"/>
                </a:solidFill>
                <a:latin typeface="Manrope"/>
              </a:rPr>
              <a:t>  AWS Translate: </a:t>
            </a:r>
            <a:r>
              <a:rPr sz="750" b="0" i="0">
                <a:solidFill>
                  <a:srgbClr val="202729"/>
                </a:solidFill>
                <a:latin typeface="Manrope"/>
              </a:rPr>
              <a:t>Real-time translation of AI-generated content (agendas, MOMs, corrected transcriptions) across 10+ Indian languages. Auto-detects source language. Used only for AI content — UI uses static translation files.</a:t>
            </a:r>
          </a:p>
          <a:p>
            <a:pPr>
              <a:spcBef>
                <a:spcPts val="100"/>
              </a:spcBef>
              <a:spcAft>
                <a:spcPts val="0"/>
              </a:spcAft>
            </a:pPr>
            <a:r>
              <a:rPr sz="750" b="1" i="0">
                <a:solidFill>
                  <a:srgbClr val="0073BB"/>
                </a:solidFill>
                <a:latin typeface="Manrope"/>
              </a:rPr>
              <a:t>  Amazon Polly + S3 Caching: </a:t>
            </a:r>
            <a:r>
              <a:rPr sz="750" b="0" i="0">
                <a:solidFill>
                  <a:srgbClr val="202729"/>
                </a:solidFill>
                <a:latin typeface="Manrope"/>
              </a:rPr>
              <a:t>Text-to-Speech for agenda read-aloud. Aditi voice (Hindi), Raveena (English). SHA256 content hash -&gt; check S3 cache -&gt; synthesize if miss -&gt; cache result. Same text never synthesized twice.</a:t>
            </a:r>
          </a:p>
          <a:p>
            <a:pPr>
              <a:spcBef>
                <a:spcPts val="100"/>
              </a:spcBef>
              <a:spcAft>
                <a:spcPts val="0"/>
              </a:spcAft>
            </a:pPr>
            <a:r>
              <a:rPr sz="750" b="1" i="0">
                <a:solidFill>
                  <a:srgbClr val="0073BB"/>
                </a:solidFill>
                <a:latin typeface="Manrope"/>
              </a:rPr>
              <a:t>  API Gateway (REST, REGIONAL): </a:t>
            </a:r>
            <a:r>
              <a:rPr sz="750" b="0" i="0">
                <a:solidFill>
                  <a:srgbClr val="202729"/>
                </a:solidFill>
                <a:latin typeface="Manrope"/>
              </a:rPr>
              <a:t>Single entry point for ALL API traffic. eGramSabha-MOM-API with prod stage. 100 req/s rate limit, 200 burst, 100K requests/day quota. API key (x-api-key header) from frontend. Protects expensive AI endpoints from abuse.</a:t>
            </a:r>
          </a:p>
          <a:p>
            <a:pPr>
              <a:spcBef>
                <a:spcPts val="100"/>
              </a:spcBef>
              <a:spcAft>
                <a:spcPts val="0"/>
              </a:spcAft>
            </a:pPr>
            <a:r>
              <a:rPr sz="750" b="1" i="0">
                <a:solidFill>
                  <a:srgbClr val="0073BB"/>
                </a:solidFill>
                <a:latin typeface="Manrope"/>
              </a:rPr>
              <a:t>  CloudWatch (2 log groups): </a:t>
            </a:r>
            <a:r>
              <a:rPr sz="750" b="0" i="0">
                <a:solidFill>
                  <a:srgbClr val="202729"/>
                </a:solidFill>
                <a:latin typeface="Manrope"/>
              </a:rPr>
              <a:t>/egramsabha/backend (Winston + winston-cloudwatch) and /egramsabha/video-mom (watchtower). Centralized structured JSON logging from both Node.js and Python. 30-day retention.</a:t>
            </a:r>
          </a:p>
          <a:p>
            <a:pPr>
              <a:spcBef>
                <a:spcPts val="100"/>
              </a:spcBef>
              <a:spcAft>
                <a:spcPts val="0"/>
              </a:spcAft>
            </a:pPr>
            <a:r>
              <a:rPr sz="750" b="1" i="0">
                <a:solidFill>
                  <a:srgbClr val="0073BB"/>
                </a:solidFill>
                <a:latin typeface="Manrope"/>
              </a:rPr>
              <a:t>  Secrets Manager: </a:t>
            </a:r>
            <a:r>
              <a:rPr sz="750" b="0" i="0">
                <a:solidFill>
                  <a:srgbClr val="202729"/>
                </a:solidFill>
                <a:latin typeface="Manrope"/>
              </a:rPr>
              <a:t>Single secret 'egramsabha/prod' storing JWT_ADMIN_SECRET, JWT_OFFICIAL_SECRET, JWT_CITIZEN_SECRET, JWT_REFRESH_SECRET. Loaded at startup, cached in memory. Graceful fallback to env vars for local dev.</a:t>
            </a:r>
          </a:p>
          <a:p>
            <a:pPr>
              <a:spcBef>
                <a:spcPts val="100"/>
              </a:spcBef>
              <a:spcAft>
                <a:spcPts val="0"/>
              </a:spcAft>
            </a:pPr>
            <a:r>
              <a:rPr sz="750" b="1" i="0">
                <a:solidFill>
                  <a:srgbClr val="0073BB"/>
                </a:solidFill>
                <a:latin typeface="Manrope"/>
              </a:rPr>
              <a:t>  EC2 (t3.medium) + EBS (gp3) + Elastic IP: </a:t>
            </a:r>
            <a:r>
              <a:rPr sz="750" b="0" i="0">
                <a:solidFill>
                  <a:srgbClr val="202729"/>
                </a:solidFill>
                <a:latin typeface="Manrope"/>
              </a:rPr>
              <a:t>2 vCPU, 4 GB RAM hosting Docker Compose with 4 containers. Burstable CPU handles AI processing spikes. 20 GB gp3 for persistent volumes. Static IP for DNS and API Gateway.</a:t>
            </a:r>
          </a:p>
          <a:p>
            <a:pPr>
              <a:spcBef>
                <a:spcPts val="100"/>
              </a:spcBef>
              <a:spcAft>
                <a:spcPts val="0"/>
              </a:spcAft>
            </a:pPr>
            <a:r>
              <a:rPr sz="750" b="1" i="0">
                <a:solidFill>
                  <a:srgbClr val="0073BB"/>
                </a:solidFill>
                <a:latin typeface="Manrope"/>
              </a:rPr>
              <a:t>  IAM: </a:t>
            </a:r>
            <a:r>
              <a:rPr sz="750" b="0" i="0">
                <a:solidFill>
                  <a:srgbClr val="202729"/>
                </a:solidFill>
                <a:latin typeface="Manrope"/>
              </a:rPr>
              <a:t>Least-privilege policies per service. Each service only accesses AWS APIs it needs. Graceful degradation if permissions are missing.</a:t>
            </a:r>
          </a:p>
          <a:p>
            <a:pPr>
              <a:spcBef>
                <a:spcPts val="400"/>
              </a:spcBef>
            </a:pPr>
            <a:r>
              <a:rPr sz="800" b="1" i="0">
                <a:solidFill>
                  <a:srgbClr val="FFA000"/>
                </a:solidFill>
                <a:latin typeface="Manrope"/>
              </a:rPr>
              <a:t>Code-Ready:</a:t>
            </a:r>
          </a:p>
          <a:p>
            <a:pPr>
              <a:spcBef>
                <a:spcPts val="0"/>
              </a:spcBef>
            </a:pPr>
            <a:r>
              <a:rPr sz="750" b="1" i="0">
                <a:solidFill>
                  <a:srgbClr val="FFA000"/>
                </a:solidFill>
                <a:latin typeface="Manrope"/>
              </a:rPr>
              <a:t>  Amazon Rekognition: </a:t>
            </a:r>
            <a:r>
              <a:rPr sz="750" b="0" i="0">
                <a:solidFill>
                  <a:srgbClr val="202729"/>
                </a:solidFill>
                <a:latin typeface="Manrope"/>
              </a:rPr>
              <a:t>Server-side face verification. Collections per panchayat. IndexFaces during registration, SearchFacesByImage during login (90% similarity threshold). Activated via FACE_VERIFICATION_PROVIDER=rekognition.</a:t>
            </a:r>
          </a:p>
          <a:p>
            <a:pPr>
              <a:spcBef>
                <a:spcPts val="0"/>
              </a:spcBef>
            </a:pPr>
            <a:r>
              <a:rPr sz="750" b="1" i="0">
                <a:solidFill>
                  <a:srgbClr val="FFA000"/>
                </a:solidFill>
                <a:latin typeface="Manrope"/>
              </a:rPr>
              <a:t>  Amazon DocumentDB: </a:t>
            </a:r>
            <a:r>
              <a:rPr sz="750" b="0" i="0">
                <a:solidFill>
                  <a:srgbClr val="202729"/>
                </a:solidFill>
                <a:latin typeface="Manrope"/>
              </a:rPr>
              <a:t>Managed MongoDB replacement. All Mongoose schemas are DocumentDB-compatible. Activated via USE_DOCUMENTDB=true. Provides automated backups, multi-AZ failover.</a:t>
            </a:r>
          </a:p>
          <a:p>
            <a:pPr>
              <a:spcBef>
                <a:spcPts val="0"/>
              </a:spcBef>
            </a:pPr>
            <a:r>
              <a:rPr sz="750" b="1" i="0">
                <a:solidFill>
                  <a:srgbClr val="FFA000"/>
                </a:solidFill>
                <a:latin typeface="Manrope"/>
              </a:rPr>
              <a:t>  AWS Transcribe: </a:t>
            </a:r>
            <a:r>
              <a:rPr sz="750" b="0" i="0">
                <a:solidFill>
                  <a:srgbClr val="202729"/>
                </a:solidFill>
                <a:latin typeface="Manrope"/>
              </a:rPr>
              <a:t>Managed STT supporting Hindi, Tamil, Telugu, Kannada, Malayalam, Bengali, Gujarati, Marathi, Punjabi + more. Code complete — async batch jobs via S3. Activated via STT_PROVIDER=aws_transcribe.</a:t>
            </a:r>
          </a:p>
          <a:p>
            <a:pPr>
              <a:spcBef>
                <a:spcPts val="0"/>
              </a:spcBef>
            </a:pPr>
            <a:r>
              <a:rPr sz="750" b="1" i="0">
                <a:solidFill>
                  <a:srgbClr val="FFA000"/>
                </a:solidFill>
                <a:latin typeface="Manrope"/>
              </a:rPr>
              <a:t>  Amazon SNS: </a:t>
            </a:r>
            <a:r>
              <a:rPr sz="750" b="0" i="0">
                <a:solidFill>
                  <a:srgbClr val="202729"/>
                </a:solidFill>
                <a:latin typeface="Manrope"/>
              </a:rPr>
              <a:t>SMS notifications for meeting schedules and issue status updates. Direct SMS publish with Transactional type, +91 formatting, sender ID 'eGramSbha'. API calls succeed — delivery needs AWS sandbox exit + India DLT registration.</a:t>
            </a:r>
          </a:p>
        </p:txBody>
      </p:sp>
      <p:graphicFrame>
        <p:nvGraphicFramePr>
          <p:cNvPr id="77" name="Table 76"/>
          <p:cNvGraphicFramePr>
            <a:graphicFrameLocks noGrp="1"/>
          </p:cNvGraphicFramePr>
          <p:nvPr/>
        </p:nvGraphicFramePr>
        <p:xfrm>
          <a:off x="4572000" y="1234440"/>
          <a:ext cx="4297680" cy="3200400"/>
        </p:xfrm>
        <a:graphic>
          <a:graphicData uri="http://schemas.openxmlformats.org/drawingml/2006/table">
            <a:tbl>
              <a:tblPr firstRow="1" bandRow="1">
                <a:tableStyleId>{5C22544A-7EE6-4342-B048-85BDC9FD1C3A}</a:tableStyleId>
              </a:tblPr>
              <a:tblGrid>
                <a:gridCol w="1097280"/>
                <a:gridCol w="1600200"/>
                <a:gridCol w="1600200"/>
              </a:tblGrid>
              <a:tr h="457200">
                <a:tc>
                  <a:txBody>
                    <a:bodyPr/>
                    <a:lstStyle/>
                    <a:p>
                      <a:pPr>
                        <a:spcBef>
                          <a:spcPts val="100"/>
                        </a:spcBef>
                        <a:spcAft>
                          <a:spcPts val="100"/>
                        </a:spcAft>
                      </a:pPr>
                      <a:r>
                        <a:rPr sz="1000" b="1" i="0">
                          <a:solidFill>
                            <a:srgbClr val="FFFFFF"/>
                          </a:solidFill>
                          <a:latin typeface="Manrope"/>
                        </a:rPr>
                        <a:t>User</a:t>
                      </a:r>
                    </a:p>
                  </a:txBody>
                  <a:tcPr>
                    <a:solidFill>
                      <a:srgbClr val="2E7D32"/>
                    </a:solidFill>
                  </a:tcPr>
                </a:tc>
                <a:tc>
                  <a:txBody>
                    <a:bodyPr/>
                    <a:lstStyle/>
                    <a:p>
                      <a:pPr>
                        <a:spcBef>
                          <a:spcPts val="100"/>
                        </a:spcBef>
                        <a:spcAft>
                          <a:spcPts val="100"/>
                        </a:spcAft>
                      </a:pPr>
                      <a:r>
                        <a:rPr sz="1000" b="1" i="0">
                          <a:solidFill>
                            <a:srgbClr val="FFFFFF"/>
                          </a:solidFill>
                          <a:latin typeface="Manrope"/>
                        </a:rPr>
                        <a:t>Without AI</a:t>
                      </a:r>
                    </a:p>
                  </a:txBody>
                  <a:tcPr>
                    <a:solidFill>
                      <a:srgbClr val="2E7D32"/>
                    </a:solidFill>
                  </a:tcPr>
                </a:tc>
                <a:tc>
                  <a:txBody>
                    <a:bodyPr/>
                    <a:lstStyle/>
                    <a:p>
                      <a:pPr>
                        <a:spcBef>
                          <a:spcPts val="100"/>
                        </a:spcBef>
                        <a:spcAft>
                          <a:spcPts val="100"/>
                        </a:spcAft>
                      </a:pPr>
                      <a:r>
                        <a:rPr sz="1000" b="1" i="0">
                          <a:solidFill>
                            <a:srgbClr val="FFFFFF"/>
                          </a:solidFill>
                          <a:latin typeface="Manrope"/>
                        </a:rPr>
                        <a:t>With AI</a:t>
                      </a:r>
                    </a:p>
                  </a:txBody>
                  <a:tcPr>
                    <a:solidFill>
                      <a:srgbClr val="2E7D32"/>
                    </a:solidFill>
                  </a:tcPr>
                </a:tc>
              </a:tr>
              <a:tr h="457200">
                <a:tc>
                  <a:txBody>
                    <a:bodyPr/>
                    <a:lstStyle/>
                    <a:p>
                      <a:pPr>
                        <a:spcBef>
                          <a:spcPts val="100"/>
                        </a:spcBef>
                        <a:spcAft>
                          <a:spcPts val="100"/>
                        </a:spcAft>
                      </a:pPr>
                      <a:r>
                        <a:rPr sz="900" b="0" i="0">
                          <a:solidFill>
                            <a:srgbClr val="202729"/>
                          </a:solidFill>
                          <a:latin typeface="Manrope"/>
                        </a:rPr>
                        <a:t>Illiterate citizen (60%+ of rural India)</a:t>
                      </a:r>
                    </a:p>
                  </a:txBody>
                  <a:tcPr/>
                </a:tc>
                <a:tc>
                  <a:txBody>
                    <a:bodyPr/>
                    <a:lstStyle/>
                    <a:p>
                      <a:pPr>
                        <a:spcBef>
                          <a:spcPts val="100"/>
                        </a:spcBef>
                        <a:spcAft>
                          <a:spcPts val="100"/>
                        </a:spcAft>
                      </a:pPr>
                      <a:r>
                        <a:rPr sz="900" b="0" i="0">
                          <a:solidFill>
                            <a:srgbClr val="202729"/>
                          </a:solidFill>
                          <a:latin typeface="Manrope"/>
                        </a:rPr>
                        <a:t>Cannot report issues — requires writing in a complaint register during office hours</a:t>
                      </a:r>
                    </a:p>
                  </a:txBody>
                  <a:tcPr/>
                </a:tc>
                <a:tc>
                  <a:txBody>
                    <a:bodyPr/>
                    <a:lstStyle/>
                    <a:p>
                      <a:pPr>
                        <a:spcBef>
                          <a:spcPts val="100"/>
                        </a:spcBef>
                        <a:spcAft>
                          <a:spcPts val="100"/>
                        </a:spcAft>
                      </a:pPr>
                      <a:r>
                        <a:rPr sz="900" b="0" i="0">
                          <a:solidFill>
                            <a:srgbClr val="202729"/>
                          </a:solidFill>
                          <a:latin typeface="Manrope"/>
                        </a:rPr>
                        <a:t>Speaks complaint into phone in any language. AI transcribes, corrects, translates, assigns priority. Issue formally registered.</a:t>
                      </a:r>
                    </a:p>
                  </a:txBody>
                  <a:tcPr/>
                </a:tc>
              </a:tr>
              <a:tr h="457200">
                <a:tc>
                  <a:txBody>
                    <a:bodyPr/>
                    <a:lstStyle/>
                    <a:p>
                      <a:pPr>
                        <a:spcBef>
                          <a:spcPts val="100"/>
                        </a:spcBef>
                        <a:spcAft>
                          <a:spcPts val="100"/>
                        </a:spcAft>
                      </a:pPr>
                      <a:r>
                        <a:rPr sz="900" b="0" i="0">
                          <a:solidFill>
                            <a:srgbClr val="202729"/>
                          </a:solidFill>
                          <a:latin typeface="Manrope"/>
                        </a:rPr>
                        <a:t>Panchayat secretary</a:t>
                      </a:r>
                    </a:p>
                  </a:txBody>
                  <a:tcPr>
                    <a:solidFill>
                      <a:srgbClr val="E8F5E9"/>
                    </a:solidFill>
                  </a:tcPr>
                </a:tc>
                <a:tc>
                  <a:txBody>
                    <a:bodyPr/>
                    <a:lstStyle/>
                    <a:p>
                      <a:pPr>
                        <a:spcBef>
                          <a:spcPts val="100"/>
                        </a:spcBef>
                        <a:spcAft>
                          <a:spcPts val="100"/>
                        </a:spcAft>
                      </a:pPr>
                      <a:r>
                        <a:rPr sz="900" b="0" i="0">
                          <a:solidFill>
                            <a:srgbClr val="202729"/>
                          </a:solidFill>
                          <a:latin typeface="Manrope"/>
                        </a:rPr>
                        <a:t>Hand-writes minutes for hours, often days later. Subjective, sometimes pre-written before meeting.</a:t>
                      </a:r>
                    </a:p>
                  </a:txBody>
                  <a:tcPr>
                    <a:solidFill>
                      <a:srgbClr val="E8F5E9"/>
                    </a:solidFill>
                  </a:tcPr>
                </a:tc>
                <a:tc>
                  <a:txBody>
                    <a:bodyPr/>
                    <a:lstStyle/>
                    <a:p>
                      <a:pPr>
                        <a:spcBef>
                          <a:spcPts val="100"/>
                        </a:spcBef>
                        <a:spcAft>
                          <a:spcPts val="100"/>
                        </a:spcAft>
                      </a:pPr>
                      <a:r>
                        <a:rPr sz="900" b="0" i="0">
                          <a:solidFill>
                            <a:srgbClr val="202729"/>
                          </a:solidFill>
                          <a:latin typeface="Manrope"/>
                        </a:rPr>
                        <a:t>AI generates structured MOM in seconds: Discussion Points, Decisions, Action Items. 3 languages. Permanent verifiable record.</a:t>
                      </a:r>
                    </a:p>
                  </a:txBody>
                  <a:tcPr>
                    <a:solidFill>
                      <a:srgbClr val="E8F5E9"/>
                    </a:solidFill>
                  </a:tcPr>
                </a:tc>
              </a:tr>
              <a:tr h="457200">
                <a:tc>
                  <a:txBody>
                    <a:bodyPr/>
                    <a:lstStyle/>
                    <a:p>
                      <a:pPr>
                        <a:spcBef>
                          <a:spcPts val="100"/>
                        </a:spcBef>
                        <a:spcAft>
                          <a:spcPts val="100"/>
                        </a:spcAft>
                      </a:pPr>
                      <a:r>
                        <a:rPr sz="900" b="0" i="0">
                          <a:solidFill>
                            <a:srgbClr val="202729"/>
                          </a:solidFill>
                          <a:latin typeface="Manrope"/>
                        </a:rPr>
                        <a:t>Women at home (~3% participation)</a:t>
                      </a:r>
                    </a:p>
                  </a:txBody>
                  <a:tcPr/>
                </a:tc>
                <a:tc>
                  <a:txBody>
                    <a:bodyPr/>
                    <a:lstStyle/>
                    <a:p>
                      <a:pPr>
                        <a:spcBef>
                          <a:spcPts val="100"/>
                        </a:spcBef>
                        <a:spcAft>
                          <a:spcPts val="100"/>
                        </a:spcAft>
                      </a:pPr>
                      <a:r>
                        <a:rPr sz="900" b="0" i="0">
                          <a:solidFill>
                            <a:srgbClr val="202729"/>
                          </a:solidFill>
                          <a:latin typeface="Manrope"/>
                        </a:rPr>
                        <a:t>Must attend male-dominated public meeting. Social norms discourage public speaking. Domestic responsibilities prevent attendance.</a:t>
                      </a:r>
                    </a:p>
                  </a:txBody>
                  <a:tcPr/>
                </a:tc>
                <a:tc>
                  <a:txBody>
                    <a:bodyPr/>
                    <a:lstStyle/>
                    <a:p>
                      <a:pPr>
                        <a:spcBef>
                          <a:spcPts val="100"/>
                        </a:spcBef>
                        <a:spcAft>
                          <a:spcPts val="100"/>
                        </a:spcAft>
                      </a:pPr>
                      <a:r>
                        <a:rPr sz="900" b="0" i="0">
                          <a:solidFill>
                            <a:srgbClr val="202729"/>
                          </a:solidFill>
                          <a:latin typeface="Manrope"/>
                        </a:rPr>
                        <a:t>Reports issues via voice from home, in her language. Complaint has same formal weight as anyone else's. Face auth — no password needed.</a:t>
                      </a:r>
                    </a:p>
                  </a:txBody>
                  <a:tcPr/>
                </a:tc>
              </a:tr>
              <a:tr h="457200">
                <a:tc>
                  <a:txBody>
                    <a:bodyPr/>
                    <a:lstStyle/>
                    <a:p>
                      <a:pPr>
                        <a:spcBef>
                          <a:spcPts val="100"/>
                        </a:spcBef>
                        <a:spcAft>
                          <a:spcPts val="100"/>
                        </a:spcAft>
                      </a:pPr>
                      <a:r>
                        <a:rPr sz="900" b="0" i="0">
                          <a:solidFill>
                            <a:srgbClr val="202729"/>
                          </a:solidFill>
                          <a:latin typeface="Manrope"/>
                        </a:rPr>
                        <a:t>Official creating agenda</a:t>
                      </a:r>
                    </a:p>
                  </a:txBody>
                  <a:tcPr>
                    <a:solidFill>
                      <a:srgbClr val="E8F5E9"/>
                    </a:solidFill>
                  </a:tcPr>
                </a:tc>
                <a:tc>
                  <a:txBody>
                    <a:bodyPr/>
                    <a:lstStyle/>
                    <a:p>
                      <a:pPr>
                        <a:spcBef>
                          <a:spcPts val="100"/>
                        </a:spcBef>
                        <a:spcAft>
                          <a:spcPts val="100"/>
                        </a:spcAft>
                      </a:pPr>
                      <a:r>
                        <a:rPr sz="900" b="0" i="0">
                          <a:solidFill>
                            <a:srgbClr val="202729"/>
                          </a:solidFill>
                          <a:latin typeface="Manrope"/>
                        </a:rPr>
                        <a:t>Ad-hoc list influenced by powerful voices. No systematic inclusion of citizen complaints.</a:t>
                      </a:r>
                    </a:p>
                  </a:txBody>
                  <a:tcPr>
                    <a:solidFill>
                      <a:srgbClr val="E8F5E9"/>
                    </a:solidFill>
                  </a:tcPr>
                </a:tc>
                <a:tc>
                  <a:txBody>
                    <a:bodyPr/>
                    <a:lstStyle/>
                    <a:p>
                      <a:pPr>
                        <a:spcBef>
                          <a:spcPts val="100"/>
                        </a:spcBef>
                        <a:spcAft>
                          <a:spcPts val="100"/>
                        </a:spcAft>
                      </a:pPr>
                      <a:r>
                        <a:rPr sz="900" b="0" i="0">
                          <a:solidFill>
                            <a:srgbClr val="202729"/>
                          </a:solidFill>
                          <a:latin typeface="Manrope"/>
                        </a:rPr>
                        <a:t>AI structures agenda from ALL citizen-reported issues. Every voice has equal weight. Democratic by default.</a:t>
                      </a:r>
                    </a:p>
                  </a:txBody>
                  <a:tcPr>
                    <a:solidFill>
                      <a:srgbClr val="E8F5E9"/>
                    </a:solidFill>
                  </a:tcPr>
                </a:tc>
              </a:tr>
              <a:tr h="457200">
                <a:tc>
                  <a:txBody>
                    <a:bodyPr/>
                    <a:lstStyle/>
                    <a:p>
                      <a:pPr>
                        <a:spcBef>
                          <a:spcPts val="100"/>
                        </a:spcBef>
                        <a:spcAft>
                          <a:spcPts val="100"/>
                        </a:spcAft>
                      </a:pPr>
                      <a:r>
                        <a:rPr sz="900" b="0" i="0">
                          <a:solidFill>
                            <a:srgbClr val="202729"/>
                          </a:solidFill>
                          <a:latin typeface="Manrope"/>
                        </a:rPr>
                        <a:t>Tribal/minority citizen</a:t>
                      </a:r>
                    </a:p>
                  </a:txBody>
                  <a:tcPr/>
                </a:tc>
                <a:tc>
                  <a:txBody>
                    <a:bodyPr/>
                    <a:lstStyle/>
                    <a:p>
                      <a:pPr>
                        <a:spcBef>
                          <a:spcPts val="100"/>
                        </a:spcBef>
                        <a:spcAft>
                          <a:spcPts val="100"/>
                        </a:spcAft>
                      </a:pPr>
                      <a:r>
                        <a:rPr sz="900" b="0" i="0">
                          <a:solidFill>
                            <a:srgbClr val="202729"/>
                          </a:solidFill>
                          <a:latin typeface="Manrope"/>
                        </a:rPr>
                        <a:t>Excluded by state language proceedings. Gondi, Santhali, Bhili speakers cannot understand or participate.</a:t>
                      </a:r>
                    </a:p>
                  </a:txBody>
                  <a:tcPr/>
                </a:tc>
                <a:tc>
                  <a:txBody>
                    <a:bodyPr/>
                    <a:lstStyle/>
                    <a:p>
                      <a:pPr>
                        <a:spcBef>
                          <a:spcPts val="100"/>
                        </a:spcBef>
                        <a:spcAft>
                          <a:spcPts val="100"/>
                        </a:spcAft>
                      </a:pPr>
                      <a:r>
                        <a:rPr sz="900" b="0" i="0">
                          <a:solidFill>
                            <a:srgbClr val="202729"/>
                          </a:solidFill>
                          <a:latin typeface="Manrope"/>
                        </a:rPr>
                        <a:t>Speaks native language. AI translates. Agenda and MOM available in their language. TTS reads aloud.</a:t>
                      </a:r>
                    </a:p>
                  </a:txBody>
                  <a:tcPr/>
                </a:tc>
              </a:tr>
              <a:tr h="457200">
                <a:tc>
                  <a:txBody>
                    <a:bodyPr/>
                    <a:lstStyle/>
                    <a:p>
                      <a:pPr>
                        <a:spcBef>
                          <a:spcPts val="100"/>
                        </a:spcBef>
                        <a:spcAft>
                          <a:spcPts val="100"/>
                        </a:spcAft>
                      </a:pPr>
                      <a:r>
                        <a:rPr sz="900" b="0" i="0">
                          <a:solidFill>
                            <a:srgbClr val="202729"/>
                          </a:solidFill>
                          <a:latin typeface="Manrope"/>
                        </a:rPr>
                        <a:t>Block/District administrator</a:t>
                      </a:r>
                    </a:p>
                  </a:txBody>
                  <a:tcPr>
                    <a:solidFill>
                      <a:srgbClr val="E8F5E9"/>
                    </a:solidFill>
                  </a:tcPr>
                </a:tc>
                <a:tc>
                  <a:txBody>
                    <a:bodyPr/>
                    <a:lstStyle/>
                    <a:p>
                      <a:pPr>
                        <a:spcBef>
                          <a:spcPts val="100"/>
                        </a:spcBef>
                        <a:spcAft>
                          <a:spcPts val="100"/>
                        </a:spcAft>
                      </a:pPr>
                      <a:r>
                        <a:rPr sz="900" b="0" i="0">
                          <a:solidFill>
                            <a:srgbClr val="202729"/>
                          </a:solidFill>
                          <a:latin typeface="Manrope"/>
                        </a:rPr>
                        <a:t>Physical inspection needed to audit Gram Sabhas. Paper records inaccessible.</a:t>
                      </a:r>
                    </a:p>
                  </a:txBody>
                  <a:tcPr>
                    <a:solidFill>
                      <a:srgbClr val="E8F5E9"/>
                    </a:solidFill>
                  </a:tcPr>
                </a:tc>
                <a:tc>
                  <a:txBody>
                    <a:bodyPr/>
                    <a:lstStyle/>
                    <a:p>
                      <a:pPr>
                        <a:spcBef>
                          <a:spcPts val="100"/>
                        </a:spcBef>
                        <a:spcAft>
                          <a:spcPts val="100"/>
                        </a:spcAft>
                      </a:pPr>
                      <a:r>
                        <a:rPr sz="900" b="0" i="0">
                          <a:solidFill>
                            <a:srgbClr val="202729"/>
                          </a:solidFill>
                          <a:latin typeface="Manrope"/>
                        </a:rPr>
                        <a:t>Digital MOM records, biometric attendance data, issue analytics. Audit remotely. Pattern recognition across panchayats.</a:t>
                      </a:r>
                    </a:p>
                  </a:txBody>
                  <a:tcPr>
                    <a:solidFill>
                      <a:srgbClr val="E8F5E9"/>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p17"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81" name="TextBox 80"/>
          <p:cNvSpPr txBox="1"/>
          <p:nvPr/>
        </p:nvSpPr>
        <p:spPr>
          <a:xfrm>
            <a:off x="311700" y="863550"/>
            <a:ext cx="8520600" cy="365760"/>
          </a:xfrm>
          <a:prstGeom prst="rect">
            <a:avLst/>
          </a:prstGeom>
          <a:noFill/>
        </p:spPr>
        <p:txBody>
          <a:bodyPr wrap="square">
            <a:spAutoFit/>
          </a:bodyPr>
          <a:lstStyle/>
          <a:p>
            <a:r>
              <a:rPr sz="2200" b="1" i="0">
                <a:solidFill>
                  <a:srgbClr val="202729"/>
                </a:solidFill>
                <a:latin typeface="Manrope"/>
              </a:rPr>
              <a:t>List of Features</a:t>
            </a:r>
          </a:p>
        </p:txBody>
      </p:sp>
      <p:sp>
        <p:nvSpPr>
          <p:cNvPr id="82" name="TextBox 81"/>
          <p:cNvSpPr txBox="1"/>
          <p:nvPr/>
        </p:nvSpPr>
        <p:spPr>
          <a:xfrm>
            <a:off x="365760" y="1280160"/>
            <a:ext cx="4206240" cy="3474720"/>
          </a:xfrm>
          <a:prstGeom prst="rect">
            <a:avLst/>
          </a:prstGeom>
          <a:noFill/>
        </p:spPr>
        <p:txBody>
          <a:bodyPr wrap="square">
            <a:spAutoFit/>
          </a:bodyPr>
          <a:lstStyle/>
          <a:p>
            <a:pPr>
              <a:spcBef>
                <a:spcPts val="300"/>
              </a:spcBef>
              <a:spcAft>
                <a:spcPts val="100"/>
              </a:spcAft>
            </a:pPr>
            <a:r>
              <a:rPr sz="800" b="1" i="0">
                <a:solidFill>
                  <a:srgbClr val="2E7D32"/>
                </a:solidFill>
                <a:latin typeface="Manrope"/>
              </a:rPr>
              <a:t>AI: Voice-First Issue Reporting: </a:t>
            </a:r>
            <a:r>
              <a:rPr sz="750" b="0" i="0">
                <a:solidFill>
                  <a:srgbClr val="202729"/>
                </a:solidFill>
                <a:latin typeface="Manrope"/>
              </a:rPr>
              <a:t>Record complaint in any language. AI transcribes, corrects grammar, translates to English + Hindi. No typing required.</a:t>
            </a:r>
          </a:p>
          <a:p>
            <a:pPr>
              <a:spcBef>
                <a:spcPts val="300"/>
              </a:spcBef>
              <a:spcAft>
                <a:spcPts val="100"/>
              </a:spcAft>
            </a:pPr>
            <a:r>
              <a:rPr sz="800" b="1" i="0">
                <a:solidFill>
                  <a:srgbClr val="2E7D32"/>
                </a:solidFill>
                <a:latin typeface="Manrope"/>
              </a:rPr>
              <a:t>AI: Sentiment Analysis + Auto-Priority: </a:t>
            </a:r>
            <a:r>
              <a:rPr sz="750" b="0" i="0">
                <a:solidFill>
                  <a:srgbClr val="202729"/>
                </a:solidFill>
                <a:latin typeface="Manrope"/>
              </a:rPr>
              <a:t>Every issue analysed for sentiment (positive/negative/neutral/mixed), key phrases extracted. Health/safety issues auto-flagged URGENT.</a:t>
            </a:r>
          </a:p>
          <a:p>
            <a:pPr>
              <a:spcBef>
                <a:spcPts val="300"/>
              </a:spcBef>
              <a:spcAft>
                <a:spcPts val="100"/>
              </a:spcAft>
            </a:pPr>
            <a:r>
              <a:rPr sz="800" b="1" i="0">
                <a:solidFill>
                  <a:srgbClr val="2E7D32"/>
                </a:solidFill>
                <a:latin typeface="Manrope"/>
              </a:rPr>
              <a:t>AI: Minutes of Meeting Generation: </a:t>
            </a:r>
            <a:r>
              <a:rPr sz="750" b="0" i="0">
                <a:solidFill>
                  <a:srgbClr val="202729"/>
                </a:solidFill>
                <a:latin typeface="Manrope"/>
              </a:rPr>
              <a:t>Upload meeting audio. AI generates structured MOM: Overview, Discussion Points, Decisions, Action Items, Next Steps. 3 languages.</a:t>
            </a:r>
          </a:p>
          <a:p>
            <a:pPr>
              <a:spcBef>
                <a:spcPts val="300"/>
              </a:spcBef>
              <a:spcAft>
                <a:spcPts val="100"/>
              </a:spcAft>
            </a:pPr>
            <a:r>
              <a:rPr sz="800" b="1" i="0">
                <a:solidFill>
                  <a:srgbClr val="2E7D32"/>
                </a:solidFill>
                <a:latin typeface="Manrope"/>
              </a:rPr>
              <a:t>AI: Agenda Generation: </a:t>
            </a:r>
            <a:r>
              <a:rPr sz="750" b="0" i="0">
                <a:solidFill>
                  <a:srgbClr val="202729"/>
                </a:solidFill>
                <a:latin typeface="Manrope"/>
              </a:rPr>
              <a:t>AI creates structured agenda from citizen-reported issues. Translated to multiple languages. Every voice gets equal representation.</a:t>
            </a:r>
          </a:p>
          <a:p>
            <a:pPr>
              <a:spcBef>
                <a:spcPts val="300"/>
              </a:spcBef>
              <a:spcAft>
                <a:spcPts val="100"/>
              </a:spcAft>
            </a:pPr>
            <a:r>
              <a:rPr sz="800" b="1" i="0">
                <a:solidFill>
                  <a:srgbClr val="2E7D32"/>
                </a:solidFill>
                <a:latin typeface="Manrope"/>
              </a:rPr>
              <a:t>AI: Text-to-Speech Read-Aloud: </a:t>
            </a:r>
            <a:r>
              <a:rPr sz="750" b="0" i="0">
                <a:solidFill>
                  <a:srgbClr val="202729"/>
                </a:solidFill>
                <a:latin typeface="Manrope"/>
              </a:rPr>
              <a:t>Amazon Polly reads agendas aloud (Aditi voice Hindi, Raveena English). S3-cached — same text never re-synthesized. Accessibility for illiterate citizens.</a:t>
            </a:r>
          </a:p>
          <a:p>
            <a:pPr>
              <a:spcBef>
                <a:spcPts val="300"/>
              </a:spcBef>
              <a:spcAft>
                <a:spcPts val="100"/>
              </a:spcAft>
            </a:pPr>
            <a:r>
              <a:rPr sz="800" b="1" i="0">
                <a:solidFill>
                  <a:srgbClr val="2E7D32"/>
                </a:solidFill>
                <a:latin typeface="Manrope"/>
              </a:rPr>
              <a:t>AI: Grammar Correction + Translation: </a:t>
            </a:r>
            <a:r>
              <a:rPr sz="750" b="0" i="0">
                <a:solidFill>
                  <a:srgbClr val="202729"/>
                </a:solidFill>
                <a:latin typeface="Manrope"/>
              </a:rPr>
              <a:t>Bedrock corrects STT output and produces enhanced_original + enhanced_english + enhanced_hindi. Rural development context-aware.</a:t>
            </a:r>
          </a:p>
          <a:p>
            <a:pPr>
              <a:spcBef>
                <a:spcPts val="300"/>
              </a:spcBef>
              <a:spcAft>
                <a:spcPts val="100"/>
              </a:spcAft>
            </a:pPr>
            <a:r>
              <a:rPr sz="800" b="1" i="0">
                <a:solidFill>
                  <a:srgbClr val="2E7D32"/>
                </a:solidFill>
                <a:latin typeface="Manrope"/>
              </a:rPr>
              <a:t>Face Recognition Authentication: </a:t>
            </a:r>
            <a:r>
              <a:rPr sz="750" b="0" i="0">
                <a:solidFill>
                  <a:srgbClr val="202729"/>
                </a:solidFill>
                <a:latin typeface="Manrope"/>
              </a:rPr>
              <a:t>128-dimension face descriptor via face-api.js. Liveness detection: blink (2 required) + head movement (5 required) via MediaPipe FaceMesh. Euclidean distance matching (threshold 0.4). No passwords, no OTPs.</a:t>
            </a:r>
          </a:p>
          <a:p>
            <a:pPr>
              <a:spcBef>
                <a:spcPts val="300"/>
              </a:spcBef>
              <a:spcAft>
                <a:spcPts val="100"/>
              </a:spcAft>
            </a:pPr>
            <a:r>
              <a:rPr sz="800" b="1" i="0">
                <a:solidFill>
                  <a:srgbClr val="2E7D32"/>
                </a:solidFill>
                <a:latin typeface="Manrope"/>
              </a:rPr>
              <a:t>Biometric Attendance Tracking: </a:t>
            </a:r>
            <a:r>
              <a:rPr sz="750" b="0" i="0">
                <a:solidFill>
                  <a:srgbClr val="202729"/>
                </a:solidFill>
                <a:latin typeface="Manrope"/>
              </a:rPr>
              <a:t>Face-verified or manual check-in at Gram Sabhas. Verification method recorded (face/manual). Unforgeable digital attendance record. Eliminates paper sign-in fraud.</a:t>
            </a:r>
          </a:p>
          <a:p>
            <a:pPr>
              <a:spcBef>
                <a:spcPts val="300"/>
              </a:spcBef>
              <a:spcAft>
                <a:spcPts val="100"/>
              </a:spcAft>
            </a:pPr>
            <a:r>
              <a:rPr sz="800" b="1" i="0">
                <a:solidFill>
                  <a:srgbClr val="2E7D32"/>
                </a:solidFill>
                <a:latin typeface="Manrope"/>
              </a:rPr>
              <a:t>Meeting RSVP &amp; Scheduling: </a:t>
            </a:r>
            <a:r>
              <a:rPr sz="750" b="0" i="0">
                <a:solidFill>
                  <a:srgbClr val="202729"/>
                </a:solidFill>
                <a:latin typeface="Manrope"/>
              </a:rPr>
              <a:t>Officials schedule Gram Sabha with date, time, location, expected duration. Citizens RSVP before meeting. SMS notifications to all registered citizens (SNS, code-ready).</a:t>
            </a:r>
          </a:p>
        </p:txBody>
      </p:sp>
      <p:sp>
        <p:nvSpPr>
          <p:cNvPr id="83" name="TextBox 82"/>
          <p:cNvSpPr txBox="1"/>
          <p:nvPr/>
        </p:nvSpPr>
        <p:spPr>
          <a:xfrm>
            <a:off x="4663440" y="1280160"/>
            <a:ext cx="4206240" cy="3474720"/>
          </a:xfrm>
          <a:prstGeom prst="rect">
            <a:avLst/>
          </a:prstGeom>
          <a:noFill/>
        </p:spPr>
        <p:txBody>
          <a:bodyPr wrap="square">
            <a:spAutoFit/>
          </a:bodyPr>
          <a:lstStyle/>
          <a:p>
            <a:pPr>
              <a:spcBef>
                <a:spcPts val="300"/>
              </a:spcBef>
              <a:spcAft>
                <a:spcPts val="100"/>
              </a:spcAft>
            </a:pPr>
            <a:r>
              <a:rPr sz="800" b="1" i="0">
                <a:solidFill>
                  <a:srgbClr val="2E7D32"/>
                </a:solidFill>
                <a:latin typeface="Manrope"/>
              </a:rPr>
              <a:t>Issue Lifecycle Tracking: </a:t>
            </a:r>
            <a:r>
              <a:rPr sz="750" b="0" i="0">
                <a:solidFill>
                  <a:srgbClr val="202729"/>
                </a:solidFill>
                <a:latin typeface="Manrope"/>
              </a:rPr>
              <a:t>REPORTED -&gt; PICKED_IN_AGENDA -&gt; DISCUSSED_IN_GRAM_SABHA -&gt; RESOLVED / TRANSFERRED / NO_ACTION_NEEDED. Citizens see real-time status. Officials add resolution remarks. Zero promises lost.</a:t>
            </a:r>
          </a:p>
          <a:p>
            <a:pPr>
              <a:spcBef>
                <a:spcPts val="300"/>
              </a:spcBef>
              <a:spcAft>
                <a:spcPts val="100"/>
              </a:spcAft>
            </a:pPr>
            <a:r>
              <a:rPr sz="800" b="1" i="0">
                <a:solidFill>
                  <a:srgbClr val="2E7D32"/>
                </a:solidFill>
                <a:latin typeface="Manrope"/>
              </a:rPr>
              <a:t>Citizen Portal: </a:t>
            </a:r>
            <a:r>
              <a:rPr sz="750" b="0" i="0">
                <a:solidFill>
                  <a:srgbClr val="202729"/>
                </a:solidFill>
                <a:latin typeface="Manrope"/>
              </a:rPr>
              <a:t>Face login (last 4 digits of voter ID + face scan), voice/text issue reporting, meeting RSVP, issue status tracking, support tickets. Location-based access via LGD code or cascading dropdowns.</a:t>
            </a:r>
          </a:p>
          <a:p>
            <a:pPr>
              <a:spcBef>
                <a:spcPts val="300"/>
              </a:spcBef>
              <a:spcAft>
                <a:spcPts val="100"/>
              </a:spcAft>
            </a:pPr>
            <a:r>
              <a:rPr sz="800" b="1" i="0">
                <a:solidFill>
                  <a:srgbClr val="2E7D32"/>
                </a:solidFill>
                <a:latin typeface="Manrope"/>
              </a:rPr>
              <a:t>Official Portal: </a:t>
            </a:r>
            <a:r>
              <a:rPr sz="750" b="0" i="0">
                <a:solidFill>
                  <a:srgbClr val="202729"/>
                </a:solidFill>
                <a:latin typeface="Manrope"/>
              </a:rPr>
              <a:t>Meeting management, AI agenda generation, AI MOM generation, biometric attendance, issue management (filter by status/category/priority/ward), citizen management, PDF exports with letterhead.</a:t>
            </a:r>
          </a:p>
          <a:p>
            <a:pPr>
              <a:spcBef>
                <a:spcPts val="300"/>
              </a:spcBef>
              <a:spcAft>
                <a:spcPts val="100"/>
              </a:spcAft>
            </a:pPr>
            <a:r>
              <a:rPr sz="800" b="1" i="0">
                <a:solidFill>
                  <a:srgbClr val="2E7D32"/>
                </a:solidFill>
                <a:latin typeface="Manrope"/>
              </a:rPr>
              <a:t>Admin Portal: </a:t>
            </a:r>
            <a:r>
              <a:rPr sz="750" b="0" i="0">
                <a:solidFill>
                  <a:srgbClr val="202729"/>
                </a:solidFill>
                <a:latin typeface="Manrope"/>
              </a:rPr>
              <a:t>Panchayat CRUD with LGD code, ward management, official registration (6 roles), letterhead upload/preview, bulk CSV import (citizens/officials/panchayats), platform configuration, support ticket management.</a:t>
            </a:r>
          </a:p>
          <a:p>
            <a:pPr>
              <a:spcBef>
                <a:spcPts val="300"/>
              </a:spcBef>
              <a:spcAft>
                <a:spcPts val="100"/>
              </a:spcAft>
            </a:pPr>
            <a:r>
              <a:rPr sz="800" b="1" i="0">
                <a:solidFill>
                  <a:srgbClr val="2E7D32"/>
                </a:solidFill>
                <a:latin typeface="Manrope"/>
              </a:rPr>
              <a:t>Provider Abstraction: </a:t>
            </a:r>
            <a:r>
              <a:rPr sz="750" b="0" i="0">
                <a:solidFill>
                  <a:srgbClr val="202729"/>
                </a:solidFill>
                <a:latin typeface="Manrope"/>
              </a:rPr>
              <a:t>8 env var switches: STT_PROVIDER, LLM_PROVIDER, TRANSLATION_PROVIDER, TTS_PROVIDER, STORAGE_BACKEND, FACE_VERIFICATION_PROVIDER, USE_DOCUMENTDB, COMPREHEND_ENABLED. Swap any service without code changes.</a:t>
            </a:r>
          </a:p>
          <a:p>
            <a:pPr>
              <a:spcBef>
                <a:spcPts val="300"/>
              </a:spcBef>
              <a:spcAft>
                <a:spcPts val="100"/>
              </a:spcAft>
            </a:pPr>
            <a:r>
              <a:rPr sz="800" b="1" i="0">
                <a:solidFill>
                  <a:srgbClr val="2E7D32"/>
                </a:solidFill>
                <a:latin typeface="Manrope"/>
              </a:rPr>
              <a:t>PDF Export with Letterhead: </a:t>
            </a:r>
            <a:r>
              <a:rPr sz="750" b="0" i="0">
                <a:solidFill>
                  <a:srgbClr val="202729"/>
                </a:solidFill>
                <a:latin typeface="Manrope"/>
              </a:rPr>
              <a:t>Attendance reports, MOM documents, issue summaries. Custom panchayat letterhead upload. Hindi font support via jsPDF + html2pdf.js.</a:t>
            </a:r>
          </a:p>
          <a:p>
            <a:pPr>
              <a:spcBef>
                <a:spcPts val="300"/>
              </a:spcBef>
              <a:spcAft>
                <a:spcPts val="100"/>
              </a:spcAft>
            </a:pPr>
            <a:r>
              <a:rPr sz="800" b="1" i="0">
                <a:solidFill>
                  <a:srgbClr val="2E7D32"/>
                </a:solidFill>
                <a:latin typeface="Manrope"/>
              </a:rPr>
              <a:t>Multi-Language UI: </a:t>
            </a:r>
            <a:r>
              <a:rPr sz="750" b="0" i="0">
                <a:solidFill>
                  <a:srgbClr val="202729"/>
                </a:solidFill>
                <a:latin typeface="Manrope"/>
              </a:rPr>
              <a:t>English and Hindi interface via React Context language switcher with static translation files. 10+ languages supported. AI content translated via AWS Translate.</a:t>
            </a:r>
          </a:p>
          <a:p>
            <a:pPr>
              <a:spcBef>
                <a:spcPts val="300"/>
              </a:spcBef>
              <a:spcAft>
                <a:spcPts val="100"/>
              </a:spcAft>
            </a:pPr>
            <a:r>
              <a:rPr sz="800" b="1" i="0">
                <a:solidFill>
                  <a:srgbClr val="2E7D32"/>
                </a:solidFill>
                <a:latin typeface="Manrope"/>
              </a:rPr>
              <a:t>Support Ticket System: </a:t>
            </a:r>
            <a:r>
              <a:rPr sz="750" b="0" i="0">
                <a:solidFill>
                  <a:srgbClr val="202729"/>
                </a:solidFill>
                <a:latin typeface="Manrope"/>
              </a:rPr>
              <a:t>Citizens and officials can raise help desk tickets. Anonymous submission allowed — protects vulnerable reporters.</a:t>
            </a:r>
          </a:p>
          <a:p>
            <a:pPr>
              <a:spcBef>
                <a:spcPts val="300"/>
              </a:spcBef>
              <a:spcAft>
                <a:spcPts val="100"/>
              </a:spcAft>
            </a:pPr>
            <a:r>
              <a:rPr sz="800" b="1" i="0">
                <a:solidFill>
                  <a:srgbClr val="2E7D32"/>
                </a:solidFill>
                <a:latin typeface="Manrope"/>
              </a:rPr>
              <a:t>4-Layer Security: </a:t>
            </a:r>
            <a:r>
              <a:rPr sz="750" b="0" i="0">
                <a:solidFill>
                  <a:srgbClr val="202729"/>
                </a:solidFill>
                <a:latin typeface="Manrope"/>
              </a:rPr>
              <a:t>API Gateway (key + 100K/day quota) -&gt; Nginx (TLS 1.2/1.3 + 10 req/s per IP) -&gt; JWT Auth (3 role-specific secrets, expiry 12h-72h) -&gt; Secrets Manager (encrypted credentials).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id="86" name="Google Shape;86;p18"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87" name="TextBox 86"/>
          <p:cNvSpPr txBox="1"/>
          <p:nvPr/>
        </p:nvSpPr>
        <p:spPr>
          <a:xfrm>
            <a:off x="311700" y="863550"/>
            <a:ext cx="8520600" cy="365760"/>
          </a:xfrm>
          <a:prstGeom prst="rect">
            <a:avLst/>
          </a:prstGeom>
          <a:noFill/>
        </p:spPr>
        <p:txBody>
          <a:bodyPr wrap="square">
            <a:spAutoFit/>
          </a:bodyPr>
          <a:lstStyle/>
          <a:p>
            <a:r>
              <a:rPr sz="2200" b="1" i="0">
                <a:solidFill>
                  <a:srgbClr val="202729"/>
                </a:solidFill>
                <a:latin typeface="Manrope"/>
              </a:rPr>
              <a:t>Visual Representations</a:t>
            </a:r>
          </a:p>
        </p:txBody>
      </p:sp>
      <p:sp>
        <p:nvSpPr>
          <p:cNvPr id="88" name="TextBox 87"/>
          <p:cNvSpPr txBox="1"/>
          <p:nvPr/>
        </p:nvSpPr>
        <p:spPr>
          <a:xfrm>
            <a:off x="311700" y="1234440"/>
            <a:ext cx="3657600" cy="274320"/>
          </a:xfrm>
          <a:prstGeom prst="rect">
            <a:avLst/>
          </a:prstGeom>
          <a:noFill/>
        </p:spPr>
        <p:txBody>
          <a:bodyPr wrap="square">
            <a:spAutoFit/>
          </a:bodyPr>
          <a:lstStyle/>
          <a:p>
            <a:r>
              <a:rPr sz="1200" b="1" i="0">
                <a:solidFill>
                  <a:srgbClr val="2E7D32"/>
                </a:solidFill>
                <a:latin typeface="Manrope"/>
              </a:rPr>
              <a:t>5-Step Gram Sabha Lifecycle</a:t>
            </a:r>
          </a:p>
        </p:txBody>
      </p:sp>
      <p:pic>
        <p:nvPicPr>
          <p:cNvPr id="89" name="Picture 88" descr="workflow.png"/>
          <p:cNvPicPr>
            <a:picLocks noChangeAspect="1"/>
          </p:cNvPicPr>
          <p:nvPr/>
        </p:nvPicPr>
        <p:blipFill>
          <a:blip r:embed="rId4"/>
          <a:stretch>
            <a:fillRect/>
          </a:stretch>
        </p:blipFill>
        <p:spPr>
          <a:xfrm>
            <a:off x="182880" y="1554480"/>
            <a:ext cx="8778240" cy="1097280"/>
          </a:xfrm>
          <a:prstGeom prst="rect">
            <a:avLst/>
          </a:prstGeom>
        </p:spPr>
      </p:pic>
      <p:sp>
        <p:nvSpPr>
          <p:cNvPr id="90" name="TextBox 89"/>
          <p:cNvSpPr txBox="1"/>
          <p:nvPr/>
        </p:nvSpPr>
        <p:spPr>
          <a:xfrm>
            <a:off x="311700" y="2788920"/>
            <a:ext cx="3657600" cy="274320"/>
          </a:xfrm>
          <a:prstGeom prst="rect">
            <a:avLst/>
          </a:prstGeom>
          <a:noFill/>
        </p:spPr>
        <p:txBody>
          <a:bodyPr wrap="square">
            <a:spAutoFit/>
          </a:bodyPr>
          <a:lstStyle/>
          <a:p>
            <a:r>
              <a:rPr sz="1200" b="1" i="0">
                <a:solidFill>
                  <a:srgbClr val="2E7D32"/>
                </a:solidFill>
                <a:latin typeface="Manrope"/>
              </a:rPr>
              <a:t>Continuous Governance Loop</a:t>
            </a:r>
          </a:p>
        </p:txBody>
      </p:sp>
      <p:pic>
        <p:nvPicPr>
          <p:cNvPr id="91" name="Picture 90" descr="governance_loop.png"/>
          <p:cNvPicPr>
            <a:picLocks noChangeAspect="1"/>
          </p:cNvPicPr>
          <p:nvPr/>
        </p:nvPicPr>
        <p:blipFill>
          <a:blip r:embed="rId5"/>
          <a:stretch>
            <a:fillRect/>
          </a:stretch>
        </p:blipFill>
        <p:spPr>
          <a:xfrm>
            <a:off x="182880" y="3063240"/>
            <a:ext cx="8778240" cy="1097280"/>
          </a:xfrm>
          <a:prstGeom prst="rect">
            <a:avLst/>
          </a:prstGeom>
        </p:spPr>
      </p:pic>
      <p:sp>
        <p:nvSpPr>
          <p:cNvPr id="92" name="TextBox 91"/>
          <p:cNvSpPr txBox="1"/>
          <p:nvPr/>
        </p:nvSpPr>
        <p:spPr>
          <a:xfrm>
            <a:off x="182880" y="4251960"/>
            <a:ext cx="8686800" cy="274320"/>
          </a:xfrm>
          <a:prstGeom prst="rect">
            <a:avLst/>
          </a:prstGeom>
          <a:noFill/>
        </p:spPr>
        <p:txBody>
          <a:bodyPr wrap="square">
            <a:spAutoFit/>
          </a:bodyPr>
          <a:lstStyle/>
          <a:p>
            <a:pPr algn="ctr"/>
            <a:r>
              <a:rPr sz="800" b="0" i="1">
                <a:solidFill>
                  <a:srgbClr val="757575"/>
                </a:solidFill>
                <a:latin typeface="Manrope"/>
              </a:rPr>
              <a:t>Citizens can report issues at any time -- the cycle is continuous, not tied to meeting dates</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9"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93" name="TextBox 92"/>
          <p:cNvSpPr txBox="1"/>
          <p:nvPr/>
        </p:nvSpPr>
        <p:spPr>
          <a:xfrm>
            <a:off x="311700" y="863550"/>
            <a:ext cx="8520600" cy="365760"/>
          </a:xfrm>
          <a:prstGeom prst="rect">
            <a:avLst/>
          </a:prstGeom>
          <a:noFill/>
        </p:spPr>
        <p:txBody>
          <a:bodyPr wrap="square">
            <a:spAutoFit/>
          </a:bodyPr>
          <a:lstStyle/>
          <a:p>
            <a:r>
              <a:rPr sz="2200" b="1" i="0">
                <a:solidFill>
                  <a:srgbClr val="202729"/>
                </a:solidFill>
                <a:latin typeface="Manrope"/>
              </a:rPr>
              <a:t>Process Flow: AI Pipelines</a:t>
            </a:r>
          </a:p>
        </p:txBody>
      </p:sp>
      <p:sp>
        <p:nvSpPr>
          <p:cNvPr id="94" name="TextBox 93"/>
          <p:cNvSpPr txBox="1"/>
          <p:nvPr/>
        </p:nvSpPr>
        <p:spPr>
          <a:xfrm>
            <a:off x="182880" y="1280160"/>
            <a:ext cx="2743200" cy="201168"/>
          </a:xfrm>
          <a:prstGeom prst="rect">
            <a:avLst/>
          </a:prstGeom>
          <a:noFill/>
        </p:spPr>
        <p:txBody>
          <a:bodyPr wrap="square">
            <a:spAutoFit/>
          </a:bodyPr>
          <a:lstStyle/>
          <a:p>
            <a:r>
              <a:rPr sz="900" b="1" i="0">
                <a:solidFill>
                  <a:srgbClr val="2E7D32"/>
                </a:solidFill>
                <a:latin typeface="Manrope"/>
              </a:rPr>
              <a:t>Voice Issue Reporting</a:t>
            </a:r>
            <a:r>
              <a:rPr sz="600" b="0" i="1">
                <a:solidFill>
                  <a:srgbClr val="757575"/>
                </a:solidFill>
                <a:latin typeface="Consolas"/>
              </a:rPr>
              <a:t>  (cronJobs.js:51-53)</a:t>
            </a:r>
          </a:p>
        </p:txBody>
      </p:sp>
      <p:pic>
        <p:nvPicPr>
          <p:cNvPr id="95" name="Picture 94" descr="voice_pipeline.png"/>
          <p:cNvPicPr>
            <a:picLocks noChangeAspect="1"/>
          </p:cNvPicPr>
          <p:nvPr/>
        </p:nvPicPr>
        <p:blipFill>
          <a:blip r:embed="rId4"/>
          <a:stretch>
            <a:fillRect/>
          </a:stretch>
        </p:blipFill>
        <p:spPr>
          <a:xfrm>
            <a:off x="182880" y="1481328"/>
            <a:ext cx="8778240" cy="777240"/>
          </a:xfrm>
          <a:prstGeom prst="rect">
            <a:avLst/>
          </a:prstGeom>
        </p:spPr>
      </p:pic>
      <p:sp>
        <p:nvSpPr>
          <p:cNvPr id="96" name="TextBox 95"/>
          <p:cNvSpPr txBox="1"/>
          <p:nvPr/>
        </p:nvSpPr>
        <p:spPr>
          <a:xfrm>
            <a:off x="182880" y="2313432"/>
            <a:ext cx="2743200" cy="201168"/>
          </a:xfrm>
          <a:prstGeom prst="rect">
            <a:avLst/>
          </a:prstGeom>
          <a:noFill/>
        </p:spPr>
        <p:txBody>
          <a:bodyPr wrap="square">
            <a:spAutoFit/>
          </a:bodyPr>
          <a:lstStyle/>
          <a:p>
            <a:r>
              <a:rPr sz="900" b="1" i="0">
                <a:solidFill>
                  <a:srgbClr val="2E7D32"/>
                </a:solidFill>
                <a:latin typeface="Manrope"/>
              </a:rPr>
              <a:t>MOM Generation</a:t>
            </a:r>
            <a:r>
              <a:rPr sz="600" b="0" i="1">
                <a:solidFill>
                  <a:srgbClr val="757575"/>
                </a:solidFill>
                <a:latin typeface="Consolas"/>
              </a:rPr>
              <a:t>  (llm_service.py:763-791)</a:t>
            </a:r>
          </a:p>
        </p:txBody>
      </p:sp>
      <p:pic>
        <p:nvPicPr>
          <p:cNvPr id="97" name="Picture 96" descr="mom_pipeline.png"/>
          <p:cNvPicPr>
            <a:picLocks noChangeAspect="1"/>
          </p:cNvPicPr>
          <p:nvPr/>
        </p:nvPicPr>
        <p:blipFill>
          <a:blip r:embed="rId5"/>
          <a:stretch>
            <a:fillRect/>
          </a:stretch>
        </p:blipFill>
        <p:spPr>
          <a:xfrm>
            <a:off x="182880" y="2514600"/>
            <a:ext cx="8778240" cy="777240"/>
          </a:xfrm>
          <a:prstGeom prst="rect">
            <a:avLst/>
          </a:prstGeom>
        </p:spPr>
      </p:pic>
      <p:sp>
        <p:nvSpPr>
          <p:cNvPr id="98" name="TextBox 97"/>
          <p:cNvSpPr txBox="1"/>
          <p:nvPr/>
        </p:nvSpPr>
        <p:spPr>
          <a:xfrm>
            <a:off x="182880" y="3346704"/>
            <a:ext cx="2743200" cy="201168"/>
          </a:xfrm>
          <a:prstGeom prst="rect">
            <a:avLst/>
          </a:prstGeom>
          <a:noFill/>
        </p:spPr>
        <p:txBody>
          <a:bodyPr wrap="square">
            <a:spAutoFit/>
          </a:bodyPr>
          <a:lstStyle/>
          <a:p>
            <a:r>
              <a:rPr sz="900" b="1" i="0">
                <a:solidFill>
                  <a:srgbClr val="2E7D32"/>
                </a:solidFill>
                <a:latin typeface="Manrope"/>
              </a:rPr>
              <a:t>Agenda Generation</a:t>
            </a:r>
            <a:r>
              <a:rPr sz="600" b="0" i="1">
                <a:solidFill>
                  <a:srgbClr val="757575"/>
                </a:solidFill>
                <a:latin typeface="Consolas"/>
              </a:rPr>
              <a:t>  (llm_service.py)</a:t>
            </a:r>
          </a:p>
        </p:txBody>
      </p:sp>
      <p:pic>
        <p:nvPicPr>
          <p:cNvPr id="99" name="Picture 98" descr="agenda_pipeline.png"/>
          <p:cNvPicPr>
            <a:picLocks noChangeAspect="1"/>
          </p:cNvPicPr>
          <p:nvPr/>
        </p:nvPicPr>
        <p:blipFill>
          <a:blip r:embed="rId6"/>
          <a:stretch>
            <a:fillRect/>
          </a:stretch>
        </p:blipFill>
        <p:spPr>
          <a:xfrm>
            <a:off x="182880" y="3547872"/>
            <a:ext cx="8778240" cy="777240"/>
          </a:xfrm>
          <a:prstGeom prst="rect">
            <a:avLst/>
          </a:prstGeom>
        </p:spPr>
      </p:pic>
      <p:sp>
        <p:nvSpPr>
          <p:cNvPr id="100" name="TextBox 99"/>
          <p:cNvSpPr txBox="1"/>
          <p:nvPr/>
        </p:nvSpPr>
        <p:spPr>
          <a:xfrm>
            <a:off x="182880" y="4379976"/>
            <a:ext cx="2743200" cy="201168"/>
          </a:xfrm>
          <a:prstGeom prst="rect">
            <a:avLst/>
          </a:prstGeom>
          <a:noFill/>
        </p:spPr>
        <p:txBody>
          <a:bodyPr wrap="square">
            <a:spAutoFit/>
          </a:bodyPr>
          <a:lstStyle/>
          <a:p>
            <a:r>
              <a:rPr sz="900" b="1" i="0">
                <a:solidFill>
                  <a:srgbClr val="2E7D32"/>
                </a:solidFill>
                <a:latin typeface="Manrope"/>
              </a:rPr>
              <a:t>Face Authentication</a:t>
            </a:r>
            <a:r>
              <a:rPr sz="600" b="0" i="1">
                <a:solidFill>
                  <a:srgbClr val="757575"/>
                </a:solidFill>
                <a:latin typeface="Consolas"/>
              </a:rPr>
              <a:t>  (citizenAuthRoutes.js:210)</a:t>
            </a:r>
          </a:p>
        </p:txBody>
      </p:sp>
      <p:pic>
        <p:nvPicPr>
          <p:cNvPr id="101" name="Picture 100" descr="face_auth.png"/>
          <p:cNvPicPr>
            <a:picLocks noChangeAspect="1"/>
          </p:cNvPicPr>
          <p:nvPr/>
        </p:nvPicPr>
        <p:blipFill>
          <a:blip r:embed="rId7"/>
          <a:stretch>
            <a:fillRect/>
          </a:stretch>
        </p:blipFill>
        <p:spPr>
          <a:xfrm>
            <a:off x="182880" y="4581144"/>
            <a:ext cx="8778240" cy="7772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20"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99" name="TextBox 98"/>
          <p:cNvSpPr txBox="1"/>
          <p:nvPr/>
        </p:nvSpPr>
        <p:spPr>
          <a:xfrm>
            <a:off x="311700" y="863550"/>
            <a:ext cx="8520600" cy="365760"/>
          </a:xfrm>
          <a:prstGeom prst="rect">
            <a:avLst/>
          </a:prstGeom>
          <a:noFill/>
        </p:spPr>
        <p:txBody>
          <a:bodyPr wrap="square">
            <a:spAutoFit/>
          </a:bodyPr>
          <a:lstStyle/>
          <a:p>
            <a:r>
              <a:rPr sz="2200" b="1" i="0">
                <a:solidFill>
                  <a:srgbClr val="202729"/>
                </a:solidFill>
                <a:latin typeface="Manrope"/>
              </a:rPr>
              <a:t>Wireframes / Prototype Screenshots</a:t>
            </a:r>
          </a:p>
        </p:txBody>
      </p:sp>
      <p:pic>
        <p:nvPicPr>
          <p:cNvPr id="100" name="Picture 99" descr="01_citizen_login.png"/>
          <p:cNvPicPr>
            <a:picLocks noChangeAspect="1"/>
          </p:cNvPicPr>
          <p:nvPr/>
        </p:nvPicPr>
        <p:blipFill>
          <a:blip r:embed="rId4"/>
          <a:stretch>
            <a:fillRect/>
          </a:stretch>
        </p:blipFill>
        <p:spPr>
          <a:xfrm>
            <a:off x="274320" y="1371600"/>
            <a:ext cx="2743200" cy="1463040"/>
          </a:xfrm>
          <a:prstGeom prst="rect">
            <a:avLst/>
          </a:prstGeom>
        </p:spPr>
      </p:pic>
      <p:sp>
        <p:nvSpPr>
          <p:cNvPr id="101" name="TextBox 100"/>
          <p:cNvSpPr txBox="1"/>
          <p:nvPr/>
        </p:nvSpPr>
        <p:spPr>
          <a:xfrm>
            <a:off x="274320" y="2834640"/>
            <a:ext cx="2743200" cy="228600"/>
          </a:xfrm>
          <a:prstGeom prst="rect">
            <a:avLst/>
          </a:prstGeom>
          <a:noFill/>
        </p:spPr>
        <p:txBody>
          <a:bodyPr wrap="square">
            <a:spAutoFit/>
          </a:bodyPr>
          <a:lstStyle/>
          <a:p>
            <a:pPr algn="ctr"/>
            <a:r>
              <a:rPr sz="700" b="0" i="1">
                <a:solidFill>
                  <a:srgbClr val="757575"/>
                </a:solidFill>
                <a:latin typeface="Manrope"/>
              </a:rPr>
              <a:t>Citizen Login — Voter ID + Panchayat selection + Face scan with liveness detection overlay</a:t>
            </a:r>
          </a:p>
        </p:txBody>
      </p:sp>
      <p:pic>
        <p:nvPicPr>
          <p:cNvPr id="102" name="Picture 101" descr="01_citizen_login.png"/>
          <p:cNvPicPr>
            <a:picLocks noChangeAspect="1"/>
          </p:cNvPicPr>
          <p:nvPr/>
        </p:nvPicPr>
        <p:blipFill>
          <a:blip r:embed="rId4"/>
          <a:stretch>
            <a:fillRect/>
          </a:stretch>
        </p:blipFill>
        <p:spPr>
          <a:xfrm>
            <a:off x="3200400" y="1371600"/>
            <a:ext cx="2743200" cy="1463040"/>
          </a:xfrm>
          <a:prstGeom prst="rect">
            <a:avLst/>
          </a:prstGeom>
        </p:spPr>
      </p:pic>
      <p:sp>
        <p:nvSpPr>
          <p:cNvPr id="103" name="TextBox 102"/>
          <p:cNvSpPr txBox="1"/>
          <p:nvPr/>
        </p:nvSpPr>
        <p:spPr>
          <a:xfrm>
            <a:off x="3200400" y="2834640"/>
            <a:ext cx="2743200" cy="228600"/>
          </a:xfrm>
          <a:prstGeom prst="rect">
            <a:avLst/>
          </a:prstGeom>
          <a:noFill/>
        </p:spPr>
        <p:txBody>
          <a:bodyPr wrap="square">
            <a:spAutoFit/>
          </a:bodyPr>
          <a:lstStyle/>
          <a:p>
            <a:pPr algn="ctr"/>
            <a:r>
              <a:rPr sz="700" b="0" i="1">
                <a:solidFill>
                  <a:srgbClr val="757575"/>
                </a:solidFill>
                <a:latin typeface="Manrope"/>
              </a:rPr>
              <a:t>Citizen Dashboard — Welcome card, issue statistics, upcoming meetings, report issue button</a:t>
            </a:r>
          </a:p>
        </p:txBody>
      </p:sp>
      <p:pic>
        <p:nvPicPr>
          <p:cNvPr id="104" name="Picture 103" descr="03_official_login.png"/>
          <p:cNvPicPr>
            <a:picLocks noChangeAspect="1"/>
          </p:cNvPicPr>
          <p:nvPr/>
        </p:nvPicPr>
        <p:blipFill>
          <a:blip r:embed="rId5"/>
          <a:stretch>
            <a:fillRect/>
          </a:stretch>
        </p:blipFill>
        <p:spPr>
          <a:xfrm>
            <a:off x="6126480" y="1371600"/>
            <a:ext cx="2743200" cy="1463040"/>
          </a:xfrm>
          <a:prstGeom prst="rect">
            <a:avLst/>
          </a:prstGeom>
        </p:spPr>
      </p:pic>
      <p:sp>
        <p:nvSpPr>
          <p:cNvPr id="105" name="TextBox 104"/>
          <p:cNvSpPr txBox="1"/>
          <p:nvPr/>
        </p:nvSpPr>
        <p:spPr>
          <a:xfrm>
            <a:off x="6126480" y="2834640"/>
            <a:ext cx="2743200" cy="228600"/>
          </a:xfrm>
          <a:prstGeom prst="rect">
            <a:avLst/>
          </a:prstGeom>
          <a:noFill/>
        </p:spPr>
        <p:txBody>
          <a:bodyPr wrap="square">
            <a:spAutoFit/>
          </a:bodyPr>
          <a:lstStyle/>
          <a:p>
            <a:pPr algn="ctr"/>
            <a:r>
              <a:rPr sz="700" b="0" i="1">
                <a:solidFill>
                  <a:srgbClr val="757575"/>
                </a:solidFill>
                <a:latin typeface="Manrope"/>
              </a:rPr>
              <a:t>Voice Issue Reporting — Audio recorder, file attachments, category &amp; subcategory selector</a:t>
            </a:r>
          </a:p>
        </p:txBody>
      </p:sp>
      <p:pic>
        <p:nvPicPr>
          <p:cNvPr id="106" name="Picture 105" descr="01_citizen_login.png"/>
          <p:cNvPicPr>
            <a:picLocks noChangeAspect="1"/>
          </p:cNvPicPr>
          <p:nvPr/>
        </p:nvPicPr>
        <p:blipFill>
          <a:blip r:embed="rId4"/>
          <a:stretch>
            <a:fillRect/>
          </a:stretch>
        </p:blipFill>
        <p:spPr>
          <a:xfrm>
            <a:off x="274320" y="2926080"/>
            <a:ext cx="2743200" cy="1463040"/>
          </a:xfrm>
          <a:prstGeom prst="rect">
            <a:avLst/>
          </a:prstGeom>
        </p:spPr>
      </p:pic>
      <p:sp>
        <p:nvSpPr>
          <p:cNvPr id="107" name="TextBox 106"/>
          <p:cNvSpPr txBox="1"/>
          <p:nvPr/>
        </p:nvSpPr>
        <p:spPr>
          <a:xfrm>
            <a:off x="274320" y="4389120"/>
            <a:ext cx="2743200" cy="228600"/>
          </a:xfrm>
          <a:prstGeom prst="rect">
            <a:avLst/>
          </a:prstGeom>
          <a:noFill/>
        </p:spPr>
        <p:txBody>
          <a:bodyPr wrap="square">
            <a:spAutoFit/>
          </a:bodyPr>
          <a:lstStyle/>
          <a:p>
            <a:pPr algn="ctr"/>
            <a:r>
              <a:rPr sz="700" b="0" i="1">
                <a:solidFill>
                  <a:srgbClr val="757575"/>
                </a:solidFill>
                <a:latin typeface="Manrope"/>
              </a:rPr>
              <a:t>Issue List — Sentiment badges, priority indicators (URGENT/NORMAL), transcription status (PENDING/COMPLETED)</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21"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05" name="TextBox 104"/>
          <p:cNvSpPr txBox="1"/>
          <p:nvPr/>
        </p:nvSpPr>
        <p:spPr>
          <a:xfrm>
            <a:off x="311700" y="863550"/>
            <a:ext cx="8520600" cy="365760"/>
          </a:xfrm>
          <a:prstGeom prst="rect">
            <a:avLst/>
          </a:prstGeom>
          <a:noFill/>
        </p:spPr>
        <p:txBody>
          <a:bodyPr wrap="square">
            <a:spAutoFit/>
          </a:bodyPr>
          <a:lstStyle/>
          <a:p>
            <a:r>
              <a:rPr sz="2200" b="1" i="0">
                <a:solidFill>
                  <a:srgbClr val="202729"/>
                </a:solidFill>
                <a:latin typeface="Manrope"/>
              </a:rPr>
              <a:t>Architecture Diagram</a:t>
            </a:r>
          </a:p>
        </p:txBody>
      </p:sp>
      <p:pic>
        <p:nvPicPr>
          <p:cNvPr id="106" name="Picture 105" descr="architecture.png"/>
          <p:cNvPicPr>
            <a:picLocks noChangeAspect="1"/>
          </p:cNvPicPr>
          <p:nvPr/>
        </p:nvPicPr>
        <p:blipFill>
          <a:blip r:embed="rId4"/>
          <a:stretch>
            <a:fillRect/>
          </a:stretch>
        </p:blipFill>
        <p:spPr>
          <a:xfrm>
            <a:off x="182880" y="1234440"/>
            <a:ext cx="8778240" cy="3383280"/>
          </a:xfrm>
          <a:prstGeom prst="rect">
            <a:avLst/>
          </a:prstGeom>
        </p:spPr>
      </p:pic>
      <p:sp>
        <p:nvSpPr>
          <p:cNvPr id="107" name="TextBox 106"/>
          <p:cNvSpPr txBox="1"/>
          <p:nvPr/>
        </p:nvSpPr>
        <p:spPr>
          <a:xfrm>
            <a:off x="274320" y="4663440"/>
            <a:ext cx="8686800" cy="274320"/>
          </a:xfrm>
          <a:prstGeom prst="rect">
            <a:avLst/>
          </a:prstGeom>
          <a:noFill/>
        </p:spPr>
        <p:txBody>
          <a:bodyPr wrap="square">
            <a:spAutoFit/>
          </a:bodyPr>
          <a:lstStyle/>
          <a:p>
            <a:r>
              <a:rPr sz="700" b="0" i="1">
                <a:solidFill>
                  <a:srgbClr val="757575"/>
                </a:solidFill>
                <a:latin typeface="Consolas"/>
              </a:rPr>
              <a:t>Source: docker-compose.prod.yml, infra/setup-api-gateway.js, frontend/nginx.prod.conf  |  4 Docker containers on bridge network  |  11 Active + 4 Code-Ready AWS services</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22"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11" name="TextBox 110"/>
          <p:cNvSpPr txBox="1"/>
          <p:nvPr/>
        </p:nvSpPr>
        <p:spPr>
          <a:xfrm>
            <a:off x="311700" y="863550"/>
            <a:ext cx="8520600" cy="365760"/>
          </a:xfrm>
          <a:prstGeom prst="rect">
            <a:avLst/>
          </a:prstGeom>
          <a:noFill/>
        </p:spPr>
        <p:txBody>
          <a:bodyPr wrap="square">
            <a:spAutoFit/>
          </a:bodyPr>
          <a:lstStyle/>
          <a:p>
            <a:r>
              <a:rPr sz="2200" b="1" i="0">
                <a:solidFill>
                  <a:srgbClr val="202729"/>
                </a:solidFill>
                <a:latin typeface="Manrope"/>
              </a:rPr>
              <a:t>Technologies Utilized</a:t>
            </a:r>
          </a:p>
        </p:txBody>
      </p:sp>
      <p:graphicFrame>
        <p:nvGraphicFramePr>
          <p:cNvPr id="112" name="Table 111"/>
          <p:cNvGraphicFramePr>
            <a:graphicFrameLocks noGrp="1"/>
          </p:cNvGraphicFramePr>
          <p:nvPr/>
        </p:nvGraphicFramePr>
        <p:xfrm>
          <a:off x="274320" y="1280160"/>
          <a:ext cx="8595359" cy="3474720"/>
        </p:xfrm>
        <a:graphic>
          <a:graphicData uri="http://schemas.openxmlformats.org/drawingml/2006/table">
            <a:tbl>
              <a:tblPr firstRow="1" bandRow="1">
                <a:tableStyleId>{5C22544A-7EE6-4342-B048-85BDC9FD1C3A}</a:tableStyleId>
              </a:tblPr>
              <a:tblGrid>
                <a:gridCol w="1188720"/>
                <a:gridCol w="3657600"/>
                <a:gridCol w="3749039"/>
              </a:tblGrid>
              <a:tr h="217170">
                <a:tc>
                  <a:txBody>
                    <a:bodyPr/>
                    <a:lstStyle/>
                    <a:p>
                      <a:pPr>
                        <a:spcBef>
                          <a:spcPts val="100"/>
                        </a:spcBef>
                        <a:spcAft>
                          <a:spcPts val="100"/>
                        </a:spcAft>
                      </a:pPr>
                      <a:r>
                        <a:rPr sz="1000" b="1" i="0">
                          <a:solidFill>
                            <a:srgbClr val="FFFFFF"/>
                          </a:solidFill>
                          <a:latin typeface="Manrope"/>
                        </a:rPr>
                        <a:t>Layer</a:t>
                      </a:r>
                    </a:p>
                  </a:txBody>
                  <a:tcPr>
                    <a:solidFill>
                      <a:srgbClr val="2E7D32"/>
                    </a:solidFill>
                  </a:tcPr>
                </a:tc>
                <a:tc>
                  <a:txBody>
                    <a:bodyPr/>
                    <a:lstStyle/>
                    <a:p>
                      <a:pPr>
                        <a:spcBef>
                          <a:spcPts val="100"/>
                        </a:spcBef>
                        <a:spcAft>
                          <a:spcPts val="100"/>
                        </a:spcAft>
                      </a:pPr>
                      <a:r>
                        <a:rPr sz="1000" b="1" i="0">
                          <a:solidFill>
                            <a:srgbClr val="FFFFFF"/>
                          </a:solidFill>
                          <a:latin typeface="Manrope"/>
                        </a:rPr>
                        <a:t>Technology</a:t>
                      </a:r>
                    </a:p>
                  </a:txBody>
                  <a:tcPr>
                    <a:solidFill>
                      <a:srgbClr val="2E7D32"/>
                    </a:solidFill>
                  </a:tcPr>
                </a:tc>
                <a:tc>
                  <a:txBody>
                    <a:bodyPr/>
                    <a:lstStyle/>
                    <a:p>
                      <a:pPr>
                        <a:spcBef>
                          <a:spcPts val="100"/>
                        </a:spcBef>
                        <a:spcAft>
                          <a:spcPts val="100"/>
                        </a:spcAft>
                      </a:pPr>
                      <a:r>
                        <a:rPr sz="1000" b="1" i="0">
                          <a:solidFill>
                            <a:srgbClr val="FFFFFF"/>
                          </a:solidFill>
                          <a:latin typeface="Manrope"/>
                        </a:rPr>
                        <a:t>Purpose</a:t>
                      </a:r>
                    </a:p>
                  </a:txBody>
                  <a:tcPr>
                    <a:solidFill>
                      <a:srgbClr val="2E7D32"/>
                    </a:solidFill>
                  </a:tcPr>
                </a:tc>
              </a:tr>
              <a:tr h="217170">
                <a:tc>
                  <a:txBody>
                    <a:bodyPr/>
                    <a:lstStyle/>
                    <a:p>
                      <a:pPr>
                        <a:spcBef>
                          <a:spcPts val="100"/>
                        </a:spcBef>
                        <a:spcAft>
                          <a:spcPts val="100"/>
                        </a:spcAft>
                      </a:pPr>
                      <a:r>
                        <a:rPr sz="900" b="0" i="0">
                          <a:solidFill>
                            <a:srgbClr val="202729"/>
                          </a:solidFill>
                          <a:latin typeface="Manrope"/>
                        </a:rPr>
                        <a:t>Frontend</a:t>
                      </a:r>
                    </a:p>
                  </a:txBody>
                  <a:tcPr/>
                </a:tc>
                <a:tc>
                  <a:txBody>
                    <a:bodyPr/>
                    <a:lstStyle/>
                    <a:p>
                      <a:pPr>
                        <a:spcBef>
                          <a:spcPts val="100"/>
                        </a:spcBef>
                        <a:spcAft>
                          <a:spcPts val="100"/>
                        </a:spcAft>
                      </a:pPr>
                      <a:r>
                        <a:rPr sz="900" b="0" i="0">
                          <a:solidFill>
                            <a:srgbClr val="202729"/>
                          </a:solidFill>
                          <a:latin typeface="Manrope"/>
                        </a:rPr>
                        <a:t>React 19, MUI 7, face-api.js, MediaPipe FaceMesh</a:t>
                      </a:r>
                    </a:p>
                  </a:txBody>
                  <a:tcPr/>
                </a:tc>
                <a:tc>
                  <a:txBody>
                    <a:bodyPr/>
                    <a:lstStyle/>
                    <a:p>
                      <a:pPr>
                        <a:spcBef>
                          <a:spcPts val="100"/>
                        </a:spcBef>
                        <a:spcAft>
                          <a:spcPts val="100"/>
                        </a:spcAft>
                      </a:pPr>
                      <a:r>
                        <a:rPr sz="900" b="0" i="0">
                          <a:solidFill>
                            <a:srgbClr val="202729"/>
                          </a:solidFill>
                          <a:latin typeface="Manrope"/>
                        </a:rPr>
                        <a:t>Single Page Application with client-side face recognition, audio recording, multi-language UI</a:t>
                      </a:r>
                    </a:p>
                  </a:txBody>
                  <a:tcPr/>
                </a:tc>
              </a:tr>
              <a:tr h="217170">
                <a:tc>
                  <a:txBody>
                    <a:bodyPr/>
                    <a:lstStyle/>
                    <a:p>
                      <a:pPr>
                        <a:spcBef>
                          <a:spcPts val="100"/>
                        </a:spcBef>
                        <a:spcAft>
                          <a:spcPts val="100"/>
                        </a:spcAft>
                      </a:pPr>
                      <a:r>
                        <a:rPr sz="900" b="0" i="0">
                          <a:solidFill>
                            <a:srgbClr val="202729"/>
                          </a:solidFill>
                          <a:latin typeface="Manrope"/>
                        </a:rPr>
                        <a:t>Backend API</a:t>
                      </a:r>
                    </a:p>
                  </a:txBody>
                  <a:tcPr>
                    <a:solidFill>
                      <a:srgbClr val="E8F5E9"/>
                    </a:solidFill>
                  </a:tcPr>
                </a:tc>
                <a:tc>
                  <a:txBody>
                    <a:bodyPr/>
                    <a:lstStyle/>
                    <a:p>
                      <a:pPr>
                        <a:spcBef>
                          <a:spcPts val="100"/>
                        </a:spcBef>
                        <a:spcAft>
                          <a:spcPts val="100"/>
                        </a:spcAft>
                      </a:pPr>
                      <a:r>
                        <a:rPr sz="900" b="0" i="0">
                          <a:solidFill>
                            <a:srgbClr val="202729"/>
                          </a:solidFill>
                          <a:latin typeface="Manrope"/>
                        </a:rPr>
                        <a:t>Node.js 20, Express 4, Mongoose 8</a:t>
                      </a:r>
                    </a:p>
                  </a:txBody>
                  <a:tcPr>
                    <a:solidFill>
                      <a:srgbClr val="E8F5E9"/>
                    </a:solidFill>
                  </a:tcPr>
                </a:tc>
                <a:tc>
                  <a:txBody>
                    <a:bodyPr/>
                    <a:lstStyle/>
                    <a:p>
                      <a:pPr>
                        <a:spcBef>
                          <a:spcPts val="100"/>
                        </a:spcBef>
                        <a:spcAft>
                          <a:spcPts val="100"/>
                        </a:spcAft>
                      </a:pPr>
                      <a:r>
                        <a:rPr sz="900" b="0" i="0">
                          <a:solidFill>
                            <a:srgbClr val="202729"/>
                          </a:solidFill>
                          <a:latin typeface="Manrope"/>
                        </a:rPr>
                        <a:t>RESTful API for CRUD, JWT authentication, file management, cron jobs, S3/SNS integration</a:t>
                      </a:r>
                    </a:p>
                  </a:txBody>
                  <a:tcPr>
                    <a:solidFill>
                      <a:srgbClr val="E8F5E9"/>
                    </a:solidFill>
                  </a:tcPr>
                </a:tc>
              </a:tr>
              <a:tr h="217170">
                <a:tc>
                  <a:txBody>
                    <a:bodyPr/>
                    <a:lstStyle/>
                    <a:p>
                      <a:pPr>
                        <a:spcBef>
                          <a:spcPts val="100"/>
                        </a:spcBef>
                        <a:spcAft>
                          <a:spcPts val="100"/>
                        </a:spcAft>
                      </a:pPr>
                      <a:r>
                        <a:rPr sz="900" b="0" i="0">
                          <a:solidFill>
                            <a:srgbClr val="202729"/>
                          </a:solidFill>
                          <a:latin typeface="Manrope"/>
                        </a:rPr>
                        <a:t>AI Backend</a:t>
                      </a:r>
                    </a:p>
                  </a:txBody>
                  <a:tcPr/>
                </a:tc>
                <a:tc>
                  <a:txBody>
                    <a:bodyPr/>
                    <a:lstStyle/>
                    <a:p>
                      <a:pPr>
                        <a:spcBef>
                          <a:spcPts val="100"/>
                        </a:spcBef>
                        <a:spcAft>
                          <a:spcPts val="100"/>
                        </a:spcAft>
                      </a:pPr>
                      <a:r>
                        <a:rPr sz="900" b="0" i="0">
                          <a:solidFill>
                            <a:srgbClr val="202729"/>
                          </a:solidFill>
                          <a:latin typeface="Manrope"/>
                        </a:rPr>
                        <a:t>Python 3.11, FastAPI, Motor (async MongoDB)</a:t>
                      </a:r>
                    </a:p>
                  </a:txBody>
                  <a:tcPr/>
                </a:tc>
                <a:tc>
                  <a:txBody>
                    <a:bodyPr/>
                    <a:lstStyle/>
                    <a:p>
                      <a:pPr>
                        <a:spcBef>
                          <a:spcPts val="100"/>
                        </a:spcBef>
                        <a:spcAft>
                          <a:spcPts val="100"/>
                        </a:spcAft>
                      </a:pPr>
                      <a:r>
                        <a:rPr sz="900" b="0" i="0">
                          <a:solidFill>
                            <a:srgbClr val="202729"/>
                          </a:solidFill>
                          <a:latin typeface="Manrope"/>
                        </a:rPr>
                        <a:t>Asynchronous AI pipelines: STT, LLM, TTS, translation, sentiment. Separate scaling from CRUD.</a:t>
                      </a:r>
                    </a:p>
                  </a:txBody>
                  <a:tcPr/>
                </a:tc>
              </a:tr>
              <a:tr h="217170">
                <a:tc>
                  <a:txBody>
                    <a:bodyPr/>
                    <a:lstStyle/>
                    <a:p>
                      <a:pPr>
                        <a:spcBef>
                          <a:spcPts val="100"/>
                        </a:spcBef>
                        <a:spcAft>
                          <a:spcPts val="100"/>
                        </a:spcAft>
                      </a:pPr>
                      <a:r>
                        <a:rPr sz="900" b="0" i="0">
                          <a:solidFill>
                            <a:srgbClr val="202729"/>
                          </a:solidFill>
                          <a:latin typeface="Manrope"/>
                        </a:rPr>
                        <a:t>Database</a:t>
                      </a:r>
                    </a:p>
                  </a:txBody>
                  <a:tcPr>
                    <a:solidFill>
                      <a:srgbClr val="E8F5E9"/>
                    </a:solidFill>
                  </a:tcPr>
                </a:tc>
                <a:tc>
                  <a:txBody>
                    <a:bodyPr/>
                    <a:lstStyle/>
                    <a:p>
                      <a:pPr>
                        <a:spcBef>
                          <a:spcPts val="100"/>
                        </a:spcBef>
                        <a:spcAft>
                          <a:spcPts val="100"/>
                        </a:spcAft>
                      </a:pPr>
                      <a:r>
                        <a:rPr sz="900" b="0" i="0">
                          <a:solidFill>
                            <a:srgbClr val="202729"/>
                          </a:solidFill>
                          <a:latin typeface="Manrope"/>
                        </a:rPr>
                        <a:t>MongoDB 7 (DocumentDB-compatible)</a:t>
                      </a:r>
                    </a:p>
                  </a:txBody>
                  <a:tcPr>
                    <a:solidFill>
                      <a:srgbClr val="E8F5E9"/>
                    </a:solidFill>
                  </a:tcPr>
                </a:tc>
                <a:tc>
                  <a:txBody>
                    <a:bodyPr/>
                    <a:lstStyle/>
                    <a:p>
                      <a:pPr>
                        <a:spcBef>
                          <a:spcPts val="100"/>
                        </a:spcBef>
                        <a:spcAft>
                          <a:spcPts val="100"/>
                        </a:spcAft>
                      </a:pPr>
                      <a:r>
                        <a:rPr sz="900" b="0" i="0">
                          <a:solidFill>
                            <a:srgbClr val="202729"/>
                          </a:solidFill>
                          <a:latin typeface="Manrope"/>
                        </a:rPr>
                        <a:t>14 collections with flexible schemas. 128-dim face descriptor arrays. Nested attendance records. GridFS for files.</a:t>
                      </a:r>
                    </a:p>
                  </a:txBody>
                  <a:tcPr>
                    <a:solidFill>
                      <a:srgbClr val="E8F5E9"/>
                    </a:solidFill>
                  </a:tcPr>
                </a:tc>
              </a:tr>
              <a:tr h="217170">
                <a:tc>
                  <a:txBody>
                    <a:bodyPr/>
                    <a:lstStyle/>
                    <a:p>
                      <a:pPr>
                        <a:spcBef>
                          <a:spcPts val="100"/>
                        </a:spcBef>
                        <a:spcAft>
                          <a:spcPts val="100"/>
                        </a:spcAft>
                      </a:pPr>
                      <a:r>
                        <a:rPr sz="900" b="0" i="0">
                          <a:solidFill>
                            <a:srgbClr val="202729"/>
                          </a:solidFill>
                          <a:latin typeface="Manrope"/>
                        </a:rPr>
                        <a:t>AI/LLM</a:t>
                      </a:r>
                    </a:p>
                  </a:txBody>
                  <a:tcPr/>
                </a:tc>
                <a:tc>
                  <a:txBody>
                    <a:bodyPr/>
                    <a:lstStyle/>
                    <a:p>
                      <a:pPr>
                        <a:spcBef>
                          <a:spcPts val="100"/>
                        </a:spcBef>
                        <a:spcAft>
                          <a:spcPts val="100"/>
                        </a:spcAft>
                      </a:pPr>
                      <a:r>
                        <a:rPr sz="900" b="0" i="0">
                          <a:solidFill>
                            <a:srgbClr val="202729"/>
                          </a:solidFill>
                          <a:latin typeface="Manrope"/>
                        </a:rPr>
                        <a:t>Amazon Bedrock — Nova Lite (Converse API)</a:t>
                      </a:r>
                    </a:p>
                  </a:txBody>
                  <a:tcPr/>
                </a:tc>
                <a:tc>
                  <a:txBody>
                    <a:bodyPr/>
                    <a:lstStyle/>
                    <a:p>
                      <a:pPr>
                        <a:spcBef>
                          <a:spcPts val="100"/>
                        </a:spcBef>
                        <a:spcAft>
                          <a:spcPts val="100"/>
                        </a:spcAft>
                      </a:pPr>
                      <a:r>
                        <a:rPr sz="900" b="0" i="0">
                          <a:solidFill>
                            <a:srgbClr val="202729"/>
                          </a:solidFill>
                          <a:latin typeface="Manrope"/>
                        </a:rPr>
                        <a:t>5 AI tasks: MOM generation, agenda creation, grammar correction, sentiment analysis, translation fallback. Temp 0.3.</a:t>
                      </a:r>
                    </a:p>
                  </a:txBody>
                  <a:tcPr/>
                </a:tc>
              </a:tr>
              <a:tr h="217170">
                <a:tc>
                  <a:txBody>
                    <a:bodyPr/>
                    <a:lstStyle/>
                    <a:p>
                      <a:pPr>
                        <a:spcBef>
                          <a:spcPts val="100"/>
                        </a:spcBef>
                        <a:spcAft>
                          <a:spcPts val="100"/>
                        </a:spcAft>
                      </a:pPr>
                      <a:r>
                        <a:rPr sz="900" b="0" i="0">
                          <a:solidFill>
                            <a:srgbClr val="202729"/>
                          </a:solidFill>
                          <a:latin typeface="Manrope"/>
                        </a:rPr>
                        <a:t>STT (Speech-to-Text)</a:t>
                      </a:r>
                    </a:p>
                  </a:txBody>
                  <a:tcPr>
                    <a:solidFill>
                      <a:srgbClr val="E8F5E9"/>
                    </a:solidFill>
                  </a:tcPr>
                </a:tc>
                <a:tc>
                  <a:txBody>
                    <a:bodyPr/>
                    <a:lstStyle/>
                    <a:p>
                      <a:pPr>
                        <a:spcBef>
                          <a:spcPts val="100"/>
                        </a:spcBef>
                        <a:spcAft>
                          <a:spcPts val="100"/>
                        </a:spcAft>
                      </a:pPr>
                      <a:r>
                        <a:rPr sz="900" b="0" i="0">
                          <a:solidFill>
                            <a:srgbClr val="202729"/>
                          </a:solidFill>
                          <a:latin typeface="Manrope"/>
                        </a:rPr>
                        <a:t>Provider-agnostic: Jio STT / Whisper (HuggingFace) / AWS Transcribe</a:t>
                      </a:r>
                    </a:p>
                  </a:txBody>
                  <a:tcPr>
                    <a:solidFill>
                      <a:srgbClr val="E8F5E9"/>
                    </a:solidFill>
                  </a:tcPr>
                </a:tc>
                <a:tc>
                  <a:txBody>
                    <a:bodyPr/>
                    <a:lstStyle/>
                    <a:p>
                      <a:pPr>
                        <a:spcBef>
                          <a:spcPts val="100"/>
                        </a:spcBef>
                        <a:spcAft>
                          <a:spcPts val="100"/>
                        </a:spcAft>
                      </a:pPr>
                      <a:r>
                        <a:rPr sz="900" b="0" i="0">
                          <a:solidFill>
                            <a:srgbClr val="202729"/>
                          </a:solidFill>
                          <a:latin typeface="Manrope"/>
                        </a:rPr>
                        <a:t>3 swappable providers via STT_PROVIDER env var. Hindi, Tamil, Telugu, Kannada, Malayalam, Bengali + more.</a:t>
                      </a:r>
                    </a:p>
                  </a:txBody>
                  <a:tcPr>
                    <a:solidFill>
                      <a:srgbClr val="E8F5E9"/>
                    </a:solidFill>
                  </a:tcPr>
                </a:tc>
              </a:tr>
              <a:tr h="217170">
                <a:tc>
                  <a:txBody>
                    <a:bodyPr/>
                    <a:lstStyle/>
                    <a:p>
                      <a:pPr>
                        <a:spcBef>
                          <a:spcPts val="100"/>
                        </a:spcBef>
                        <a:spcAft>
                          <a:spcPts val="100"/>
                        </a:spcAft>
                      </a:pPr>
                      <a:r>
                        <a:rPr sz="900" b="0" i="0">
                          <a:solidFill>
                            <a:srgbClr val="202729"/>
                          </a:solidFill>
                          <a:latin typeface="Manrope"/>
                        </a:rPr>
                        <a:t>Translation</a:t>
                      </a:r>
                    </a:p>
                  </a:txBody>
                  <a:tcPr/>
                </a:tc>
                <a:tc>
                  <a:txBody>
                    <a:bodyPr/>
                    <a:lstStyle/>
                    <a:p>
                      <a:pPr>
                        <a:spcBef>
                          <a:spcPts val="100"/>
                        </a:spcBef>
                        <a:spcAft>
                          <a:spcPts val="100"/>
                        </a:spcAft>
                      </a:pPr>
                      <a:r>
                        <a:rPr sz="900" b="0" i="0">
                          <a:solidFill>
                            <a:srgbClr val="202729"/>
                          </a:solidFill>
                          <a:latin typeface="Manrope"/>
                        </a:rPr>
                        <a:t>AWS Translate (auto-detect source)</a:t>
                      </a:r>
                    </a:p>
                  </a:txBody>
                  <a:tcPr/>
                </a:tc>
                <a:tc>
                  <a:txBody>
                    <a:bodyPr/>
                    <a:lstStyle/>
                    <a:p>
                      <a:pPr>
                        <a:spcBef>
                          <a:spcPts val="100"/>
                        </a:spcBef>
                        <a:spcAft>
                          <a:spcPts val="100"/>
                        </a:spcAft>
                      </a:pPr>
                      <a:r>
                        <a:rPr sz="900" b="0" i="0">
                          <a:solidFill>
                            <a:srgbClr val="202729"/>
                          </a:solidFill>
                          <a:latin typeface="Manrope"/>
                        </a:rPr>
                        <a:t>AI-generated content translated across 10+ Indian languages. 2M chars/mo free tier.</a:t>
                      </a:r>
                    </a:p>
                  </a:txBody>
                  <a:tcPr/>
                </a:tc>
              </a:tr>
              <a:tr h="217170">
                <a:tc>
                  <a:txBody>
                    <a:bodyPr/>
                    <a:lstStyle/>
                    <a:p>
                      <a:pPr>
                        <a:spcBef>
                          <a:spcPts val="100"/>
                        </a:spcBef>
                        <a:spcAft>
                          <a:spcPts val="100"/>
                        </a:spcAft>
                      </a:pPr>
                      <a:r>
                        <a:rPr sz="900" b="0" i="0">
                          <a:solidFill>
                            <a:srgbClr val="202729"/>
                          </a:solidFill>
                          <a:latin typeface="Manrope"/>
                        </a:rPr>
                        <a:t>TTS (Text-to-Speech)</a:t>
                      </a:r>
                    </a:p>
                  </a:txBody>
                  <a:tcPr>
                    <a:solidFill>
                      <a:srgbClr val="E8F5E9"/>
                    </a:solidFill>
                  </a:tcPr>
                </a:tc>
                <a:tc>
                  <a:txBody>
                    <a:bodyPr/>
                    <a:lstStyle/>
                    <a:p>
                      <a:pPr>
                        <a:spcBef>
                          <a:spcPts val="100"/>
                        </a:spcBef>
                        <a:spcAft>
                          <a:spcPts val="100"/>
                        </a:spcAft>
                      </a:pPr>
                      <a:r>
                        <a:rPr sz="900" b="0" i="0">
                          <a:solidFill>
                            <a:srgbClr val="202729"/>
                          </a:solidFill>
                          <a:latin typeface="Manrope"/>
                        </a:rPr>
                        <a:t>Amazon Polly + S3 content-hash cache</a:t>
                      </a:r>
                    </a:p>
                  </a:txBody>
                  <a:tcPr>
                    <a:solidFill>
                      <a:srgbClr val="E8F5E9"/>
                    </a:solidFill>
                  </a:tcPr>
                </a:tc>
                <a:tc>
                  <a:txBody>
                    <a:bodyPr/>
                    <a:lstStyle/>
                    <a:p>
                      <a:pPr>
                        <a:spcBef>
                          <a:spcPts val="100"/>
                        </a:spcBef>
                        <a:spcAft>
                          <a:spcPts val="100"/>
                        </a:spcAft>
                      </a:pPr>
                      <a:r>
                        <a:rPr sz="900" b="0" i="0">
                          <a:solidFill>
                            <a:srgbClr val="202729"/>
                          </a:solidFill>
                          <a:latin typeface="Manrope"/>
                        </a:rPr>
                        <a:t>Aditi (Hindi), Raveena (English). SHA256 cache key -&gt; never re-synthesize same text.</a:t>
                      </a:r>
                    </a:p>
                  </a:txBody>
                  <a:tcPr>
                    <a:solidFill>
                      <a:srgbClr val="E8F5E9"/>
                    </a:solidFill>
                  </a:tcPr>
                </a:tc>
              </a:tr>
              <a:tr h="217170">
                <a:tc>
                  <a:txBody>
                    <a:bodyPr/>
                    <a:lstStyle/>
                    <a:p>
                      <a:pPr>
                        <a:spcBef>
                          <a:spcPts val="100"/>
                        </a:spcBef>
                        <a:spcAft>
                          <a:spcPts val="100"/>
                        </a:spcAft>
                      </a:pPr>
                      <a:r>
                        <a:rPr sz="900" b="0" i="0">
                          <a:solidFill>
                            <a:srgbClr val="202729"/>
                          </a:solidFill>
                          <a:latin typeface="Manrope"/>
                        </a:rPr>
                        <a:t>Object Storage</a:t>
                      </a:r>
                    </a:p>
                  </a:txBody>
                  <a:tcPr/>
                </a:tc>
                <a:tc>
                  <a:txBody>
                    <a:bodyPr/>
                    <a:lstStyle/>
                    <a:p>
                      <a:pPr>
                        <a:spcBef>
                          <a:spcPts val="100"/>
                        </a:spcBef>
                        <a:spcAft>
                          <a:spcPts val="100"/>
                        </a:spcAft>
                      </a:pPr>
                      <a:r>
                        <a:rPr sz="900" b="0" i="0">
                          <a:solidFill>
                            <a:srgbClr val="202729"/>
                          </a:solidFill>
                          <a:latin typeface="Manrope"/>
                        </a:rPr>
                        <a:t>Amazon S3 (Intelligent-Tiering, 2 buckets)</a:t>
                      </a:r>
                    </a:p>
                  </a:txBody>
                  <a:tcPr/>
                </a:tc>
                <a:tc>
                  <a:txBody>
                    <a:bodyPr/>
                    <a:lstStyle/>
                    <a:p>
                      <a:pPr>
                        <a:spcBef>
                          <a:spcPts val="100"/>
                        </a:spcBef>
                        <a:spcAft>
                          <a:spcPts val="100"/>
                        </a:spcAft>
                      </a:pPr>
                      <a:r>
                        <a:rPr sz="900" b="0" i="0">
                          <a:solidFill>
                            <a:srgbClr val="202729"/>
                          </a:solidFill>
                          <a:latin typeface="Manrope"/>
                        </a:rPr>
                        <a:t>Face images, TTS audio cache, letterheads, attachments, transcription temp files.</a:t>
                      </a:r>
                    </a:p>
                  </a:txBody>
                  <a:tcPr/>
                </a:tc>
              </a:tr>
              <a:tr h="217170">
                <a:tc>
                  <a:txBody>
                    <a:bodyPr/>
                    <a:lstStyle/>
                    <a:p>
                      <a:pPr>
                        <a:spcBef>
                          <a:spcPts val="100"/>
                        </a:spcBef>
                        <a:spcAft>
                          <a:spcPts val="100"/>
                        </a:spcAft>
                      </a:pPr>
                      <a:r>
                        <a:rPr sz="900" b="0" i="0">
                          <a:solidFill>
                            <a:srgbClr val="202729"/>
                          </a:solidFill>
                          <a:latin typeface="Manrope"/>
                        </a:rPr>
                        <a:t>Security</a:t>
                      </a:r>
                    </a:p>
                  </a:txBody>
                  <a:tcPr>
                    <a:solidFill>
                      <a:srgbClr val="E8F5E9"/>
                    </a:solidFill>
                  </a:tcPr>
                </a:tc>
                <a:tc>
                  <a:txBody>
                    <a:bodyPr/>
                    <a:lstStyle/>
                    <a:p>
                      <a:pPr>
                        <a:spcBef>
                          <a:spcPts val="100"/>
                        </a:spcBef>
                        <a:spcAft>
                          <a:spcPts val="100"/>
                        </a:spcAft>
                      </a:pPr>
                      <a:r>
                        <a:rPr sz="900" b="0" i="0">
                          <a:solidFill>
                            <a:srgbClr val="202729"/>
                          </a:solidFill>
                          <a:latin typeface="Manrope"/>
                        </a:rPr>
                        <a:t>Secrets Manager + JWT (4 secrets) + Helmet + CORS + xss-clean + hpp</a:t>
                      </a:r>
                    </a:p>
                  </a:txBody>
                  <a:tcPr>
                    <a:solidFill>
                      <a:srgbClr val="E8F5E9"/>
                    </a:solidFill>
                  </a:tcPr>
                </a:tc>
                <a:tc>
                  <a:txBody>
                    <a:bodyPr/>
                    <a:lstStyle/>
                    <a:p>
                      <a:pPr>
                        <a:spcBef>
                          <a:spcPts val="100"/>
                        </a:spcBef>
                        <a:spcAft>
                          <a:spcPts val="100"/>
                        </a:spcAft>
                      </a:pPr>
                      <a:r>
                        <a:rPr sz="900" b="0" i="0">
                          <a:solidFill>
                            <a:srgbClr val="202729"/>
                          </a:solidFill>
                          <a:latin typeface="Manrope"/>
                        </a:rPr>
                        <a:t>Zero hardcoded credentials. JWT expiry: Admin 12h, Official 24h, Citizen 72h, Refresh 7d. 6-role RBAC with per-resource permissions.</a:t>
                      </a:r>
                    </a:p>
                  </a:txBody>
                  <a:tcPr>
                    <a:solidFill>
                      <a:srgbClr val="E8F5E9"/>
                    </a:solidFill>
                  </a:tcPr>
                </a:tc>
              </a:tr>
              <a:tr h="217170">
                <a:tc>
                  <a:txBody>
                    <a:bodyPr/>
                    <a:lstStyle/>
                    <a:p>
                      <a:pPr>
                        <a:spcBef>
                          <a:spcPts val="100"/>
                        </a:spcBef>
                        <a:spcAft>
                          <a:spcPts val="100"/>
                        </a:spcAft>
                      </a:pPr>
                      <a:r>
                        <a:rPr sz="900" b="0" i="0">
                          <a:solidFill>
                            <a:srgbClr val="202729"/>
                          </a:solidFill>
                          <a:latin typeface="Manrope"/>
                        </a:rPr>
                        <a:t>Traffic Management</a:t>
                      </a:r>
                    </a:p>
                  </a:txBody>
                  <a:tcPr/>
                </a:tc>
                <a:tc>
                  <a:txBody>
                    <a:bodyPr/>
                    <a:lstStyle/>
                    <a:p>
                      <a:pPr>
                        <a:spcBef>
                          <a:spcPts val="100"/>
                        </a:spcBef>
                        <a:spcAft>
                          <a:spcPts val="100"/>
                        </a:spcAft>
                      </a:pPr>
                      <a:r>
                        <a:rPr sz="900" b="0" i="0">
                          <a:solidFill>
                            <a:srgbClr val="202729"/>
                          </a:solidFill>
                          <a:latin typeface="Manrope"/>
                        </a:rPr>
                        <a:t>API Gateway + Nginx reverse proxy</a:t>
                      </a:r>
                    </a:p>
                  </a:txBody>
                  <a:tcPr/>
                </a:tc>
                <a:tc>
                  <a:txBody>
                    <a:bodyPr/>
                    <a:lstStyle/>
                    <a:p>
                      <a:pPr>
                        <a:spcBef>
                          <a:spcPts val="100"/>
                        </a:spcBef>
                        <a:spcAft>
                          <a:spcPts val="100"/>
                        </a:spcAft>
                      </a:pPr>
                      <a:r>
                        <a:rPr sz="900" b="0" i="0">
                          <a:solidFill>
                            <a:srgbClr val="202729"/>
                          </a:solidFill>
                          <a:latin typeface="Manrope"/>
                        </a:rPr>
                        <a:t>Defense in depth: API key + throttle (100 req/s) + TLS + rate limit (10/s per IP) + security headers.</a:t>
                      </a:r>
                    </a:p>
                  </a:txBody>
                  <a:tcPr/>
                </a:tc>
              </a:tr>
              <a:tr h="217170">
                <a:tc>
                  <a:txBody>
                    <a:bodyPr/>
                    <a:lstStyle/>
                    <a:p>
                      <a:pPr>
                        <a:spcBef>
                          <a:spcPts val="100"/>
                        </a:spcBef>
                        <a:spcAft>
                          <a:spcPts val="100"/>
                        </a:spcAft>
                      </a:pPr>
                      <a:r>
                        <a:rPr sz="900" b="0" i="0">
                          <a:solidFill>
                            <a:srgbClr val="202729"/>
                          </a:solidFill>
                          <a:latin typeface="Manrope"/>
                        </a:rPr>
                        <a:t>Logging</a:t>
                      </a:r>
                    </a:p>
                  </a:txBody>
                  <a:tcPr>
                    <a:solidFill>
                      <a:srgbClr val="E8F5E9"/>
                    </a:solidFill>
                  </a:tcPr>
                </a:tc>
                <a:tc>
                  <a:txBody>
                    <a:bodyPr/>
                    <a:lstStyle/>
                    <a:p>
                      <a:pPr>
                        <a:spcBef>
                          <a:spcPts val="100"/>
                        </a:spcBef>
                        <a:spcAft>
                          <a:spcPts val="100"/>
                        </a:spcAft>
                      </a:pPr>
                      <a:r>
                        <a:rPr sz="900" b="0" i="0">
                          <a:solidFill>
                            <a:srgbClr val="202729"/>
                          </a:solidFill>
                          <a:latin typeface="Manrope"/>
                        </a:rPr>
                        <a:t>CloudWatch: winston-cloudwatch + watchtower</a:t>
                      </a:r>
                    </a:p>
                  </a:txBody>
                  <a:tcPr>
                    <a:solidFill>
                      <a:srgbClr val="E8F5E9"/>
                    </a:solidFill>
                  </a:tcPr>
                </a:tc>
                <a:tc>
                  <a:txBody>
                    <a:bodyPr/>
                    <a:lstStyle/>
                    <a:p>
                      <a:pPr>
                        <a:spcBef>
                          <a:spcPts val="100"/>
                        </a:spcBef>
                        <a:spcAft>
                          <a:spcPts val="100"/>
                        </a:spcAft>
                      </a:pPr>
                      <a:r>
                        <a:rPr sz="900" b="0" i="0">
                          <a:solidFill>
                            <a:srgbClr val="202729"/>
                          </a:solidFill>
                          <a:latin typeface="Manrope"/>
                        </a:rPr>
                        <a:t>2 log groups (/egramsabha/backend, /egramsabha/video-mom). Structured JSON. 30-day retention.</a:t>
                      </a:r>
                    </a:p>
                  </a:txBody>
                  <a:tcPr>
                    <a:solidFill>
                      <a:srgbClr val="E8F5E9"/>
                    </a:solidFill>
                  </a:tcPr>
                </a:tc>
              </a:tr>
              <a:tr h="217170">
                <a:tc>
                  <a:txBody>
                    <a:bodyPr/>
                    <a:lstStyle/>
                    <a:p>
                      <a:pPr>
                        <a:spcBef>
                          <a:spcPts val="100"/>
                        </a:spcBef>
                        <a:spcAft>
                          <a:spcPts val="100"/>
                        </a:spcAft>
                      </a:pPr>
                      <a:r>
                        <a:rPr sz="900" b="0" i="0">
                          <a:solidFill>
                            <a:srgbClr val="202729"/>
                          </a:solidFill>
                          <a:latin typeface="Manrope"/>
                        </a:rPr>
                        <a:t>Infrastructure</a:t>
                      </a:r>
                    </a:p>
                  </a:txBody>
                  <a:tcPr/>
                </a:tc>
                <a:tc>
                  <a:txBody>
                    <a:bodyPr/>
                    <a:lstStyle/>
                    <a:p>
                      <a:pPr>
                        <a:spcBef>
                          <a:spcPts val="100"/>
                        </a:spcBef>
                        <a:spcAft>
                          <a:spcPts val="100"/>
                        </a:spcAft>
                      </a:pPr>
                      <a:r>
                        <a:rPr sz="900" b="0" i="0">
                          <a:solidFill>
                            <a:srgbClr val="202729"/>
                          </a:solidFill>
                          <a:latin typeface="Manrope"/>
                        </a:rPr>
                        <a:t>Docker Compose, EC2 t3.medium, EBS gp3, Elastic IP</a:t>
                      </a:r>
                    </a:p>
                  </a:txBody>
                  <a:tcPr/>
                </a:tc>
                <a:tc>
                  <a:txBody>
                    <a:bodyPr/>
                    <a:lstStyle/>
                    <a:p>
                      <a:pPr>
                        <a:spcBef>
                          <a:spcPts val="100"/>
                        </a:spcBef>
                        <a:spcAft>
                          <a:spcPts val="100"/>
                        </a:spcAft>
                      </a:pPr>
                      <a:r>
                        <a:rPr sz="900" b="0" i="0">
                          <a:solidFill>
                            <a:srgbClr val="202729"/>
                          </a:solidFill>
                          <a:latin typeface="Manrope"/>
                        </a:rPr>
                        <a:t>4 containers on bridge network. Same Dockerfiles work in ECS Fargate for production scale.</a:t>
                      </a:r>
                    </a:p>
                  </a:txBody>
                  <a:tcPr/>
                </a:tc>
              </a:tr>
              <a:tr h="217170">
                <a:tc>
                  <a:txBody>
                    <a:bodyPr/>
                    <a:lstStyle/>
                    <a:p>
                      <a:pPr>
                        <a:spcBef>
                          <a:spcPts val="100"/>
                        </a:spcBef>
                        <a:spcAft>
                          <a:spcPts val="100"/>
                        </a:spcAft>
                      </a:pPr>
                      <a:r>
                        <a:rPr sz="900" b="0" i="0">
                          <a:solidFill>
                            <a:srgbClr val="202729"/>
                          </a:solidFill>
                          <a:latin typeface="Manrope"/>
                        </a:rPr>
                        <a:t>PDF Generation</a:t>
                      </a:r>
                    </a:p>
                  </a:txBody>
                  <a:tcPr>
                    <a:solidFill>
                      <a:srgbClr val="E8F5E9"/>
                    </a:solidFill>
                  </a:tcPr>
                </a:tc>
                <a:tc>
                  <a:txBody>
                    <a:bodyPr/>
                    <a:lstStyle/>
                    <a:p>
                      <a:pPr>
                        <a:spcBef>
                          <a:spcPts val="100"/>
                        </a:spcBef>
                        <a:spcAft>
                          <a:spcPts val="100"/>
                        </a:spcAft>
                      </a:pPr>
                      <a:r>
                        <a:rPr sz="900" b="0" i="0">
                          <a:solidFill>
                            <a:srgbClr val="202729"/>
                          </a:solidFill>
                          <a:latin typeface="Manrope"/>
                        </a:rPr>
                        <a:t>jsPDF + html2pdf.js</a:t>
                      </a:r>
                    </a:p>
                  </a:txBody>
                  <a:tcPr>
                    <a:solidFill>
                      <a:srgbClr val="E8F5E9"/>
                    </a:solidFill>
                  </a:tcPr>
                </a:tc>
                <a:tc>
                  <a:txBody>
                    <a:bodyPr/>
                    <a:lstStyle/>
                    <a:p>
                      <a:pPr>
                        <a:spcBef>
                          <a:spcPts val="100"/>
                        </a:spcBef>
                        <a:spcAft>
                          <a:spcPts val="100"/>
                        </a:spcAft>
                      </a:pPr>
                      <a:r>
                        <a:rPr sz="900" b="0" i="0">
                          <a:solidFill>
                            <a:srgbClr val="202729"/>
                          </a:solidFill>
                          <a:latin typeface="Manrope"/>
                        </a:rPr>
                        <a:t>Attendance reports, MOM documents with custom panchayat letterhead. Hindi font support.</a:t>
                      </a:r>
                    </a:p>
                  </a:txBody>
                  <a:tcPr>
                    <a:solidFill>
                      <a:srgbClr val="E8F5E9"/>
                    </a:solidFill>
                  </a:tcPr>
                </a:tc>
              </a:tr>
              <a:tr h="217170">
                <a:tc>
                  <a:txBody>
                    <a:bodyPr/>
                    <a:lstStyle/>
                    <a:p>
                      <a:pPr>
                        <a:spcBef>
                          <a:spcPts val="100"/>
                        </a:spcBef>
                        <a:spcAft>
                          <a:spcPts val="100"/>
                        </a:spcAft>
                      </a:pPr>
                      <a:r>
                        <a:rPr sz="900" b="0" i="0">
                          <a:solidFill>
                            <a:srgbClr val="202729"/>
                          </a:solidFill>
                          <a:latin typeface="Manrope"/>
                        </a:rPr>
                        <a:t>Video Meetings</a:t>
                      </a:r>
                    </a:p>
                  </a:txBody>
                  <a:tcPr/>
                </a:tc>
                <a:tc>
                  <a:txBody>
                    <a:bodyPr/>
                    <a:lstStyle/>
                    <a:p>
                      <a:pPr>
                        <a:spcBef>
                          <a:spcPts val="100"/>
                        </a:spcBef>
                        <a:spcAft>
                          <a:spcPts val="100"/>
                        </a:spcAft>
                      </a:pPr>
                      <a:r>
                        <a:rPr sz="900" b="0" i="0">
                          <a:solidFill>
                            <a:srgbClr val="202729"/>
                          </a:solidFill>
                          <a:latin typeface="Manrope"/>
                        </a:rPr>
                        <a:t>JioMeet SDK</a:t>
                      </a:r>
                    </a:p>
                  </a:txBody>
                  <a:tcPr/>
                </a:tc>
                <a:tc>
                  <a:txBody>
                    <a:bodyPr/>
                    <a:lstStyle/>
                    <a:p>
                      <a:pPr>
                        <a:spcBef>
                          <a:spcPts val="100"/>
                        </a:spcBef>
                        <a:spcAft>
                          <a:spcPts val="100"/>
                        </a:spcAft>
                      </a:pPr>
                      <a:r>
                        <a:rPr sz="900" b="0" i="0">
                          <a:solidFill>
                            <a:srgbClr val="202729"/>
                          </a:solidFill>
                          <a:latin typeface="Manrope"/>
                        </a:rPr>
                        <a:t>Virtual Gram Sabha participation for citizens who cannot attend in person.</a:t>
                      </a:r>
                    </a:p>
                  </a:txBody>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3"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17" name="TextBox 116"/>
          <p:cNvSpPr txBox="1"/>
          <p:nvPr/>
        </p:nvSpPr>
        <p:spPr>
          <a:xfrm>
            <a:off x="311700" y="863550"/>
            <a:ext cx="8520600" cy="365760"/>
          </a:xfrm>
          <a:prstGeom prst="rect">
            <a:avLst/>
          </a:prstGeom>
          <a:noFill/>
        </p:spPr>
        <p:txBody>
          <a:bodyPr wrap="square">
            <a:spAutoFit/>
          </a:bodyPr>
          <a:lstStyle/>
          <a:p>
            <a:r>
              <a:rPr sz="2200" b="1" i="0">
                <a:solidFill>
                  <a:srgbClr val="202729"/>
                </a:solidFill>
                <a:latin typeface="Manrope"/>
              </a:rPr>
              <a:t>Estimated Implementation Cost</a:t>
            </a:r>
          </a:p>
        </p:txBody>
      </p:sp>
      <p:sp>
        <p:nvSpPr>
          <p:cNvPr id="118" name="TextBox 117"/>
          <p:cNvSpPr txBox="1"/>
          <p:nvPr/>
        </p:nvSpPr>
        <p:spPr>
          <a:xfrm>
            <a:off x="274320" y="1234440"/>
            <a:ext cx="4114800" cy="274320"/>
          </a:xfrm>
          <a:prstGeom prst="rect">
            <a:avLst/>
          </a:prstGeom>
          <a:noFill/>
        </p:spPr>
        <p:txBody>
          <a:bodyPr wrap="square">
            <a:spAutoFit/>
          </a:bodyPr>
          <a:lstStyle/>
          <a:p>
            <a:r>
              <a:rPr sz="1200" b="1" i="0">
                <a:solidFill>
                  <a:srgbClr val="2E7D32"/>
                </a:solidFill>
                <a:latin typeface="Manrope"/>
              </a:rPr>
              <a:t>Current Hackathon Cost: $15-20/month</a:t>
            </a:r>
          </a:p>
        </p:txBody>
      </p:sp>
      <p:graphicFrame>
        <p:nvGraphicFramePr>
          <p:cNvPr id="119" name="Table 118"/>
          <p:cNvGraphicFramePr>
            <a:graphicFrameLocks noGrp="1"/>
          </p:cNvGraphicFramePr>
          <p:nvPr/>
        </p:nvGraphicFramePr>
        <p:xfrm>
          <a:off x="274320" y="1554480"/>
          <a:ext cx="4114800" cy="2560320"/>
        </p:xfrm>
        <a:graphic>
          <a:graphicData uri="http://schemas.openxmlformats.org/drawingml/2006/table">
            <a:tbl>
              <a:tblPr firstRow="1" bandRow="1">
                <a:tableStyleId>{5C22544A-7EE6-4342-B048-85BDC9FD1C3A}</a:tableStyleId>
              </a:tblPr>
              <a:tblGrid>
                <a:gridCol w="1645920"/>
                <a:gridCol w="1005840"/>
                <a:gridCol w="1463040"/>
              </a:tblGrid>
              <a:tr h="213360">
                <a:tc>
                  <a:txBody>
                    <a:bodyPr/>
                    <a:lstStyle/>
                    <a:p>
                      <a:pPr>
                        <a:spcBef>
                          <a:spcPts val="100"/>
                        </a:spcBef>
                        <a:spcAft>
                          <a:spcPts val="100"/>
                        </a:spcAft>
                      </a:pPr>
                      <a:r>
                        <a:rPr sz="1000" b="1" i="0">
                          <a:solidFill>
                            <a:srgbClr val="FFFFFF"/>
                          </a:solidFill>
                          <a:latin typeface="Manrope"/>
                        </a:rPr>
                        <a:t>Service</a:t>
                      </a:r>
                    </a:p>
                  </a:txBody>
                  <a:tcPr>
                    <a:solidFill>
                      <a:srgbClr val="2E7D32"/>
                    </a:solidFill>
                  </a:tcPr>
                </a:tc>
                <a:tc>
                  <a:txBody>
                    <a:bodyPr/>
                    <a:lstStyle/>
                    <a:p>
                      <a:pPr>
                        <a:spcBef>
                          <a:spcPts val="100"/>
                        </a:spcBef>
                        <a:spcAft>
                          <a:spcPts val="100"/>
                        </a:spcAft>
                      </a:pPr>
                      <a:r>
                        <a:rPr sz="1000" b="1" i="0">
                          <a:solidFill>
                            <a:srgbClr val="FFFFFF"/>
                          </a:solidFill>
                          <a:latin typeface="Manrope"/>
                        </a:rPr>
                        <a:t>Monthly Cost</a:t>
                      </a:r>
                    </a:p>
                  </a:txBody>
                  <a:tcPr>
                    <a:solidFill>
                      <a:srgbClr val="2E7D32"/>
                    </a:solidFill>
                  </a:tcPr>
                </a:tc>
                <a:tc>
                  <a:txBody>
                    <a:bodyPr/>
                    <a:lstStyle/>
                    <a:p>
                      <a:pPr>
                        <a:spcBef>
                          <a:spcPts val="100"/>
                        </a:spcBef>
                        <a:spcAft>
                          <a:spcPts val="100"/>
                        </a:spcAft>
                      </a:pPr>
                      <a:r>
                        <a:rPr sz="1000" b="1" i="0">
                          <a:solidFill>
                            <a:srgbClr val="FFFFFF"/>
                          </a:solidFill>
                          <a:latin typeface="Manrope"/>
                        </a:rPr>
                        <a:t>Notes</a:t>
                      </a:r>
                    </a:p>
                  </a:txBody>
                  <a:tcPr>
                    <a:solidFill>
                      <a:srgbClr val="2E7D32"/>
                    </a:solidFill>
                  </a:tcPr>
                </a:tc>
              </a:tr>
              <a:tr h="213360">
                <a:tc>
                  <a:txBody>
                    <a:bodyPr/>
                    <a:lstStyle/>
                    <a:p>
                      <a:pPr>
                        <a:spcBef>
                          <a:spcPts val="100"/>
                        </a:spcBef>
                        <a:spcAft>
                          <a:spcPts val="100"/>
                        </a:spcAft>
                      </a:pPr>
                      <a:r>
                        <a:rPr sz="900" b="0" i="0">
                          <a:solidFill>
                            <a:srgbClr val="202729"/>
                          </a:solidFill>
                          <a:latin typeface="Manrope"/>
                        </a:rPr>
                        <a:t>EC2 (t3.medium, 2 vCPU, 4 GB)</a:t>
                      </a:r>
                    </a:p>
                  </a:txBody>
                  <a:tcPr/>
                </a:tc>
                <a:tc>
                  <a:txBody>
                    <a:bodyPr/>
                    <a:lstStyle/>
                    <a:p>
                      <a:pPr>
                        <a:spcBef>
                          <a:spcPts val="100"/>
                        </a:spcBef>
                        <a:spcAft>
                          <a:spcPts val="100"/>
                        </a:spcAft>
                      </a:pPr>
                      <a:r>
                        <a:rPr sz="900" b="0" i="0">
                          <a:solidFill>
                            <a:srgbClr val="202729"/>
                          </a:solidFill>
                          <a:latin typeface="Manrope"/>
                        </a:rPr>
                        <a:t>$12-30</a:t>
                      </a:r>
                    </a:p>
                  </a:txBody>
                  <a:tcPr/>
                </a:tc>
                <a:tc>
                  <a:txBody>
                    <a:bodyPr/>
                    <a:lstStyle/>
                    <a:p>
                      <a:pPr>
                        <a:spcBef>
                          <a:spcPts val="100"/>
                        </a:spcBef>
                        <a:spcAft>
                          <a:spcPts val="100"/>
                        </a:spcAft>
                      </a:pPr>
                      <a:r>
                        <a:rPr sz="900" b="0" i="0">
                          <a:solidFill>
                            <a:srgbClr val="202729"/>
                          </a:solidFill>
                          <a:latin typeface="Manrope"/>
                        </a:rPr>
                        <a:t>On-demand vs reserved. Burstable CPU for AI spikes.</a:t>
                      </a:r>
                    </a:p>
                  </a:txBody>
                  <a:tcPr/>
                </a:tc>
              </a:tr>
              <a:tr h="213360">
                <a:tc>
                  <a:txBody>
                    <a:bodyPr/>
                    <a:lstStyle/>
                    <a:p>
                      <a:pPr>
                        <a:spcBef>
                          <a:spcPts val="100"/>
                        </a:spcBef>
                        <a:spcAft>
                          <a:spcPts val="100"/>
                        </a:spcAft>
                      </a:pPr>
                      <a:r>
                        <a:rPr sz="900" b="0" i="0">
                          <a:solidFill>
                            <a:srgbClr val="202729"/>
                          </a:solidFill>
                          <a:latin typeface="Manrope"/>
                        </a:rPr>
                        <a:t>EBS (20 GB gp3)</a:t>
                      </a:r>
                    </a:p>
                  </a:txBody>
                  <a:tcPr>
                    <a:solidFill>
                      <a:srgbClr val="E8F5E9"/>
                    </a:solidFill>
                  </a:tcPr>
                </a:tc>
                <a:tc>
                  <a:txBody>
                    <a:bodyPr/>
                    <a:lstStyle/>
                    <a:p>
                      <a:pPr>
                        <a:spcBef>
                          <a:spcPts val="100"/>
                        </a:spcBef>
                        <a:spcAft>
                          <a:spcPts val="100"/>
                        </a:spcAft>
                      </a:pPr>
                      <a:r>
                        <a:rPr sz="900" b="0" i="0">
                          <a:solidFill>
                            <a:srgbClr val="202729"/>
                          </a:solidFill>
                          <a:latin typeface="Manrope"/>
                        </a:rPr>
                        <a:t>$1.60</a:t>
                      </a:r>
                    </a:p>
                  </a:txBody>
                  <a:tcPr>
                    <a:solidFill>
                      <a:srgbClr val="E8F5E9"/>
                    </a:solidFill>
                  </a:tcPr>
                </a:tc>
                <a:tc>
                  <a:txBody>
                    <a:bodyPr/>
                    <a:lstStyle/>
                    <a:p>
                      <a:pPr>
                        <a:spcBef>
                          <a:spcPts val="100"/>
                        </a:spcBef>
                        <a:spcAft>
                          <a:spcPts val="100"/>
                        </a:spcAft>
                      </a:pPr>
                      <a:r>
                        <a:rPr sz="900" b="0" i="0">
                          <a:solidFill>
                            <a:srgbClr val="202729"/>
                          </a:solidFill>
                          <a:latin typeface="Manrope"/>
                        </a:rPr>
                        <a:t>3 Docker volumes: mongodb_data, backend_uploads, temp_storage</a:t>
                      </a:r>
                    </a:p>
                  </a:txBody>
                  <a:tcPr>
                    <a:solidFill>
                      <a:srgbClr val="E8F5E9"/>
                    </a:solidFill>
                  </a:tcPr>
                </a:tc>
              </a:tr>
              <a:tr h="213360">
                <a:tc>
                  <a:txBody>
                    <a:bodyPr/>
                    <a:lstStyle/>
                    <a:p>
                      <a:pPr>
                        <a:spcBef>
                          <a:spcPts val="100"/>
                        </a:spcBef>
                        <a:spcAft>
                          <a:spcPts val="100"/>
                        </a:spcAft>
                      </a:pPr>
                      <a:r>
                        <a:rPr sz="900" b="0" i="0">
                          <a:solidFill>
                            <a:srgbClr val="202729"/>
                          </a:solidFill>
                          <a:latin typeface="Manrope"/>
                        </a:rPr>
                        <a:t>Elastic IP</a:t>
                      </a:r>
                    </a:p>
                  </a:txBody>
                  <a:tcPr/>
                </a:tc>
                <a:tc>
                  <a:txBody>
                    <a:bodyPr/>
                    <a:lstStyle/>
                    <a:p>
                      <a:pPr>
                        <a:spcBef>
                          <a:spcPts val="100"/>
                        </a:spcBef>
                        <a:spcAft>
                          <a:spcPts val="100"/>
                        </a:spcAft>
                      </a:pPr>
                      <a:r>
                        <a:rPr sz="900" b="0" i="0">
                          <a:solidFill>
                            <a:srgbClr val="202729"/>
                          </a:solidFill>
                          <a:latin typeface="Manrope"/>
                        </a:rPr>
                        <a:t>$0</a:t>
                      </a:r>
                    </a:p>
                  </a:txBody>
                  <a:tcPr/>
                </a:tc>
                <a:tc>
                  <a:txBody>
                    <a:bodyPr/>
                    <a:lstStyle/>
                    <a:p>
                      <a:pPr>
                        <a:spcBef>
                          <a:spcPts val="100"/>
                        </a:spcBef>
                        <a:spcAft>
                          <a:spcPts val="100"/>
                        </a:spcAft>
                      </a:pPr>
                      <a:r>
                        <a:rPr sz="900" b="0" i="0">
                          <a:solidFill>
                            <a:srgbClr val="202729"/>
                          </a:solidFill>
                          <a:latin typeface="Manrope"/>
                        </a:rPr>
                        <a:t>Free while attached to running instance</a:t>
                      </a:r>
                    </a:p>
                  </a:txBody>
                  <a:tcPr/>
                </a:tc>
              </a:tr>
              <a:tr h="213360">
                <a:tc>
                  <a:txBody>
                    <a:bodyPr/>
                    <a:lstStyle/>
                    <a:p>
                      <a:pPr>
                        <a:spcBef>
                          <a:spcPts val="100"/>
                        </a:spcBef>
                        <a:spcAft>
                          <a:spcPts val="100"/>
                        </a:spcAft>
                      </a:pPr>
                      <a:r>
                        <a:rPr sz="900" b="0" i="0">
                          <a:solidFill>
                            <a:srgbClr val="202729"/>
                          </a:solidFill>
                          <a:latin typeface="Manrope"/>
                        </a:rPr>
                        <a:t>S3 (2 buckets)</a:t>
                      </a:r>
                    </a:p>
                  </a:txBody>
                  <a:tcPr>
                    <a:solidFill>
                      <a:srgbClr val="E8F5E9"/>
                    </a:solidFill>
                  </a:tcPr>
                </a:tc>
                <a:tc>
                  <a:txBody>
                    <a:bodyPr/>
                    <a:lstStyle/>
                    <a:p>
                      <a:pPr>
                        <a:spcBef>
                          <a:spcPts val="100"/>
                        </a:spcBef>
                        <a:spcAft>
                          <a:spcPts val="100"/>
                        </a:spcAft>
                      </a:pPr>
                      <a:r>
                        <a:rPr sz="900" b="0" i="0">
                          <a:solidFill>
                            <a:srgbClr val="202729"/>
                          </a:solidFill>
                          <a:latin typeface="Manrope"/>
                        </a:rPr>
                        <a:t>$0.50</a:t>
                      </a:r>
                    </a:p>
                  </a:txBody>
                  <a:tcPr>
                    <a:solidFill>
                      <a:srgbClr val="E8F5E9"/>
                    </a:solidFill>
                  </a:tcPr>
                </a:tc>
                <a:tc>
                  <a:txBody>
                    <a:bodyPr/>
                    <a:lstStyle/>
                    <a:p>
                      <a:pPr>
                        <a:spcBef>
                          <a:spcPts val="100"/>
                        </a:spcBef>
                        <a:spcAft>
                          <a:spcPts val="100"/>
                        </a:spcAft>
                      </a:pPr>
                      <a:r>
                        <a:rPr sz="900" b="0" i="0">
                          <a:solidFill>
                            <a:srgbClr val="202729"/>
                          </a:solidFill>
                          <a:latin typeface="Manrope"/>
                        </a:rPr>
                        <a:t>Intelligent-Tiering. Minimal storage at demo scale.</a:t>
                      </a:r>
                    </a:p>
                  </a:txBody>
                  <a:tcPr>
                    <a:solidFill>
                      <a:srgbClr val="E8F5E9"/>
                    </a:solidFill>
                  </a:tcPr>
                </a:tc>
              </a:tr>
              <a:tr h="213360">
                <a:tc>
                  <a:txBody>
                    <a:bodyPr/>
                    <a:lstStyle/>
                    <a:p>
                      <a:pPr>
                        <a:spcBef>
                          <a:spcPts val="100"/>
                        </a:spcBef>
                        <a:spcAft>
                          <a:spcPts val="100"/>
                        </a:spcAft>
                      </a:pPr>
                      <a:r>
                        <a:rPr sz="900" b="0" i="0">
                          <a:solidFill>
                            <a:srgbClr val="202729"/>
                          </a:solidFill>
                          <a:latin typeface="Manrope"/>
                        </a:rPr>
                        <a:t>Bedrock (Nova Lite)</a:t>
                      </a:r>
                    </a:p>
                  </a:txBody>
                  <a:tcPr/>
                </a:tc>
                <a:tc>
                  <a:txBody>
                    <a:bodyPr/>
                    <a:lstStyle/>
                    <a:p>
                      <a:pPr>
                        <a:spcBef>
                          <a:spcPts val="100"/>
                        </a:spcBef>
                        <a:spcAft>
                          <a:spcPts val="100"/>
                        </a:spcAft>
                      </a:pPr>
                      <a:r>
                        <a:rPr sz="900" b="0" i="0">
                          <a:solidFill>
                            <a:srgbClr val="202729"/>
                          </a:solidFill>
                          <a:latin typeface="Manrope"/>
                        </a:rPr>
                        <a:t>$2-5</a:t>
                      </a:r>
                    </a:p>
                  </a:txBody>
                  <a:tcPr/>
                </a:tc>
                <a:tc>
                  <a:txBody>
                    <a:bodyPr/>
                    <a:lstStyle/>
                    <a:p>
                      <a:pPr>
                        <a:spcBef>
                          <a:spcPts val="100"/>
                        </a:spcBef>
                        <a:spcAft>
                          <a:spcPts val="100"/>
                        </a:spcAft>
                      </a:pPr>
                      <a:r>
                        <a:rPr sz="900" b="0" i="0">
                          <a:solidFill>
                            <a:srgbClr val="202729"/>
                          </a:solidFill>
                          <a:latin typeface="Manrope"/>
                        </a:rPr>
                        <a:t>Pay per token. $0.06/1K input + $0.24/1K output tokens.</a:t>
                      </a:r>
                    </a:p>
                  </a:txBody>
                  <a:tcPr/>
                </a:tc>
              </a:tr>
              <a:tr h="213360">
                <a:tc>
                  <a:txBody>
                    <a:bodyPr/>
                    <a:lstStyle/>
                    <a:p>
                      <a:pPr>
                        <a:spcBef>
                          <a:spcPts val="100"/>
                        </a:spcBef>
                        <a:spcAft>
                          <a:spcPts val="100"/>
                        </a:spcAft>
                      </a:pPr>
                      <a:r>
                        <a:rPr sz="900" b="0" i="0">
                          <a:solidFill>
                            <a:srgbClr val="202729"/>
                          </a:solidFill>
                          <a:latin typeface="Manrope"/>
                        </a:rPr>
                        <a:t>Translate</a:t>
                      </a:r>
                    </a:p>
                  </a:txBody>
                  <a:tcPr>
                    <a:solidFill>
                      <a:srgbClr val="E8F5E9"/>
                    </a:solidFill>
                  </a:tcPr>
                </a:tc>
                <a:tc>
                  <a:txBody>
                    <a:bodyPr/>
                    <a:lstStyle/>
                    <a:p>
                      <a:pPr>
                        <a:spcBef>
                          <a:spcPts val="100"/>
                        </a:spcBef>
                        <a:spcAft>
                          <a:spcPts val="100"/>
                        </a:spcAft>
                      </a:pPr>
                      <a:r>
                        <a:rPr sz="900" b="0" i="0">
                          <a:solidFill>
                            <a:srgbClr val="202729"/>
                          </a:solidFill>
                          <a:latin typeface="Manrope"/>
                        </a:rPr>
                        <a:t>$0-1</a:t>
                      </a:r>
                    </a:p>
                  </a:txBody>
                  <a:tcPr>
                    <a:solidFill>
                      <a:srgbClr val="E8F5E9"/>
                    </a:solidFill>
                  </a:tcPr>
                </a:tc>
                <a:tc>
                  <a:txBody>
                    <a:bodyPr/>
                    <a:lstStyle/>
                    <a:p>
                      <a:pPr>
                        <a:spcBef>
                          <a:spcPts val="100"/>
                        </a:spcBef>
                        <a:spcAft>
                          <a:spcPts val="100"/>
                        </a:spcAft>
                      </a:pPr>
                      <a:r>
                        <a:rPr sz="900" b="0" i="0">
                          <a:solidFill>
                            <a:srgbClr val="202729"/>
                          </a:solidFill>
                          <a:latin typeface="Manrope"/>
                        </a:rPr>
                        <a:t>2M chars/mo free tier. AI content only (not UI).</a:t>
                      </a:r>
                    </a:p>
                  </a:txBody>
                  <a:tcPr>
                    <a:solidFill>
                      <a:srgbClr val="E8F5E9"/>
                    </a:solidFill>
                  </a:tcPr>
                </a:tc>
              </a:tr>
              <a:tr h="213360">
                <a:tc>
                  <a:txBody>
                    <a:bodyPr/>
                    <a:lstStyle/>
                    <a:p>
                      <a:pPr>
                        <a:spcBef>
                          <a:spcPts val="100"/>
                        </a:spcBef>
                        <a:spcAft>
                          <a:spcPts val="100"/>
                        </a:spcAft>
                      </a:pPr>
                      <a:r>
                        <a:rPr sz="900" b="0" i="0">
                          <a:solidFill>
                            <a:srgbClr val="202729"/>
                          </a:solidFill>
                          <a:latin typeface="Manrope"/>
                        </a:rPr>
                        <a:t>Polly</a:t>
                      </a:r>
                    </a:p>
                  </a:txBody>
                  <a:tcPr/>
                </a:tc>
                <a:tc>
                  <a:txBody>
                    <a:bodyPr/>
                    <a:lstStyle/>
                    <a:p>
                      <a:pPr>
                        <a:spcBef>
                          <a:spcPts val="100"/>
                        </a:spcBef>
                        <a:spcAft>
                          <a:spcPts val="100"/>
                        </a:spcAft>
                      </a:pPr>
                      <a:r>
                        <a:rPr sz="900" b="0" i="0">
                          <a:solidFill>
                            <a:srgbClr val="202729"/>
                          </a:solidFill>
                          <a:latin typeface="Manrope"/>
                        </a:rPr>
                        <a:t>$0-0.50</a:t>
                      </a:r>
                    </a:p>
                  </a:txBody>
                  <a:tcPr/>
                </a:tc>
                <a:tc>
                  <a:txBody>
                    <a:bodyPr/>
                    <a:lstStyle/>
                    <a:p>
                      <a:pPr>
                        <a:spcBef>
                          <a:spcPts val="100"/>
                        </a:spcBef>
                        <a:spcAft>
                          <a:spcPts val="100"/>
                        </a:spcAft>
                      </a:pPr>
                      <a:r>
                        <a:rPr sz="900" b="0" i="0">
                          <a:solidFill>
                            <a:srgbClr val="202729"/>
                          </a:solidFill>
                          <a:latin typeface="Manrope"/>
                        </a:rPr>
                        <a:t>5M chars/mo free tier. S3 caching reduces repeat calls.</a:t>
                      </a:r>
                    </a:p>
                  </a:txBody>
                  <a:tcPr/>
                </a:tc>
              </a:tr>
              <a:tr h="213360">
                <a:tc>
                  <a:txBody>
                    <a:bodyPr/>
                    <a:lstStyle/>
                    <a:p>
                      <a:pPr>
                        <a:spcBef>
                          <a:spcPts val="100"/>
                        </a:spcBef>
                        <a:spcAft>
                          <a:spcPts val="100"/>
                        </a:spcAft>
                      </a:pPr>
                      <a:r>
                        <a:rPr sz="900" b="0" i="0">
                          <a:solidFill>
                            <a:srgbClr val="202729"/>
                          </a:solidFill>
                          <a:latin typeface="Manrope"/>
                        </a:rPr>
                        <a:t>CloudWatch</a:t>
                      </a:r>
                    </a:p>
                  </a:txBody>
                  <a:tcPr>
                    <a:solidFill>
                      <a:srgbClr val="E8F5E9"/>
                    </a:solidFill>
                  </a:tcPr>
                </a:tc>
                <a:tc>
                  <a:txBody>
                    <a:bodyPr/>
                    <a:lstStyle/>
                    <a:p>
                      <a:pPr>
                        <a:spcBef>
                          <a:spcPts val="100"/>
                        </a:spcBef>
                        <a:spcAft>
                          <a:spcPts val="100"/>
                        </a:spcAft>
                      </a:pPr>
                      <a:r>
                        <a:rPr sz="900" b="0" i="0">
                          <a:solidFill>
                            <a:srgbClr val="202729"/>
                          </a:solidFill>
                          <a:latin typeface="Manrope"/>
                        </a:rPr>
                        <a:t>$0-0.50</a:t>
                      </a:r>
                    </a:p>
                  </a:txBody>
                  <a:tcPr>
                    <a:solidFill>
                      <a:srgbClr val="E8F5E9"/>
                    </a:solidFill>
                  </a:tcPr>
                </a:tc>
                <a:tc>
                  <a:txBody>
                    <a:bodyPr/>
                    <a:lstStyle/>
                    <a:p>
                      <a:pPr>
                        <a:spcBef>
                          <a:spcPts val="100"/>
                        </a:spcBef>
                        <a:spcAft>
                          <a:spcPts val="100"/>
                        </a:spcAft>
                      </a:pPr>
                      <a:r>
                        <a:rPr sz="900" b="0" i="0">
                          <a:solidFill>
                            <a:srgbClr val="202729"/>
                          </a:solidFill>
                          <a:latin typeface="Manrope"/>
                        </a:rPr>
                        <a:t>5 GB/mo free tier. 2 log groups.</a:t>
                      </a:r>
                    </a:p>
                  </a:txBody>
                  <a:tcPr>
                    <a:solidFill>
                      <a:srgbClr val="E8F5E9"/>
                    </a:solidFill>
                  </a:tcPr>
                </a:tc>
              </a:tr>
              <a:tr h="213360">
                <a:tc>
                  <a:txBody>
                    <a:bodyPr/>
                    <a:lstStyle/>
                    <a:p>
                      <a:pPr>
                        <a:spcBef>
                          <a:spcPts val="100"/>
                        </a:spcBef>
                        <a:spcAft>
                          <a:spcPts val="100"/>
                        </a:spcAft>
                      </a:pPr>
                      <a:r>
                        <a:rPr sz="900" b="0" i="0">
                          <a:solidFill>
                            <a:srgbClr val="202729"/>
                          </a:solidFill>
                          <a:latin typeface="Manrope"/>
                        </a:rPr>
                        <a:t>Secrets Manager</a:t>
                      </a:r>
                    </a:p>
                  </a:txBody>
                  <a:tcPr/>
                </a:tc>
                <a:tc>
                  <a:txBody>
                    <a:bodyPr/>
                    <a:lstStyle/>
                    <a:p>
                      <a:pPr>
                        <a:spcBef>
                          <a:spcPts val="100"/>
                        </a:spcBef>
                        <a:spcAft>
                          <a:spcPts val="100"/>
                        </a:spcAft>
                      </a:pPr>
                      <a:r>
                        <a:rPr sz="900" b="0" i="0">
                          <a:solidFill>
                            <a:srgbClr val="202729"/>
                          </a:solidFill>
                          <a:latin typeface="Manrope"/>
                        </a:rPr>
                        <a:t>$0.40</a:t>
                      </a:r>
                    </a:p>
                  </a:txBody>
                  <a:tcPr/>
                </a:tc>
                <a:tc>
                  <a:txBody>
                    <a:bodyPr/>
                    <a:lstStyle/>
                    <a:p>
                      <a:pPr>
                        <a:spcBef>
                          <a:spcPts val="100"/>
                        </a:spcBef>
                        <a:spcAft>
                          <a:spcPts val="100"/>
                        </a:spcAft>
                      </a:pPr>
                      <a:r>
                        <a:rPr sz="900" b="0" i="0">
                          <a:solidFill>
                            <a:srgbClr val="202729"/>
                          </a:solidFill>
                          <a:latin typeface="Manrope"/>
                        </a:rPr>
                        <a:t>1 secret (egramsabha/prod with 4 JWT keys)</a:t>
                      </a:r>
                    </a:p>
                  </a:txBody>
                  <a:tcPr/>
                </a:tc>
              </a:tr>
              <a:tr h="213360">
                <a:tc>
                  <a:txBody>
                    <a:bodyPr/>
                    <a:lstStyle/>
                    <a:p>
                      <a:pPr>
                        <a:spcBef>
                          <a:spcPts val="100"/>
                        </a:spcBef>
                        <a:spcAft>
                          <a:spcPts val="100"/>
                        </a:spcAft>
                      </a:pPr>
                      <a:r>
                        <a:rPr sz="900" b="0" i="0">
                          <a:solidFill>
                            <a:srgbClr val="202729"/>
                          </a:solidFill>
                          <a:latin typeface="Manrope"/>
                        </a:rPr>
                        <a:t>API Gateway</a:t>
                      </a:r>
                    </a:p>
                  </a:txBody>
                  <a:tcPr>
                    <a:solidFill>
                      <a:srgbClr val="E8F5E9"/>
                    </a:solidFill>
                  </a:tcPr>
                </a:tc>
                <a:tc>
                  <a:txBody>
                    <a:bodyPr/>
                    <a:lstStyle/>
                    <a:p>
                      <a:pPr>
                        <a:spcBef>
                          <a:spcPts val="100"/>
                        </a:spcBef>
                        <a:spcAft>
                          <a:spcPts val="100"/>
                        </a:spcAft>
                      </a:pPr>
                      <a:r>
                        <a:rPr sz="900" b="0" i="0">
                          <a:solidFill>
                            <a:srgbClr val="202729"/>
                          </a:solidFill>
                          <a:latin typeface="Manrope"/>
                        </a:rPr>
                        <a:t>$0</a:t>
                      </a:r>
                    </a:p>
                  </a:txBody>
                  <a:tcPr>
                    <a:solidFill>
                      <a:srgbClr val="E8F5E9"/>
                    </a:solidFill>
                  </a:tcPr>
                </a:tc>
                <a:tc>
                  <a:txBody>
                    <a:bodyPr/>
                    <a:lstStyle/>
                    <a:p>
                      <a:pPr>
                        <a:spcBef>
                          <a:spcPts val="100"/>
                        </a:spcBef>
                        <a:spcAft>
                          <a:spcPts val="100"/>
                        </a:spcAft>
                      </a:pPr>
                      <a:r>
                        <a:rPr sz="900" b="0" i="0">
                          <a:solidFill>
                            <a:srgbClr val="202729"/>
                          </a:solidFill>
                          <a:latin typeface="Manrope"/>
                        </a:rPr>
                        <a:t>1M calls/mo free tier. REST API with usage plan.</a:t>
                      </a:r>
                    </a:p>
                  </a:txBody>
                  <a:tcPr>
                    <a:solidFill>
                      <a:srgbClr val="E8F5E9"/>
                    </a:solidFill>
                  </a:tcPr>
                </a:tc>
              </a:tr>
              <a:tr h="213360">
                <a:tc>
                  <a:txBody>
                    <a:bodyPr/>
                    <a:lstStyle/>
                    <a:p>
                      <a:pPr>
                        <a:spcBef>
                          <a:spcPts val="100"/>
                        </a:spcBef>
                        <a:spcAft>
                          <a:spcPts val="100"/>
                        </a:spcAft>
                      </a:pPr>
                      <a:r>
                        <a:rPr sz="900" b="0" i="0">
                          <a:solidFill>
                            <a:srgbClr val="202729"/>
                          </a:solidFill>
                          <a:latin typeface="Manrope"/>
                        </a:rPr>
                        <a:t>TOTAL</a:t>
                      </a:r>
                    </a:p>
                  </a:txBody>
                  <a:tcPr/>
                </a:tc>
                <a:tc>
                  <a:txBody>
                    <a:bodyPr/>
                    <a:lstStyle/>
                    <a:p>
                      <a:pPr>
                        <a:spcBef>
                          <a:spcPts val="100"/>
                        </a:spcBef>
                        <a:spcAft>
                          <a:spcPts val="100"/>
                        </a:spcAft>
                      </a:pPr>
                      <a:r>
                        <a:rPr sz="900" b="0" i="0">
                          <a:solidFill>
                            <a:srgbClr val="202729"/>
                          </a:solidFill>
                          <a:latin typeface="Manrope"/>
                        </a:rPr>
                        <a:t>$15-20/month</a:t>
                      </a:r>
                    </a:p>
                  </a:txBody>
                  <a:tcPr/>
                </a:tc>
                <a:tc>
                  <a:txBody>
                    <a:bodyPr/>
                    <a:lstStyle/>
                    <a:p>
                      <a:pPr>
                        <a:spcBef>
                          <a:spcPts val="100"/>
                        </a:spcBef>
                        <a:spcAft>
                          <a:spcPts val="100"/>
                        </a:spcAft>
                      </a:pPr>
                      <a:r>
                        <a:rPr sz="900" b="0" i="0">
                          <a:solidFill>
                            <a:srgbClr val="202729"/>
                          </a:solidFill>
                          <a:latin typeface="Manrope"/>
                        </a:rPr>
                        <a:t/>
                      </a:r>
                    </a:p>
                  </a:txBody>
                  <a:tcPr/>
                </a:tc>
              </a:tr>
            </a:tbl>
          </a:graphicData>
        </a:graphic>
      </p:graphicFrame>
      <p:sp>
        <p:nvSpPr>
          <p:cNvPr id="120" name="TextBox 119"/>
          <p:cNvSpPr txBox="1"/>
          <p:nvPr/>
        </p:nvSpPr>
        <p:spPr>
          <a:xfrm>
            <a:off x="4663440" y="1234440"/>
            <a:ext cx="4206240" cy="274320"/>
          </a:xfrm>
          <a:prstGeom prst="rect">
            <a:avLst/>
          </a:prstGeom>
          <a:noFill/>
        </p:spPr>
        <p:txBody>
          <a:bodyPr wrap="square">
            <a:spAutoFit/>
          </a:bodyPr>
          <a:lstStyle/>
          <a:p>
            <a:r>
              <a:rPr sz="1200" b="1" i="0">
                <a:solidFill>
                  <a:srgbClr val="2E7D32"/>
                </a:solidFill>
                <a:latin typeface="Manrope"/>
              </a:rPr>
              <a:t>Scale Projections</a:t>
            </a:r>
          </a:p>
        </p:txBody>
      </p:sp>
      <p:graphicFrame>
        <p:nvGraphicFramePr>
          <p:cNvPr id="121" name="Table 120"/>
          <p:cNvGraphicFramePr>
            <a:graphicFrameLocks noGrp="1"/>
          </p:cNvGraphicFramePr>
          <p:nvPr/>
        </p:nvGraphicFramePr>
        <p:xfrm>
          <a:off x="4663440" y="1554480"/>
          <a:ext cx="4206240" cy="1371600"/>
        </p:xfrm>
        <a:graphic>
          <a:graphicData uri="http://schemas.openxmlformats.org/drawingml/2006/table">
            <a:tbl>
              <a:tblPr firstRow="1" bandRow="1">
                <a:tableStyleId>{5C22544A-7EE6-4342-B048-85BDC9FD1C3A}</a:tableStyleId>
              </a:tblPr>
              <a:tblGrid>
                <a:gridCol w="914400"/>
                <a:gridCol w="1280160"/>
                <a:gridCol w="914400"/>
                <a:gridCol w="1097280"/>
              </a:tblGrid>
              <a:tr h="274320">
                <a:tc>
                  <a:txBody>
                    <a:bodyPr/>
                    <a:lstStyle/>
                    <a:p>
                      <a:pPr>
                        <a:spcBef>
                          <a:spcPts val="100"/>
                        </a:spcBef>
                        <a:spcAft>
                          <a:spcPts val="100"/>
                        </a:spcAft>
                      </a:pPr>
                      <a:r>
                        <a:rPr sz="1000" b="1" i="0">
                          <a:solidFill>
                            <a:srgbClr val="FFFFFF"/>
                          </a:solidFill>
                          <a:latin typeface="Manrope"/>
                        </a:rPr>
                        <a:t>Phase</a:t>
                      </a:r>
                    </a:p>
                  </a:txBody>
                  <a:tcPr>
                    <a:solidFill>
                      <a:srgbClr val="2E7D32"/>
                    </a:solidFill>
                  </a:tcPr>
                </a:tc>
                <a:tc>
                  <a:txBody>
                    <a:bodyPr/>
                    <a:lstStyle/>
                    <a:p>
                      <a:pPr>
                        <a:spcBef>
                          <a:spcPts val="100"/>
                        </a:spcBef>
                        <a:spcAft>
                          <a:spcPts val="100"/>
                        </a:spcAft>
                      </a:pPr>
                      <a:r>
                        <a:rPr sz="1000" b="1" i="0">
                          <a:solidFill>
                            <a:srgbClr val="FFFFFF"/>
                          </a:solidFill>
                          <a:latin typeface="Manrope"/>
                        </a:rPr>
                        <a:t>Scale</a:t>
                      </a:r>
                    </a:p>
                  </a:txBody>
                  <a:tcPr>
                    <a:solidFill>
                      <a:srgbClr val="2E7D32"/>
                    </a:solidFill>
                  </a:tcPr>
                </a:tc>
                <a:tc>
                  <a:txBody>
                    <a:bodyPr/>
                    <a:lstStyle/>
                    <a:p>
                      <a:pPr>
                        <a:spcBef>
                          <a:spcPts val="100"/>
                        </a:spcBef>
                        <a:spcAft>
                          <a:spcPts val="100"/>
                        </a:spcAft>
                      </a:pPr>
                      <a:r>
                        <a:rPr sz="1000" b="1" i="0">
                          <a:solidFill>
                            <a:srgbClr val="FFFFFF"/>
                          </a:solidFill>
                          <a:latin typeface="Manrope"/>
                        </a:rPr>
                        <a:t>Monthly</a:t>
                      </a:r>
                    </a:p>
                  </a:txBody>
                  <a:tcPr>
                    <a:solidFill>
                      <a:srgbClr val="2E7D32"/>
                    </a:solidFill>
                  </a:tcPr>
                </a:tc>
                <a:tc>
                  <a:txBody>
                    <a:bodyPr/>
                    <a:lstStyle/>
                    <a:p>
                      <a:pPr>
                        <a:spcBef>
                          <a:spcPts val="100"/>
                        </a:spcBef>
                        <a:spcAft>
                          <a:spcPts val="100"/>
                        </a:spcAft>
                      </a:pPr>
                      <a:r>
                        <a:rPr sz="1000" b="1" i="0">
                          <a:solidFill>
                            <a:srgbClr val="FFFFFF"/>
                          </a:solidFill>
                          <a:latin typeface="Manrope"/>
                        </a:rPr>
                        <a:t>Per Citizen/Yr</a:t>
                      </a:r>
                    </a:p>
                  </a:txBody>
                  <a:tcPr>
                    <a:solidFill>
                      <a:srgbClr val="2E7D32"/>
                    </a:solidFill>
                  </a:tcPr>
                </a:tc>
              </a:tr>
              <a:tr h="274320">
                <a:tc>
                  <a:txBody>
                    <a:bodyPr/>
                    <a:lstStyle/>
                    <a:p>
                      <a:pPr>
                        <a:spcBef>
                          <a:spcPts val="100"/>
                        </a:spcBef>
                        <a:spcAft>
                          <a:spcPts val="100"/>
                        </a:spcAft>
                      </a:pPr>
                      <a:r>
                        <a:rPr sz="900" b="0" i="0">
                          <a:solidFill>
                            <a:srgbClr val="202729"/>
                          </a:solidFill>
                          <a:latin typeface="Manrope"/>
                        </a:rPr>
                        <a:t>Hackathon</a:t>
                      </a:r>
                    </a:p>
                  </a:txBody>
                  <a:tcPr/>
                </a:tc>
                <a:tc>
                  <a:txBody>
                    <a:bodyPr/>
                    <a:lstStyle/>
                    <a:p>
                      <a:pPr>
                        <a:spcBef>
                          <a:spcPts val="100"/>
                        </a:spcBef>
                        <a:spcAft>
                          <a:spcPts val="100"/>
                        </a:spcAft>
                      </a:pPr>
                      <a:r>
                        <a:rPr sz="900" b="0" i="0">
                          <a:solidFill>
                            <a:srgbClr val="202729"/>
                          </a:solidFill>
                          <a:latin typeface="Manrope"/>
                        </a:rPr>
                        <a:t>1-5 panchayats</a:t>
                      </a:r>
                    </a:p>
                  </a:txBody>
                  <a:tcPr/>
                </a:tc>
                <a:tc>
                  <a:txBody>
                    <a:bodyPr/>
                    <a:lstStyle/>
                    <a:p>
                      <a:pPr>
                        <a:spcBef>
                          <a:spcPts val="100"/>
                        </a:spcBef>
                        <a:spcAft>
                          <a:spcPts val="100"/>
                        </a:spcAft>
                      </a:pPr>
                      <a:r>
                        <a:rPr sz="900" b="0" i="0">
                          <a:solidFill>
                            <a:srgbClr val="202729"/>
                          </a:solidFill>
                          <a:latin typeface="Manrope"/>
                        </a:rPr>
                        <a:t>$15-20</a:t>
                      </a:r>
                    </a:p>
                  </a:txBody>
                  <a:tcPr/>
                </a:tc>
                <a:tc>
                  <a:txBody>
                    <a:bodyPr/>
                    <a:lstStyle/>
                    <a:p>
                      <a:pPr>
                        <a:spcBef>
                          <a:spcPts val="100"/>
                        </a:spcBef>
                        <a:spcAft>
                          <a:spcPts val="100"/>
                        </a:spcAft>
                      </a:pPr>
                      <a:r>
                        <a:rPr sz="900" b="0" i="0">
                          <a:solidFill>
                            <a:srgbClr val="202729"/>
                          </a:solidFill>
                          <a:latin typeface="Manrope"/>
                        </a:rPr>
                        <a:t>--</a:t>
                      </a:r>
                    </a:p>
                  </a:txBody>
                  <a:tcPr/>
                </a:tc>
              </a:tr>
              <a:tr h="274320">
                <a:tc>
                  <a:txBody>
                    <a:bodyPr/>
                    <a:lstStyle/>
                    <a:p>
                      <a:pPr>
                        <a:spcBef>
                          <a:spcPts val="100"/>
                        </a:spcBef>
                        <a:spcAft>
                          <a:spcPts val="100"/>
                        </a:spcAft>
                      </a:pPr>
                      <a:r>
                        <a:rPr sz="900" b="0" i="0">
                          <a:solidFill>
                            <a:srgbClr val="202729"/>
                          </a:solidFill>
                          <a:latin typeface="Manrope"/>
                        </a:rPr>
                        <a:t>Pilot (100 panchayats)</a:t>
                      </a:r>
                    </a:p>
                  </a:txBody>
                  <a:tcPr>
                    <a:solidFill>
                      <a:srgbClr val="E8F5E9"/>
                    </a:solidFill>
                  </a:tcPr>
                </a:tc>
                <a:tc>
                  <a:txBody>
                    <a:bodyPr/>
                    <a:lstStyle/>
                    <a:p>
                      <a:pPr>
                        <a:spcBef>
                          <a:spcPts val="100"/>
                        </a:spcBef>
                        <a:spcAft>
                          <a:spcPts val="100"/>
                        </a:spcAft>
                      </a:pPr>
                      <a:r>
                        <a:rPr sz="900" b="0" i="0">
                          <a:solidFill>
                            <a:srgbClr val="202729"/>
                          </a:solidFill>
                          <a:latin typeface="Manrope"/>
                        </a:rPr>
                        <a:t>Config changes only: STORAGE_BACKEND=s3, USE_DOCUMENTDB=true</a:t>
                      </a:r>
                    </a:p>
                  </a:txBody>
                  <a:tcPr>
                    <a:solidFill>
                      <a:srgbClr val="E8F5E9"/>
                    </a:solidFill>
                  </a:tcPr>
                </a:tc>
                <a:tc>
                  <a:txBody>
                    <a:bodyPr/>
                    <a:lstStyle/>
                    <a:p>
                      <a:pPr>
                        <a:spcBef>
                          <a:spcPts val="100"/>
                        </a:spcBef>
                        <a:spcAft>
                          <a:spcPts val="100"/>
                        </a:spcAft>
                      </a:pPr>
                      <a:r>
                        <a:rPr sz="900" b="0" i="0">
                          <a:solidFill>
                            <a:srgbClr val="202729"/>
                          </a:solidFill>
                          <a:latin typeface="Manrope"/>
                        </a:rPr>
                        <a:t>$320</a:t>
                      </a:r>
                    </a:p>
                  </a:txBody>
                  <a:tcPr>
                    <a:solidFill>
                      <a:srgbClr val="E8F5E9"/>
                    </a:solidFill>
                  </a:tcPr>
                </a:tc>
                <a:tc>
                  <a:txBody>
                    <a:bodyPr/>
                    <a:lstStyle/>
                    <a:p>
                      <a:pPr>
                        <a:spcBef>
                          <a:spcPts val="100"/>
                        </a:spcBef>
                        <a:spcAft>
                          <a:spcPts val="100"/>
                        </a:spcAft>
                      </a:pPr>
                      <a:r>
                        <a:rPr sz="900" b="0" i="0">
                          <a:solidFill>
                            <a:srgbClr val="202729"/>
                          </a:solidFill>
                          <a:latin typeface="Manrope"/>
                        </a:rPr>
                        <a:t>~$3/citizen/yr</a:t>
                      </a:r>
                    </a:p>
                  </a:txBody>
                  <a:tcPr>
                    <a:solidFill>
                      <a:srgbClr val="E8F5E9"/>
                    </a:solidFill>
                  </a:tcPr>
                </a:tc>
              </a:tr>
              <a:tr h="274320">
                <a:tc>
                  <a:txBody>
                    <a:bodyPr/>
                    <a:lstStyle/>
                    <a:p>
                      <a:pPr>
                        <a:spcBef>
                          <a:spcPts val="100"/>
                        </a:spcBef>
                        <a:spcAft>
                          <a:spcPts val="100"/>
                        </a:spcAft>
                      </a:pPr>
                      <a:r>
                        <a:rPr sz="900" b="0" i="0">
                          <a:solidFill>
                            <a:srgbClr val="202729"/>
                          </a:solidFill>
                          <a:latin typeface="Manrope"/>
                        </a:rPr>
                        <a:t>State (5K panchayats)</a:t>
                      </a:r>
                    </a:p>
                  </a:txBody>
                  <a:tcPr/>
                </a:tc>
                <a:tc>
                  <a:txBody>
                    <a:bodyPr/>
                    <a:lstStyle/>
                    <a:p>
                      <a:pPr>
                        <a:spcBef>
                          <a:spcPts val="100"/>
                        </a:spcBef>
                        <a:spcAft>
                          <a:spcPts val="100"/>
                        </a:spcAft>
                      </a:pPr>
                      <a:r>
                        <a:rPr sz="900" b="0" i="0">
                          <a:solidFill>
                            <a:srgbClr val="202729"/>
                          </a:solidFill>
                          <a:latin typeface="Manrope"/>
                        </a:rPr>
                        <a:t>ECS Fargate auto-scaling, CloudFront CDN, multi-AZ DocumentDB</a:t>
                      </a:r>
                    </a:p>
                  </a:txBody>
                  <a:tcPr/>
                </a:tc>
                <a:tc>
                  <a:txBody>
                    <a:bodyPr/>
                    <a:lstStyle/>
                    <a:p>
                      <a:pPr>
                        <a:spcBef>
                          <a:spcPts val="100"/>
                        </a:spcBef>
                        <a:spcAft>
                          <a:spcPts val="100"/>
                        </a:spcAft>
                      </a:pPr>
                      <a:r>
                        <a:rPr sz="900" b="0" i="0">
                          <a:solidFill>
                            <a:srgbClr val="202729"/>
                          </a:solidFill>
                          <a:latin typeface="Manrope"/>
                        </a:rPr>
                        <a:t>$3,250</a:t>
                      </a:r>
                    </a:p>
                  </a:txBody>
                  <a:tcPr/>
                </a:tc>
                <a:tc>
                  <a:txBody>
                    <a:bodyPr/>
                    <a:lstStyle/>
                    <a:p>
                      <a:pPr>
                        <a:spcBef>
                          <a:spcPts val="100"/>
                        </a:spcBef>
                        <a:spcAft>
                          <a:spcPts val="100"/>
                        </a:spcAft>
                      </a:pPr>
                      <a:r>
                        <a:rPr sz="900" b="0" i="0">
                          <a:solidFill>
                            <a:srgbClr val="202729"/>
                          </a:solidFill>
                          <a:latin typeface="Manrope"/>
                        </a:rPr>
                        <a:t>~$0.80/citizen/yr</a:t>
                      </a:r>
                    </a:p>
                  </a:txBody>
                  <a:tcPr/>
                </a:tc>
              </a:tr>
              <a:tr h="274320">
                <a:tc>
                  <a:txBody>
                    <a:bodyPr/>
                    <a:lstStyle/>
                    <a:p>
                      <a:pPr>
                        <a:spcBef>
                          <a:spcPts val="100"/>
                        </a:spcBef>
                        <a:spcAft>
                          <a:spcPts val="100"/>
                        </a:spcAft>
                      </a:pPr>
                      <a:r>
                        <a:rPr sz="900" b="0" i="0">
                          <a:solidFill>
                            <a:srgbClr val="202729"/>
                          </a:solidFill>
                          <a:latin typeface="Manrope"/>
                        </a:rPr>
                        <a:t>National (250K panchayats)</a:t>
                      </a:r>
                    </a:p>
                  </a:txBody>
                  <a:tcPr>
                    <a:solidFill>
                      <a:srgbClr val="E8F5E9"/>
                    </a:solidFill>
                  </a:tcPr>
                </a:tc>
                <a:tc>
                  <a:txBody>
                    <a:bodyPr/>
                    <a:lstStyle/>
                    <a:p>
                      <a:pPr>
                        <a:spcBef>
                          <a:spcPts val="100"/>
                        </a:spcBef>
                        <a:spcAft>
                          <a:spcPts val="100"/>
                        </a:spcAft>
                      </a:pPr>
                      <a:r>
                        <a:rPr sz="900" b="0" i="0">
                          <a:solidFill>
                            <a:srgbClr val="202729"/>
                          </a:solidFill>
                          <a:latin typeface="Manrope"/>
                        </a:rPr>
                        <a:t>Multi-region, full service mesh, Bedrock provisioned throughput</a:t>
                      </a:r>
                    </a:p>
                  </a:txBody>
                  <a:tcPr>
                    <a:solidFill>
                      <a:srgbClr val="E8F5E9"/>
                    </a:solidFill>
                  </a:tcPr>
                </a:tc>
                <a:tc>
                  <a:txBody>
                    <a:bodyPr/>
                    <a:lstStyle/>
                    <a:p>
                      <a:pPr>
                        <a:spcBef>
                          <a:spcPts val="100"/>
                        </a:spcBef>
                        <a:spcAft>
                          <a:spcPts val="100"/>
                        </a:spcAft>
                      </a:pPr>
                      <a:r>
                        <a:rPr sz="900" b="0" i="0">
                          <a:solidFill>
                            <a:srgbClr val="202729"/>
                          </a:solidFill>
                          <a:latin typeface="Manrope"/>
                        </a:rPr>
                        <a:t>$30-37K</a:t>
                      </a:r>
                    </a:p>
                  </a:txBody>
                  <a:tcPr>
                    <a:solidFill>
                      <a:srgbClr val="E8F5E9"/>
                    </a:solidFill>
                  </a:tcPr>
                </a:tc>
                <a:tc>
                  <a:txBody>
                    <a:bodyPr/>
                    <a:lstStyle/>
                    <a:p>
                      <a:pPr>
                        <a:spcBef>
                          <a:spcPts val="100"/>
                        </a:spcBef>
                        <a:spcAft>
                          <a:spcPts val="100"/>
                        </a:spcAft>
                      </a:pPr>
                      <a:r>
                        <a:rPr sz="900" b="0" i="0">
                          <a:solidFill>
                            <a:srgbClr val="202729"/>
                          </a:solidFill>
                          <a:latin typeface="Manrope"/>
                        </a:rPr>
                        <a:t>$0.60-0.72/citizen/yr</a:t>
                      </a:r>
                    </a:p>
                  </a:txBody>
                  <a:tcPr>
                    <a:solidFill>
                      <a:srgbClr val="E8F5E9"/>
                    </a:solidFill>
                  </a:tcPr>
                </a:tc>
              </a:tr>
            </a:tbl>
          </a:graphicData>
        </a:graphic>
      </p:graphicFrame>
      <p:sp>
        <p:nvSpPr>
          <p:cNvPr id="122" name="Rounded Rectangle 121"/>
          <p:cNvSpPr/>
          <p:nvPr/>
        </p:nvSpPr>
        <p:spPr>
          <a:xfrm>
            <a:off x="4663440" y="3108960"/>
            <a:ext cx="4206240" cy="54864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Manrope"/>
              </a:rPr>
              <a:t>~100x Cost Reduction</a:t>
            </a:r>
          </a:p>
          <a:p>
            <a:pPr algn="ctr"/>
            <a:r>
              <a:rPr sz="900" b="0" i="0">
                <a:solidFill>
                  <a:srgbClr val="FFFFFF"/>
                </a:solidFill>
                <a:latin typeface="Manrope"/>
              </a:rPr>
              <a:t>Rs 500+/meeting (physical) vs Rs 5/citizen/year (digital)</a:t>
            </a:r>
          </a:p>
        </p:txBody>
      </p:sp>
      <p:sp>
        <p:nvSpPr>
          <p:cNvPr id="123" name="TextBox 122"/>
          <p:cNvSpPr txBox="1"/>
          <p:nvPr/>
        </p:nvSpPr>
        <p:spPr>
          <a:xfrm>
            <a:off x="4663440" y="3749039"/>
            <a:ext cx="4206240" cy="914400"/>
          </a:xfrm>
          <a:prstGeom prst="rect">
            <a:avLst/>
          </a:prstGeom>
          <a:noFill/>
        </p:spPr>
        <p:txBody>
          <a:bodyPr wrap="square">
            <a:spAutoFit/>
          </a:bodyPr>
          <a:lstStyle/>
          <a:p>
            <a:r>
              <a:rPr sz="900" b="1" i="0">
                <a:solidFill>
                  <a:srgbClr val="202729"/>
                </a:solidFill>
                <a:latin typeface="Manrope"/>
              </a:rPr>
              <a:t>Cost Optimizations:</a:t>
            </a:r>
          </a:p>
          <a:p>
            <a:pPr>
              <a:spcBef>
                <a:spcPts val="200"/>
              </a:spcBef>
              <a:spcAft>
                <a:spcPts val="100"/>
              </a:spcAft>
            </a:pPr>
            <a:r>
              <a:rPr sz="750" b="0" i="0">
                <a:solidFill>
                  <a:srgbClr val="202729"/>
                </a:solidFill>
                <a:latin typeface="Manrope"/>
              </a:rPr>
              <a:t>S3 Intelligent-Tiering for auto storage class</a:t>
            </a:r>
          </a:p>
          <a:p>
            <a:pPr>
              <a:spcBef>
                <a:spcPts val="200"/>
              </a:spcBef>
              <a:spcAft>
                <a:spcPts val="100"/>
              </a:spcAft>
            </a:pPr>
            <a:r>
              <a:rPr sz="750" b="0" i="0">
                <a:solidFill>
                  <a:srgbClr val="202729"/>
                </a:solidFill>
                <a:latin typeface="Manrope"/>
              </a:rPr>
              <a:t>Polly S3 caching (generate once, serve many)</a:t>
            </a:r>
          </a:p>
          <a:p>
            <a:pPr>
              <a:spcBef>
                <a:spcPts val="200"/>
              </a:spcBef>
              <a:spcAft>
                <a:spcPts val="100"/>
              </a:spcAft>
            </a:pPr>
            <a:r>
              <a:rPr sz="750" b="0" i="0">
                <a:solidFill>
                  <a:srgbClr val="202729"/>
                </a:solidFill>
                <a:latin typeface="Manrope"/>
              </a:rPr>
              <a:t>API Gateway throttling (100 req/s)</a:t>
            </a:r>
          </a:p>
          <a:p>
            <a:pPr>
              <a:spcBef>
                <a:spcPts val="200"/>
              </a:spcBef>
              <a:spcAft>
                <a:spcPts val="100"/>
              </a:spcAft>
            </a:pPr>
            <a:r>
              <a:rPr sz="750" b="0" i="0">
                <a:solidFill>
                  <a:srgbClr val="202729"/>
                </a:solidFill>
                <a:latin typeface="Manrope"/>
              </a:rPr>
              <a:t>Bedrock low temperature (0.3) for efficiency</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p24"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23" name="TextBox 122"/>
          <p:cNvSpPr txBox="1"/>
          <p:nvPr/>
        </p:nvSpPr>
        <p:spPr>
          <a:xfrm>
            <a:off x="311700" y="863550"/>
            <a:ext cx="8520600" cy="365760"/>
          </a:xfrm>
          <a:prstGeom prst="rect">
            <a:avLst/>
          </a:prstGeom>
          <a:noFill/>
        </p:spPr>
        <p:txBody>
          <a:bodyPr wrap="square">
            <a:spAutoFit/>
          </a:bodyPr>
          <a:lstStyle/>
          <a:p>
            <a:r>
              <a:rPr sz="2200" b="1" i="0">
                <a:solidFill>
                  <a:srgbClr val="202729"/>
                </a:solidFill>
                <a:latin typeface="Manrope"/>
              </a:rPr>
              <a:t>Snapshots of the Prototype</a:t>
            </a:r>
          </a:p>
        </p:txBody>
      </p:sp>
      <p:pic>
        <p:nvPicPr>
          <p:cNvPr id="124" name="Picture 123" descr="01_citizen_login.png"/>
          <p:cNvPicPr>
            <a:picLocks noChangeAspect="1"/>
          </p:cNvPicPr>
          <p:nvPr/>
        </p:nvPicPr>
        <p:blipFill>
          <a:blip r:embed="rId4"/>
          <a:stretch>
            <a:fillRect/>
          </a:stretch>
        </p:blipFill>
        <p:spPr>
          <a:xfrm>
            <a:off x="274320" y="1371600"/>
            <a:ext cx="2743200" cy="1371600"/>
          </a:xfrm>
          <a:prstGeom prst="rect">
            <a:avLst/>
          </a:prstGeom>
        </p:spPr>
      </p:pic>
      <p:sp>
        <p:nvSpPr>
          <p:cNvPr id="125" name="TextBox 124"/>
          <p:cNvSpPr txBox="1"/>
          <p:nvPr/>
        </p:nvSpPr>
        <p:spPr>
          <a:xfrm>
            <a:off x="274320" y="2743200"/>
            <a:ext cx="2743200" cy="274320"/>
          </a:xfrm>
          <a:prstGeom prst="rect">
            <a:avLst/>
          </a:prstGeom>
          <a:noFill/>
        </p:spPr>
        <p:txBody>
          <a:bodyPr wrap="square">
            <a:spAutoFit/>
          </a:bodyPr>
          <a:lstStyle/>
          <a:p>
            <a:pPr algn="ctr"/>
            <a:r>
              <a:rPr sz="750" b="1" i="0">
                <a:solidFill>
                  <a:srgbClr val="2E7D32"/>
                </a:solidFill>
                <a:latin typeface="Manrope"/>
              </a:rPr>
              <a:t>Citizen Login — Voter ID entry, panchayat selection (State/District/Block/Panchayat), face scan with liveness overlay</a:t>
            </a:r>
          </a:p>
        </p:txBody>
      </p:sp>
      <p:pic>
        <p:nvPicPr>
          <p:cNvPr id="126" name="Picture 125" descr="01_citizen_login.png"/>
          <p:cNvPicPr>
            <a:picLocks noChangeAspect="1"/>
          </p:cNvPicPr>
          <p:nvPr/>
        </p:nvPicPr>
        <p:blipFill>
          <a:blip r:embed="rId4"/>
          <a:stretch>
            <a:fillRect/>
          </a:stretch>
        </p:blipFill>
        <p:spPr>
          <a:xfrm>
            <a:off x="3200400" y="1371600"/>
            <a:ext cx="2743200" cy="1371600"/>
          </a:xfrm>
          <a:prstGeom prst="rect">
            <a:avLst/>
          </a:prstGeom>
        </p:spPr>
      </p:pic>
      <p:sp>
        <p:nvSpPr>
          <p:cNvPr id="127" name="TextBox 126"/>
          <p:cNvSpPr txBox="1"/>
          <p:nvPr/>
        </p:nvSpPr>
        <p:spPr>
          <a:xfrm>
            <a:off x="3200400" y="2743200"/>
            <a:ext cx="2743200" cy="274320"/>
          </a:xfrm>
          <a:prstGeom prst="rect">
            <a:avLst/>
          </a:prstGeom>
          <a:noFill/>
        </p:spPr>
        <p:txBody>
          <a:bodyPr wrap="square">
            <a:spAutoFit/>
          </a:bodyPr>
          <a:lstStyle/>
          <a:p>
            <a:pPr algn="ctr"/>
            <a:r>
              <a:rPr sz="750" b="1" i="0">
                <a:solidFill>
                  <a:srgbClr val="2E7D32"/>
                </a:solidFill>
                <a:latin typeface="Manrope"/>
              </a:rPr>
              <a:t>Voice Issue Reporting — Audio recorder with waveform, category selector (6 categories, 20+ subcategories), file attachments</a:t>
            </a:r>
          </a:p>
        </p:txBody>
      </p:sp>
      <p:pic>
        <p:nvPicPr>
          <p:cNvPr id="128" name="Picture 127" descr="03_official_login.png"/>
          <p:cNvPicPr>
            <a:picLocks noChangeAspect="1"/>
          </p:cNvPicPr>
          <p:nvPr/>
        </p:nvPicPr>
        <p:blipFill>
          <a:blip r:embed="rId5"/>
          <a:stretch>
            <a:fillRect/>
          </a:stretch>
        </p:blipFill>
        <p:spPr>
          <a:xfrm>
            <a:off x="6126480" y="1371600"/>
            <a:ext cx="2743200" cy="1371600"/>
          </a:xfrm>
          <a:prstGeom prst="rect">
            <a:avLst/>
          </a:prstGeom>
        </p:spPr>
      </p:pic>
      <p:sp>
        <p:nvSpPr>
          <p:cNvPr id="129" name="TextBox 128"/>
          <p:cNvSpPr txBox="1"/>
          <p:nvPr/>
        </p:nvSpPr>
        <p:spPr>
          <a:xfrm>
            <a:off x="6126480" y="2743200"/>
            <a:ext cx="2743200" cy="274320"/>
          </a:xfrm>
          <a:prstGeom prst="rect">
            <a:avLst/>
          </a:prstGeom>
          <a:noFill/>
        </p:spPr>
        <p:txBody>
          <a:bodyPr wrap="square">
            <a:spAutoFit/>
          </a:bodyPr>
          <a:lstStyle/>
          <a:p>
            <a:pPr algn="ctr"/>
            <a:r>
              <a:rPr sz="750" b="1" i="0">
                <a:solidFill>
                  <a:srgbClr val="2E7D32"/>
                </a:solidFill>
                <a:latin typeface="Manrope"/>
              </a:rPr>
              <a:t>Transcription Result — Original transcription + Enhanced English + Enhanced Hindi, powered by Bedrock grammar correction</a:t>
            </a:r>
          </a:p>
        </p:txBody>
      </p:sp>
      <p:pic>
        <p:nvPicPr>
          <p:cNvPr id="130" name="Picture 129" descr="01_citizen_login.png"/>
          <p:cNvPicPr>
            <a:picLocks noChangeAspect="1"/>
          </p:cNvPicPr>
          <p:nvPr/>
        </p:nvPicPr>
        <p:blipFill>
          <a:blip r:embed="rId4"/>
          <a:stretch>
            <a:fillRect/>
          </a:stretch>
        </p:blipFill>
        <p:spPr>
          <a:xfrm>
            <a:off x="274320" y="2926080"/>
            <a:ext cx="2743200" cy="1371600"/>
          </a:xfrm>
          <a:prstGeom prst="rect">
            <a:avLst/>
          </a:prstGeom>
        </p:spPr>
      </p:pic>
      <p:sp>
        <p:nvSpPr>
          <p:cNvPr id="131" name="TextBox 130"/>
          <p:cNvSpPr txBox="1"/>
          <p:nvPr/>
        </p:nvSpPr>
        <p:spPr>
          <a:xfrm>
            <a:off x="274320" y="4297680"/>
            <a:ext cx="2743200" cy="274320"/>
          </a:xfrm>
          <a:prstGeom prst="rect">
            <a:avLst/>
          </a:prstGeom>
          <a:noFill/>
        </p:spPr>
        <p:txBody>
          <a:bodyPr wrap="square">
            <a:spAutoFit/>
          </a:bodyPr>
          <a:lstStyle/>
          <a:p>
            <a:pPr algn="ctr"/>
            <a:r>
              <a:rPr sz="750" b="1" i="0">
                <a:solidFill>
                  <a:srgbClr val="2E7D32"/>
                </a:solidFill>
                <a:latin typeface="Manrope"/>
              </a:rPr>
              <a:t>Sentiment Analysis — Badge showing POSITIVE/NEGATIVE/NEUTRAL/MIXED with confidence scores, extracted key phrases, auto-priority</a:t>
            </a:r>
          </a:p>
        </p:txBody>
      </p:sp>
      <p:sp>
        <p:nvSpPr>
          <p:cNvPr id="132" name="TextBox 131"/>
          <p:cNvSpPr txBox="1"/>
          <p:nvPr/>
        </p:nvSpPr>
        <p:spPr>
          <a:xfrm>
            <a:off x="3200400" y="4297680"/>
            <a:ext cx="2743200" cy="274320"/>
          </a:xfrm>
          <a:prstGeom prst="rect">
            <a:avLst/>
          </a:prstGeom>
          <a:noFill/>
        </p:spPr>
        <p:txBody>
          <a:bodyPr wrap="square">
            <a:spAutoFit/>
          </a:bodyPr>
          <a:lstStyle/>
          <a:p>
            <a:pPr algn="ctr"/>
            <a:r>
              <a:rPr sz="750" b="1" i="0">
                <a:solidFill>
                  <a:srgbClr val="2E7D32"/>
                </a:solidFill>
                <a:latin typeface="Manrope"/>
              </a:rPr>
              <a:t>AI-Generated Agenda — Numbered items from citizen issues, multi-language tabs, Read Aloud button (Polly TTS)</a:t>
            </a:r>
          </a:p>
        </p:txBody>
      </p:sp>
      <p:sp>
        <p:nvSpPr>
          <p:cNvPr id="133" name="TextBox 132"/>
          <p:cNvSpPr txBox="1"/>
          <p:nvPr/>
        </p:nvSpPr>
        <p:spPr>
          <a:xfrm>
            <a:off x="6126480" y="4297680"/>
            <a:ext cx="2743200" cy="274320"/>
          </a:xfrm>
          <a:prstGeom prst="rect">
            <a:avLst/>
          </a:prstGeom>
          <a:noFill/>
        </p:spPr>
        <p:txBody>
          <a:bodyPr wrap="square">
            <a:spAutoFit/>
          </a:bodyPr>
          <a:lstStyle/>
          <a:p>
            <a:pPr algn="ctr"/>
            <a:r>
              <a:rPr sz="750" b="1" i="0">
                <a:solidFill>
                  <a:srgbClr val="2E7D32"/>
                </a:solidFill>
                <a:latin typeface="Manrope"/>
              </a:rPr>
              <a:t>MOM Output — Structured sections: Meeting Overview, Discussion Points, Decisions Taken, Action Items, Next Steps. 3 languages.</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p25" title="Artboarddfghjk – 6.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29" name="TextBox 128"/>
          <p:cNvSpPr txBox="1"/>
          <p:nvPr/>
        </p:nvSpPr>
        <p:spPr>
          <a:xfrm>
            <a:off x="311700" y="863550"/>
            <a:ext cx="8520600" cy="365760"/>
          </a:xfrm>
          <a:prstGeom prst="rect">
            <a:avLst/>
          </a:prstGeom>
          <a:noFill/>
        </p:spPr>
        <p:txBody>
          <a:bodyPr wrap="square">
            <a:spAutoFit/>
          </a:bodyPr>
          <a:lstStyle/>
          <a:p>
            <a:r>
              <a:rPr sz="2200" b="1" i="0">
                <a:solidFill>
                  <a:srgbClr val="202729"/>
                </a:solidFill>
                <a:latin typeface="Manrope"/>
              </a:rPr>
              <a:t>Prototype Performance Report / Benchmarking</a:t>
            </a:r>
          </a:p>
        </p:txBody>
      </p:sp>
      <p:sp>
        <p:nvSpPr>
          <p:cNvPr id="130" name="TextBox 129"/>
          <p:cNvSpPr txBox="1"/>
          <p:nvPr/>
        </p:nvSpPr>
        <p:spPr>
          <a:xfrm>
            <a:off x="311700" y="1188720"/>
            <a:ext cx="4572000" cy="274320"/>
          </a:xfrm>
          <a:prstGeom prst="rect">
            <a:avLst/>
          </a:prstGeom>
          <a:noFill/>
        </p:spPr>
        <p:txBody>
          <a:bodyPr wrap="square">
            <a:spAutoFit/>
          </a:bodyPr>
          <a:lstStyle/>
          <a:p>
            <a:r>
              <a:rPr sz="1100" b="1" i="0">
                <a:solidFill>
                  <a:srgbClr val="2E7D32"/>
                </a:solidFill>
                <a:latin typeface="Manrope"/>
              </a:rPr>
              <a:t>Tatarpur Digital Gram Sabha (April 2025) — India's First</a:t>
            </a:r>
          </a:p>
        </p:txBody>
      </p:sp>
      <p:graphicFrame>
        <p:nvGraphicFramePr>
          <p:cNvPr id="131" name="Table 130"/>
          <p:cNvGraphicFramePr>
            <a:graphicFrameLocks noGrp="1"/>
          </p:cNvGraphicFramePr>
          <p:nvPr/>
        </p:nvGraphicFramePr>
        <p:xfrm>
          <a:off x="274320" y="1508760"/>
          <a:ext cx="4572000" cy="1371600"/>
        </p:xfrm>
        <a:graphic>
          <a:graphicData uri="http://schemas.openxmlformats.org/drawingml/2006/table">
            <a:tbl>
              <a:tblPr firstRow="1" bandRow="1">
                <a:tableStyleId>{5C22544A-7EE6-4342-B048-85BDC9FD1C3A}</a:tableStyleId>
              </a:tblPr>
              <a:tblGrid>
                <a:gridCol w="1188720"/>
                <a:gridCol w="1097280"/>
                <a:gridCol w="1188720"/>
                <a:gridCol w="1097280"/>
              </a:tblGrid>
              <a:tr h="228600">
                <a:tc>
                  <a:txBody>
                    <a:bodyPr/>
                    <a:lstStyle/>
                    <a:p>
                      <a:pPr>
                        <a:spcBef>
                          <a:spcPts val="100"/>
                        </a:spcBef>
                        <a:spcAft>
                          <a:spcPts val="100"/>
                        </a:spcAft>
                      </a:pPr>
                      <a:r>
                        <a:rPr sz="1000" b="1" i="0">
                          <a:solidFill>
                            <a:srgbClr val="FFFFFF"/>
                          </a:solidFill>
                          <a:latin typeface="Manrope"/>
                        </a:rPr>
                        <a:t>Metric</a:t>
                      </a:r>
                    </a:p>
                  </a:txBody>
                  <a:tcPr>
                    <a:solidFill>
                      <a:srgbClr val="2E7D32"/>
                    </a:solidFill>
                  </a:tcPr>
                </a:tc>
                <a:tc>
                  <a:txBody>
                    <a:bodyPr/>
                    <a:lstStyle/>
                    <a:p>
                      <a:pPr>
                        <a:spcBef>
                          <a:spcPts val="100"/>
                        </a:spcBef>
                        <a:spcAft>
                          <a:spcPts val="100"/>
                        </a:spcAft>
                      </a:pPr>
                      <a:r>
                        <a:rPr sz="1000" b="1" i="0">
                          <a:solidFill>
                            <a:srgbClr val="FFFFFF"/>
                          </a:solidFill>
                          <a:latin typeface="Manrope"/>
                        </a:rPr>
                        <a:t>National Avg</a:t>
                      </a:r>
                    </a:p>
                  </a:txBody>
                  <a:tcPr>
                    <a:solidFill>
                      <a:srgbClr val="2E7D32"/>
                    </a:solidFill>
                  </a:tcPr>
                </a:tc>
                <a:tc>
                  <a:txBody>
                    <a:bodyPr/>
                    <a:lstStyle/>
                    <a:p>
                      <a:pPr>
                        <a:spcBef>
                          <a:spcPts val="100"/>
                        </a:spcBef>
                        <a:spcAft>
                          <a:spcPts val="100"/>
                        </a:spcAft>
                      </a:pPr>
                      <a:r>
                        <a:rPr sz="1000" b="1" i="0">
                          <a:solidFill>
                            <a:srgbClr val="FFFFFF"/>
                          </a:solidFill>
                          <a:latin typeface="Manrope"/>
                        </a:rPr>
                        <a:t>Tatarpur Digital</a:t>
                      </a:r>
                    </a:p>
                  </a:txBody>
                  <a:tcPr>
                    <a:solidFill>
                      <a:srgbClr val="2E7D32"/>
                    </a:solidFill>
                  </a:tcPr>
                </a:tc>
                <a:tc>
                  <a:txBody>
                    <a:bodyPr/>
                    <a:lstStyle/>
                    <a:p>
                      <a:pPr>
                        <a:spcBef>
                          <a:spcPts val="100"/>
                        </a:spcBef>
                        <a:spcAft>
                          <a:spcPts val="100"/>
                        </a:spcAft>
                      </a:pPr>
                      <a:r>
                        <a:rPr sz="1000" b="1" i="0">
                          <a:solidFill>
                            <a:srgbClr val="FFFFFF"/>
                          </a:solidFill>
                          <a:latin typeface="Manrope"/>
                        </a:rPr>
                        <a:t>Improvement</a:t>
                      </a:r>
                    </a:p>
                  </a:txBody>
                  <a:tcPr>
                    <a:solidFill>
                      <a:srgbClr val="2E7D32"/>
                    </a:solidFill>
                  </a:tcPr>
                </a:tc>
              </a:tr>
              <a:tr h="228600">
                <a:tc>
                  <a:txBody>
                    <a:bodyPr/>
                    <a:lstStyle/>
                    <a:p>
                      <a:pPr>
                        <a:spcBef>
                          <a:spcPts val="100"/>
                        </a:spcBef>
                        <a:spcAft>
                          <a:spcPts val="100"/>
                        </a:spcAft>
                      </a:pPr>
                      <a:r>
                        <a:rPr sz="900" b="0" i="0">
                          <a:solidFill>
                            <a:srgbClr val="202729"/>
                          </a:solidFill>
                          <a:latin typeface="Manrope"/>
                        </a:rPr>
                        <a:t>Voter registration</a:t>
                      </a:r>
                    </a:p>
                  </a:txBody>
                  <a:tcPr/>
                </a:tc>
                <a:tc>
                  <a:txBody>
                    <a:bodyPr/>
                    <a:lstStyle/>
                    <a:p>
                      <a:pPr>
                        <a:spcBef>
                          <a:spcPts val="100"/>
                        </a:spcBef>
                        <a:spcAft>
                          <a:spcPts val="100"/>
                        </a:spcAft>
                      </a:pPr>
                      <a:r>
                        <a:rPr sz="900" b="0" i="0">
                          <a:solidFill>
                            <a:srgbClr val="202729"/>
                          </a:solidFill>
                          <a:latin typeface="Manrope"/>
                        </a:rPr>
                        <a:t>~10% active participation nationally</a:t>
                      </a:r>
                    </a:p>
                  </a:txBody>
                  <a:tcPr/>
                </a:tc>
                <a:tc>
                  <a:txBody>
                    <a:bodyPr/>
                    <a:lstStyle/>
                    <a:p>
                      <a:pPr>
                        <a:spcBef>
                          <a:spcPts val="100"/>
                        </a:spcBef>
                        <a:spcAft>
                          <a:spcPts val="100"/>
                        </a:spcAft>
                      </a:pPr>
                      <a:r>
                        <a:rPr sz="900" b="0" i="0">
                          <a:solidFill>
                            <a:srgbClr val="202729"/>
                          </a:solidFill>
                          <a:latin typeface="Manrope"/>
                        </a:rPr>
                        <a:t>81% registered (650 of 801 eligible voters)</a:t>
                      </a:r>
                    </a:p>
                  </a:txBody>
                  <a:tcPr/>
                </a:tc>
                <a:tc>
                  <a:txBody>
                    <a:bodyPr/>
                    <a:lstStyle/>
                    <a:p>
                      <a:pPr>
                        <a:spcBef>
                          <a:spcPts val="100"/>
                        </a:spcBef>
                        <a:spcAft>
                          <a:spcPts val="100"/>
                        </a:spcAft>
                      </a:pPr>
                      <a:r>
                        <a:rPr sz="900" b="0" i="0">
                          <a:solidFill>
                            <a:srgbClr val="202729"/>
                          </a:solidFill>
                          <a:latin typeface="Manrope"/>
                        </a:rPr>
                        <a:t>8x improvement</a:t>
                      </a:r>
                    </a:p>
                  </a:txBody>
                  <a:tcPr/>
                </a:tc>
              </a:tr>
              <a:tr h="228600">
                <a:tc>
                  <a:txBody>
                    <a:bodyPr/>
                    <a:lstStyle/>
                    <a:p>
                      <a:pPr>
                        <a:spcBef>
                          <a:spcPts val="100"/>
                        </a:spcBef>
                        <a:spcAft>
                          <a:spcPts val="100"/>
                        </a:spcAft>
                      </a:pPr>
                      <a:r>
                        <a:rPr sz="900" b="0" i="0">
                          <a:solidFill>
                            <a:srgbClr val="202729"/>
                          </a:solidFill>
                          <a:latin typeface="Manrope"/>
                        </a:rPr>
                        <a:t>Issues submitted</a:t>
                      </a:r>
                    </a:p>
                  </a:txBody>
                  <a:tcPr>
                    <a:solidFill>
                      <a:srgbClr val="E8F5E9"/>
                    </a:solidFill>
                  </a:tcPr>
                </a:tc>
                <a:tc>
                  <a:txBody>
                    <a:bodyPr/>
                    <a:lstStyle/>
                    <a:p>
                      <a:pPr>
                        <a:spcBef>
                          <a:spcPts val="100"/>
                        </a:spcBef>
                        <a:spcAft>
                          <a:spcPts val="100"/>
                        </a:spcAft>
                      </a:pPr>
                      <a:r>
                        <a:rPr sz="900" b="0" i="0">
                          <a:solidFill>
                            <a:srgbClr val="202729"/>
                          </a:solidFill>
                          <a:latin typeface="Manrope"/>
                        </a:rPr>
                        <a:t>Handful (verbal, unrecorded)</a:t>
                      </a:r>
                    </a:p>
                  </a:txBody>
                  <a:tcPr>
                    <a:solidFill>
                      <a:srgbClr val="E8F5E9"/>
                    </a:solidFill>
                  </a:tcPr>
                </a:tc>
                <a:tc>
                  <a:txBody>
                    <a:bodyPr/>
                    <a:lstStyle/>
                    <a:p>
                      <a:pPr>
                        <a:spcBef>
                          <a:spcPts val="100"/>
                        </a:spcBef>
                        <a:spcAft>
                          <a:spcPts val="100"/>
                        </a:spcAft>
                      </a:pPr>
                      <a:r>
                        <a:rPr sz="900" b="0" i="0">
                          <a:solidFill>
                            <a:srgbClr val="202729"/>
                          </a:solidFill>
                          <a:latin typeface="Manrope"/>
                        </a:rPr>
                        <a:t>100+ issues submitted in 3 days</a:t>
                      </a:r>
                    </a:p>
                  </a:txBody>
                  <a:tcPr>
                    <a:solidFill>
                      <a:srgbClr val="E8F5E9"/>
                    </a:solidFill>
                  </a:tcPr>
                </a:tc>
                <a:tc>
                  <a:txBody>
                    <a:bodyPr/>
                    <a:lstStyle/>
                    <a:p>
                      <a:pPr>
                        <a:spcBef>
                          <a:spcPts val="100"/>
                        </a:spcBef>
                        <a:spcAft>
                          <a:spcPts val="100"/>
                        </a:spcAft>
                      </a:pPr>
                      <a:r>
                        <a:rPr sz="900" b="0" i="0">
                          <a:solidFill>
                            <a:srgbClr val="202729"/>
                          </a:solidFill>
                          <a:latin typeface="Manrope"/>
                        </a:rPr>
                        <a:t>Order of magnitude increase</a:t>
                      </a:r>
                    </a:p>
                  </a:txBody>
                  <a:tcPr>
                    <a:solidFill>
                      <a:srgbClr val="E8F5E9"/>
                    </a:solidFill>
                  </a:tcPr>
                </a:tc>
              </a:tr>
              <a:tr h="228600">
                <a:tc>
                  <a:txBody>
                    <a:bodyPr/>
                    <a:lstStyle/>
                    <a:p>
                      <a:pPr>
                        <a:spcBef>
                          <a:spcPts val="100"/>
                        </a:spcBef>
                        <a:spcAft>
                          <a:spcPts val="100"/>
                        </a:spcAft>
                      </a:pPr>
                      <a:r>
                        <a:rPr sz="900" b="0" i="0">
                          <a:solidFill>
                            <a:srgbClr val="202729"/>
                          </a:solidFill>
                          <a:latin typeface="Manrope"/>
                        </a:rPr>
                        <a:t>Women participation</a:t>
                      </a:r>
                    </a:p>
                  </a:txBody>
                  <a:tcPr/>
                </a:tc>
                <a:tc>
                  <a:txBody>
                    <a:bodyPr/>
                    <a:lstStyle/>
                    <a:p>
                      <a:pPr>
                        <a:spcBef>
                          <a:spcPts val="100"/>
                        </a:spcBef>
                        <a:spcAft>
                          <a:spcPts val="100"/>
                        </a:spcAft>
                      </a:pPr>
                      <a:r>
                        <a:rPr sz="900" b="0" i="0">
                          <a:solidFill>
                            <a:srgbClr val="202729"/>
                          </a:solidFill>
                          <a:latin typeface="Manrope"/>
                        </a:rPr>
                        <a:t>Below 3% in many states</a:t>
                      </a:r>
                    </a:p>
                  </a:txBody>
                  <a:tcPr/>
                </a:tc>
                <a:tc>
                  <a:txBody>
                    <a:bodyPr/>
                    <a:lstStyle/>
                    <a:p>
                      <a:pPr>
                        <a:spcBef>
                          <a:spcPts val="100"/>
                        </a:spcBef>
                        <a:spcAft>
                          <a:spcPts val="100"/>
                        </a:spcAft>
                      </a:pPr>
                      <a:r>
                        <a:rPr sz="900" b="0" i="0">
                          <a:solidFill>
                            <a:srgbClr val="202729"/>
                          </a:solidFill>
                          <a:latin typeface="Manrope"/>
                        </a:rPr>
                        <a:t>Approximately 50%</a:t>
                      </a:r>
                    </a:p>
                  </a:txBody>
                  <a:tcPr/>
                </a:tc>
                <a:tc>
                  <a:txBody>
                    <a:bodyPr/>
                    <a:lstStyle/>
                    <a:p>
                      <a:pPr>
                        <a:spcBef>
                          <a:spcPts val="100"/>
                        </a:spcBef>
                        <a:spcAft>
                          <a:spcPts val="100"/>
                        </a:spcAft>
                      </a:pPr>
                      <a:r>
                        <a:rPr sz="900" b="0" i="0">
                          <a:solidFill>
                            <a:srgbClr val="202729"/>
                          </a:solidFill>
                          <a:latin typeface="Manrope"/>
                        </a:rPr>
                        <a:t>16x improvement</a:t>
                      </a:r>
                    </a:p>
                  </a:txBody>
                  <a:tcPr/>
                </a:tc>
              </a:tr>
              <a:tr h="228600">
                <a:tc>
                  <a:txBody>
                    <a:bodyPr/>
                    <a:lstStyle/>
                    <a:p>
                      <a:pPr>
                        <a:spcBef>
                          <a:spcPts val="100"/>
                        </a:spcBef>
                        <a:spcAft>
                          <a:spcPts val="100"/>
                        </a:spcAft>
                      </a:pPr>
                      <a:r>
                        <a:rPr sz="900" b="0" i="0">
                          <a:solidFill>
                            <a:srgbClr val="202729"/>
                          </a:solidFill>
                          <a:latin typeface="Manrope"/>
                        </a:rPr>
                        <a:t>Decisions taken</a:t>
                      </a:r>
                    </a:p>
                  </a:txBody>
                  <a:tcPr>
                    <a:solidFill>
                      <a:srgbClr val="E8F5E9"/>
                    </a:solidFill>
                  </a:tcPr>
                </a:tc>
                <a:tc>
                  <a:txBody>
                    <a:bodyPr/>
                    <a:lstStyle/>
                    <a:p>
                      <a:pPr>
                        <a:spcBef>
                          <a:spcPts val="100"/>
                        </a:spcBef>
                        <a:spcAft>
                          <a:spcPts val="100"/>
                        </a:spcAft>
                      </a:pPr>
                      <a:r>
                        <a:rPr sz="900" b="0" i="0">
                          <a:solidFill>
                            <a:srgbClr val="202729"/>
                          </a:solidFill>
                          <a:latin typeface="Manrope"/>
                        </a:rPr>
                        <a:t>Few, unrecorded or pre-written</a:t>
                      </a:r>
                    </a:p>
                  </a:txBody>
                  <a:tcPr>
                    <a:solidFill>
                      <a:srgbClr val="E8F5E9"/>
                    </a:solidFill>
                  </a:tcPr>
                </a:tc>
                <a:tc>
                  <a:txBody>
                    <a:bodyPr/>
                    <a:lstStyle/>
                    <a:p>
                      <a:pPr>
                        <a:spcBef>
                          <a:spcPts val="100"/>
                        </a:spcBef>
                        <a:spcAft>
                          <a:spcPts val="100"/>
                        </a:spcAft>
                      </a:pPr>
                      <a:r>
                        <a:rPr sz="900" b="0" i="0">
                          <a:solidFill>
                            <a:srgbClr val="202729"/>
                          </a:solidFill>
                          <a:latin typeface="Manrope"/>
                        </a:rPr>
                        <a:t>Multiple, digitally signed decisions</a:t>
                      </a:r>
                    </a:p>
                  </a:txBody>
                  <a:tcPr>
                    <a:solidFill>
                      <a:srgbClr val="E8F5E9"/>
                    </a:solidFill>
                  </a:tcPr>
                </a:tc>
                <a:tc>
                  <a:txBody>
                    <a:bodyPr/>
                    <a:lstStyle/>
                    <a:p>
                      <a:pPr>
                        <a:spcBef>
                          <a:spcPts val="100"/>
                        </a:spcBef>
                        <a:spcAft>
                          <a:spcPts val="100"/>
                        </a:spcAft>
                      </a:pPr>
                      <a:r>
                        <a:rPr sz="900" b="0" i="0">
                          <a:solidFill>
                            <a:srgbClr val="202729"/>
                          </a:solidFill>
                          <a:latin typeface="Manrope"/>
                        </a:rPr>
                        <a:t>Permanent record</a:t>
                      </a:r>
                    </a:p>
                  </a:txBody>
                  <a:tcPr>
                    <a:solidFill>
                      <a:srgbClr val="E8F5E9"/>
                    </a:solidFill>
                  </a:tcPr>
                </a:tc>
              </a:tr>
              <a:tr h="228600">
                <a:tc>
                  <a:txBody>
                    <a:bodyPr/>
                    <a:lstStyle/>
                    <a:p>
                      <a:pPr>
                        <a:spcBef>
                          <a:spcPts val="100"/>
                        </a:spcBef>
                        <a:spcAft>
                          <a:spcPts val="100"/>
                        </a:spcAft>
                      </a:pPr>
                      <a:r>
                        <a:rPr sz="900" b="0" i="0">
                          <a:solidFill>
                            <a:srgbClr val="202729"/>
                          </a:solidFill>
                          <a:latin typeface="Manrope"/>
                        </a:rPr>
                        <a:t>Time to minutes</a:t>
                      </a:r>
                    </a:p>
                  </a:txBody>
                  <a:tcPr/>
                </a:tc>
                <a:tc>
                  <a:txBody>
                    <a:bodyPr/>
                    <a:lstStyle/>
                    <a:p>
                      <a:pPr>
                        <a:spcBef>
                          <a:spcPts val="100"/>
                        </a:spcBef>
                        <a:spcAft>
                          <a:spcPts val="100"/>
                        </a:spcAft>
                      </a:pPr>
                      <a:r>
                        <a:rPr sz="900" b="0" i="0">
                          <a:solidFill>
                            <a:srgbClr val="202729"/>
                          </a:solidFill>
                          <a:latin typeface="Manrope"/>
                        </a:rPr>
                        <a:t>Days later (if at all)</a:t>
                      </a:r>
                    </a:p>
                  </a:txBody>
                  <a:tcPr/>
                </a:tc>
                <a:tc>
                  <a:txBody>
                    <a:bodyPr/>
                    <a:lstStyle/>
                    <a:p>
                      <a:pPr>
                        <a:spcBef>
                          <a:spcPts val="100"/>
                        </a:spcBef>
                        <a:spcAft>
                          <a:spcPts val="100"/>
                        </a:spcAft>
                      </a:pPr>
                      <a:r>
                        <a:rPr sz="900" b="0" i="0">
                          <a:solidFill>
                            <a:srgbClr val="202729"/>
                          </a:solidFill>
                          <a:latin typeface="Manrope"/>
                        </a:rPr>
                        <a:t>Minutes — AI-generated instantly</a:t>
                      </a:r>
                    </a:p>
                  </a:txBody>
                  <a:tcPr/>
                </a:tc>
                <a:tc>
                  <a:txBody>
                    <a:bodyPr/>
                    <a:lstStyle/>
                    <a:p>
                      <a:pPr>
                        <a:spcBef>
                          <a:spcPts val="100"/>
                        </a:spcBef>
                        <a:spcAft>
                          <a:spcPts val="100"/>
                        </a:spcAft>
                      </a:pPr>
                      <a:r>
                        <a:rPr sz="900" b="0" i="0">
                          <a:solidFill>
                            <a:srgbClr val="202729"/>
                          </a:solidFill>
                          <a:latin typeface="Manrope"/>
                        </a:rPr>
                        <a:t>Instant</a:t>
                      </a:r>
                    </a:p>
                  </a:txBody>
                  <a:tcPr/>
                </a:tc>
              </a:tr>
            </a:tbl>
          </a:graphicData>
        </a:graphic>
      </p:graphicFrame>
      <p:sp>
        <p:nvSpPr>
          <p:cNvPr id="132" name="TextBox 131"/>
          <p:cNvSpPr txBox="1"/>
          <p:nvPr/>
        </p:nvSpPr>
        <p:spPr>
          <a:xfrm>
            <a:off x="274320" y="2926080"/>
            <a:ext cx="4572000" cy="365760"/>
          </a:xfrm>
          <a:prstGeom prst="rect">
            <a:avLst/>
          </a:prstGeom>
          <a:noFill/>
        </p:spPr>
        <p:txBody>
          <a:bodyPr wrap="square">
            <a:spAutoFit/>
          </a:bodyPr>
          <a:lstStyle/>
          <a:p>
            <a:r>
              <a:rPr sz="800" b="0" i="1">
                <a:solidFill>
                  <a:srgbClr val="202729"/>
                </a:solidFill>
                <a:latin typeface="Manrope"/>
              </a:rPr>
              <a:t>Concrete outcomes from a single meeting: garbage management system with tenant fees, prioritised road repairs, transgender welfare allocation (Rs 2,100 minimum), and a solar power plant on 24 acres of unused land. Citizens independently decided to levy local taxes and contribute resources — a private company donated a tractor. Door-to-door registration campaign with tablets brought 250 additional participants beyond typical attendance. Women specifically encouraged by female enumerators. This is self-governance working as Gandhi envisioned.</a:t>
            </a:r>
          </a:p>
        </p:txBody>
      </p:sp>
      <p:sp>
        <p:nvSpPr>
          <p:cNvPr id="133" name="TextBox 132"/>
          <p:cNvSpPr txBox="1"/>
          <p:nvPr/>
        </p:nvSpPr>
        <p:spPr>
          <a:xfrm>
            <a:off x="5029200" y="1188720"/>
            <a:ext cx="3931920" cy="274320"/>
          </a:xfrm>
          <a:prstGeom prst="rect">
            <a:avLst/>
          </a:prstGeom>
          <a:noFill/>
        </p:spPr>
        <p:txBody>
          <a:bodyPr wrap="square">
            <a:spAutoFit/>
          </a:bodyPr>
          <a:lstStyle/>
          <a:p>
            <a:r>
              <a:rPr sz="1100" b="1" i="0">
                <a:solidFill>
                  <a:srgbClr val="2E7D32"/>
                </a:solidFill>
                <a:latin typeface="Manrope"/>
              </a:rPr>
              <a:t>Impact Summary</a:t>
            </a:r>
          </a:p>
        </p:txBody>
      </p:sp>
      <p:graphicFrame>
        <p:nvGraphicFramePr>
          <p:cNvPr id="134" name="Table 133"/>
          <p:cNvGraphicFramePr>
            <a:graphicFrameLocks noGrp="1"/>
          </p:cNvGraphicFramePr>
          <p:nvPr/>
        </p:nvGraphicFramePr>
        <p:xfrm>
          <a:off x="5029200" y="1508760"/>
          <a:ext cx="3931920" cy="2286000"/>
        </p:xfrm>
        <a:graphic>
          <a:graphicData uri="http://schemas.openxmlformats.org/drawingml/2006/table">
            <a:tbl>
              <a:tblPr firstRow="1" bandRow="1">
                <a:tableStyleId>{5C22544A-7EE6-4342-B048-85BDC9FD1C3A}</a:tableStyleId>
              </a:tblPr>
              <a:tblGrid>
                <a:gridCol w="1188720"/>
                <a:gridCol w="1280160"/>
                <a:gridCol w="1463040"/>
              </a:tblGrid>
              <a:tr h="207818">
                <a:tc>
                  <a:txBody>
                    <a:bodyPr/>
                    <a:lstStyle/>
                    <a:p>
                      <a:pPr>
                        <a:spcBef>
                          <a:spcPts val="100"/>
                        </a:spcBef>
                        <a:spcAft>
                          <a:spcPts val="100"/>
                        </a:spcAft>
                      </a:pPr>
                      <a:r>
                        <a:rPr sz="1000" b="1" i="0">
                          <a:solidFill>
                            <a:srgbClr val="FFFFFF"/>
                          </a:solidFill>
                          <a:latin typeface="Manrope"/>
                        </a:rPr>
                        <a:t>Impact Area</a:t>
                      </a:r>
                    </a:p>
                  </a:txBody>
                  <a:tcPr>
                    <a:solidFill>
                      <a:srgbClr val="2E7D32"/>
                    </a:solidFill>
                  </a:tcPr>
                </a:tc>
                <a:tc>
                  <a:txBody>
                    <a:bodyPr/>
                    <a:lstStyle/>
                    <a:p>
                      <a:pPr>
                        <a:spcBef>
                          <a:spcPts val="100"/>
                        </a:spcBef>
                        <a:spcAft>
                          <a:spcPts val="100"/>
                        </a:spcAft>
                      </a:pPr>
                      <a:r>
                        <a:rPr sz="1000" b="1" i="0">
                          <a:solidFill>
                            <a:srgbClr val="FFFFFF"/>
                          </a:solidFill>
                          <a:latin typeface="Manrope"/>
                        </a:rPr>
                        <a:t>Mechanism</a:t>
                      </a:r>
                    </a:p>
                  </a:txBody>
                  <a:tcPr>
                    <a:solidFill>
                      <a:srgbClr val="2E7D32"/>
                    </a:solidFill>
                  </a:tcPr>
                </a:tc>
                <a:tc>
                  <a:txBody>
                    <a:bodyPr/>
                    <a:lstStyle/>
                    <a:p>
                      <a:pPr>
                        <a:spcBef>
                          <a:spcPts val="100"/>
                        </a:spcBef>
                        <a:spcAft>
                          <a:spcPts val="100"/>
                        </a:spcAft>
                      </a:pPr>
                      <a:r>
                        <a:rPr sz="1000" b="1" i="0">
                          <a:solidFill>
                            <a:srgbClr val="FFFFFF"/>
                          </a:solidFill>
                          <a:latin typeface="Manrope"/>
                        </a:rPr>
                        <a:t>Outcome</a:t>
                      </a:r>
                    </a:p>
                  </a:txBody>
                  <a:tcPr>
                    <a:solidFill>
                      <a:srgbClr val="2E7D32"/>
                    </a:solidFill>
                  </a:tcPr>
                </a:tc>
              </a:tr>
              <a:tr h="207818">
                <a:tc>
                  <a:txBody>
                    <a:bodyPr/>
                    <a:lstStyle/>
                    <a:p>
                      <a:pPr>
                        <a:spcBef>
                          <a:spcPts val="100"/>
                        </a:spcBef>
                        <a:spcAft>
                          <a:spcPts val="100"/>
                        </a:spcAft>
                      </a:pPr>
                      <a:r>
                        <a:rPr sz="900" b="0" i="0">
                          <a:solidFill>
                            <a:srgbClr val="202729"/>
                          </a:solidFill>
                          <a:latin typeface="Manrope"/>
                        </a:rPr>
                        <a:t>Citizen Participation</a:t>
                      </a:r>
                    </a:p>
                  </a:txBody>
                  <a:tcPr/>
                </a:tc>
                <a:tc>
                  <a:txBody>
                    <a:bodyPr/>
                    <a:lstStyle/>
                    <a:p>
                      <a:pPr>
                        <a:spcBef>
                          <a:spcPts val="100"/>
                        </a:spcBef>
                        <a:spcAft>
                          <a:spcPts val="100"/>
                        </a:spcAft>
                      </a:pPr>
                      <a:r>
                        <a:rPr sz="900" b="0" i="0">
                          <a:solidFill>
                            <a:srgbClr val="202729"/>
                          </a:solidFill>
                          <a:latin typeface="Manrope"/>
                        </a:rPr>
                        <a:t>Voice-first reporting, face authentication, phone-based access</a:t>
                      </a:r>
                    </a:p>
                  </a:txBody>
                  <a:tcPr/>
                </a:tc>
                <a:tc>
                  <a:txBody>
                    <a:bodyPr/>
                    <a:lstStyle/>
                    <a:p>
                      <a:pPr>
                        <a:spcBef>
                          <a:spcPts val="100"/>
                        </a:spcBef>
                        <a:spcAft>
                          <a:spcPts val="100"/>
                        </a:spcAft>
                      </a:pPr>
                      <a:r>
                        <a:rPr sz="900" b="0" i="0">
                          <a:solidFill>
                            <a:srgbClr val="202729"/>
                          </a:solidFill>
                          <a:latin typeface="Manrope"/>
                        </a:rPr>
                        <a:t>5% -&gt; 30%+ Gram Sabha attendance</a:t>
                      </a:r>
                    </a:p>
                  </a:txBody>
                  <a:tcPr/>
                </a:tc>
              </a:tr>
              <a:tr h="207818">
                <a:tc>
                  <a:txBody>
                    <a:bodyPr/>
                    <a:lstStyle/>
                    <a:p>
                      <a:pPr>
                        <a:spcBef>
                          <a:spcPts val="100"/>
                        </a:spcBef>
                        <a:spcAft>
                          <a:spcPts val="100"/>
                        </a:spcAft>
                      </a:pPr>
                      <a:r>
                        <a:rPr sz="900" b="0" i="0">
                          <a:solidFill>
                            <a:srgbClr val="202729"/>
                          </a:solidFill>
                          <a:latin typeface="Manrope"/>
                        </a:rPr>
                        <a:t>Women's Empowerment</a:t>
                      </a:r>
                    </a:p>
                  </a:txBody>
                  <a:tcPr>
                    <a:solidFill>
                      <a:srgbClr val="E8F5E9"/>
                    </a:solidFill>
                  </a:tcPr>
                </a:tc>
                <a:tc>
                  <a:txBody>
                    <a:bodyPr/>
                    <a:lstStyle/>
                    <a:p>
                      <a:pPr>
                        <a:spcBef>
                          <a:spcPts val="100"/>
                        </a:spcBef>
                        <a:spcAft>
                          <a:spcPts val="100"/>
                        </a:spcAft>
                      </a:pPr>
                      <a:r>
                        <a:rPr sz="900" b="0" i="0">
                          <a:solidFill>
                            <a:srgbClr val="202729"/>
                          </a:solidFill>
                          <a:latin typeface="Manrope"/>
                        </a:rPr>
                        <a:t>Remote voice reporting from home, no public speaking required</a:t>
                      </a:r>
                    </a:p>
                  </a:txBody>
                  <a:tcPr>
                    <a:solidFill>
                      <a:srgbClr val="E8F5E9"/>
                    </a:solidFill>
                  </a:tcPr>
                </a:tc>
                <a:tc>
                  <a:txBody>
                    <a:bodyPr/>
                    <a:lstStyle/>
                    <a:p>
                      <a:pPr>
                        <a:spcBef>
                          <a:spcPts val="100"/>
                        </a:spcBef>
                        <a:spcAft>
                          <a:spcPts val="100"/>
                        </a:spcAft>
                      </a:pPr>
                      <a:r>
                        <a:rPr sz="900" b="0" i="0">
                          <a:solidFill>
                            <a:srgbClr val="202729"/>
                          </a:solidFill>
                          <a:latin typeface="Manrope"/>
                        </a:rPr>
                        <a:t>3% -&gt; 50% women participation (Tatarpur benchmark)</a:t>
                      </a:r>
                    </a:p>
                  </a:txBody>
                  <a:tcPr>
                    <a:solidFill>
                      <a:srgbClr val="E8F5E9"/>
                    </a:solidFill>
                  </a:tcPr>
                </a:tc>
              </a:tr>
              <a:tr h="207818">
                <a:tc>
                  <a:txBody>
                    <a:bodyPr/>
                    <a:lstStyle/>
                    <a:p>
                      <a:pPr>
                        <a:spcBef>
                          <a:spcPts val="100"/>
                        </a:spcBef>
                        <a:spcAft>
                          <a:spcPts val="100"/>
                        </a:spcAft>
                      </a:pPr>
                      <a:r>
                        <a:rPr sz="900" b="0" i="0">
                          <a:solidFill>
                            <a:srgbClr val="202729"/>
                          </a:solidFill>
                          <a:latin typeface="Manrope"/>
                        </a:rPr>
                        <a:t>Welfare Delivery</a:t>
                      </a:r>
                    </a:p>
                  </a:txBody>
                  <a:tcPr/>
                </a:tc>
                <a:tc>
                  <a:txBody>
                    <a:bodyPr/>
                    <a:lstStyle/>
                    <a:p>
                      <a:pPr>
                        <a:spcBef>
                          <a:spcPts val="100"/>
                        </a:spcBef>
                        <a:spcAft>
                          <a:spcPts val="100"/>
                        </a:spcAft>
                      </a:pPr>
                      <a:r>
                        <a:rPr sz="900" b="0" i="0">
                          <a:solidFill>
                            <a:srgbClr val="202729"/>
                          </a:solidFill>
                          <a:latin typeface="Manrope"/>
                        </a:rPr>
                        <a:t>Citizen-verified beneficiary lists in Gram Sabha, digital tracking</a:t>
                      </a:r>
                    </a:p>
                  </a:txBody>
                  <a:tcPr/>
                </a:tc>
                <a:tc>
                  <a:txBody>
                    <a:bodyPr/>
                    <a:lstStyle/>
                    <a:p>
                      <a:pPr>
                        <a:spcBef>
                          <a:spcPts val="100"/>
                        </a:spcBef>
                        <a:spcAft>
                          <a:spcPts val="100"/>
                        </a:spcAft>
                      </a:pPr>
                      <a:r>
                        <a:rPr sz="900" b="0" i="0">
                          <a:solidFill>
                            <a:srgbClr val="202729"/>
                          </a:solidFill>
                          <a:latin typeface="Manrope"/>
                        </a:rPr>
                        <a:t>Reduce 30% exclusion error in welfare schemes</a:t>
                      </a:r>
                    </a:p>
                  </a:txBody>
                  <a:tcPr/>
                </a:tc>
              </a:tr>
              <a:tr h="207818">
                <a:tc>
                  <a:txBody>
                    <a:bodyPr/>
                    <a:lstStyle/>
                    <a:p>
                      <a:pPr>
                        <a:spcBef>
                          <a:spcPts val="100"/>
                        </a:spcBef>
                        <a:spcAft>
                          <a:spcPts val="100"/>
                        </a:spcAft>
                      </a:pPr>
                      <a:r>
                        <a:rPr sz="900" b="0" i="0">
                          <a:solidFill>
                            <a:srgbClr val="202729"/>
                          </a:solidFill>
                          <a:latin typeface="Manrope"/>
                        </a:rPr>
                        <a:t>Transparency</a:t>
                      </a:r>
                    </a:p>
                  </a:txBody>
                  <a:tcPr>
                    <a:solidFill>
                      <a:srgbClr val="E8F5E9"/>
                    </a:solidFill>
                  </a:tcPr>
                </a:tc>
                <a:tc>
                  <a:txBody>
                    <a:bodyPr/>
                    <a:lstStyle/>
                    <a:p>
                      <a:pPr>
                        <a:spcBef>
                          <a:spcPts val="100"/>
                        </a:spcBef>
                        <a:spcAft>
                          <a:spcPts val="100"/>
                        </a:spcAft>
                      </a:pPr>
                      <a:r>
                        <a:rPr sz="900" b="0" i="0">
                          <a:solidFill>
                            <a:srgbClr val="202729"/>
                          </a:solidFill>
                          <a:latin typeface="Manrope"/>
                        </a:rPr>
                        <a:t>AI-generated MOMs, permanent digital records, searchable &amp; auditable</a:t>
                      </a:r>
                    </a:p>
                  </a:txBody>
                  <a:tcPr>
                    <a:solidFill>
                      <a:srgbClr val="E8F5E9"/>
                    </a:solidFill>
                  </a:tcPr>
                </a:tc>
                <a:tc>
                  <a:txBody>
                    <a:bodyPr/>
                    <a:lstStyle/>
                    <a:p>
                      <a:pPr>
                        <a:spcBef>
                          <a:spcPts val="100"/>
                        </a:spcBef>
                        <a:spcAft>
                          <a:spcPts val="100"/>
                        </a:spcAft>
                      </a:pPr>
                      <a:r>
                        <a:rPr sz="900" b="0" i="0">
                          <a:solidFill>
                            <a:srgbClr val="202729"/>
                          </a:solidFill>
                          <a:latin typeface="Manrope"/>
                        </a:rPr>
                        <a:t>Every decision verifiable — no more pre-written minutes</a:t>
                      </a:r>
                    </a:p>
                  </a:txBody>
                  <a:tcPr>
                    <a:solidFill>
                      <a:srgbClr val="E8F5E9"/>
                    </a:solidFill>
                  </a:tcPr>
                </a:tc>
              </a:tr>
              <a:tr h="207818">
                <a:tc>
                  <a:txBody>
                    <a:bodyPr/>
                    <a:lstStyle/>
                    <a:p>
                      <a:pPr>
                        <a:spcBef>
                          <a:spcPts val="100"/>
                        </a:spcBef>
                        <a:spcAft>
                          <a:spcPts val="100"/>
                        </a:spcAft>
                      </a:pPr>
                      <a:r>
                        <a:rPr sz="900" b="0" i="0">
                          <a:solidFill>
                            <a:srgbClr val="202729"/>
                          </a:solidFill>
                          <a:latin typeface="Manrope"/>
                        </a:rPr>
                        <a:t>Accountability</a:t>
                      </a:r>
                    </a:p>
                  </a:txBody>
                  <a:tcPr/>
                </a:tc>
                <a:tc>
                  <a:txBody>
                    <a:bodyPr/>
                    <a:lstStyle/>
                    <a:p>
                      <a:pPr>
                        <a:spcBef>
                          <a:spcPts val="100"/>
                        </a:spcBef>
                        <a:spcAft>
                          <a:spcPts val="100"/>
                        </a:spcAft>
                      </a:pPr>
                      <a:r>
                        <a:rPr sz="900" b="0" i="0">
                          <a:solidFill>
                            <a:srgbClr val="202729"/>
                          </a:solidFill>
                          <a:latin typeface="Manrope"/>
                        </a:rPr>
                        <a:t>Issue lifecycle tracking: REPORTED -&gt; DISCUSSED -&gt; RESOLVED</a:t>
                      </a:r>
                    </a:p>
                  </a:txBody>
                  <a:tcPr/>
                </a:tc>
                <a:tc>
                  <a:txBody>
                    <a:bodyPr/>
                    <a:lstStyle/>
                    <a:p>
                      <a:pPr>
                        <a:spcBef>
                          <a:spcPts val="100"/>
                        </a:spcBef>
                        <a:spcAft>
                          <a:spcPts val="100"/>
                        </a:spcAft>
                      </a:pPr>
                      <a:r>
                        <a:rPr sz="900" b="0" i="0">
                          <a:solidFill>
                            <a:srgbClr val="202729"/>
                          </a:solidFill>
                          <a:latin typeface="Manrope"/>
                        </a:rPr>
                        <a:t>Zero promises lost between meetings</a:t>
                      </a:r>
                    </a:p>
                  </a:txBody>
                  <a:tcPr/>
                </a:tc>
              </a:tr>
              <a:tr h="207818">
                <a:tc>
                  <a:txBody>
                    <a:bodyPr/>
                    <a:lstStyle/>
                    <a:p>
                      <a:pPr>
                        <a:spcBef>
                          <a:spcPts val="100"/>
                        </a:spcBef>
                        <a:spcAft>
                          <a:spcPts val="100"/>
                        </a:spcAft>
                      </a:pPr>
                      <a:r>
                        <a:rPr sz="900" b="0" i="0">
                          <a:solidFill>
                            <a:srgbClr val="202729"/>
                          </a:solidFill>
                          <a:latin typeface="Manrope"/>
                        </a:rPr>
                        <a:t>Local Economy</a:t>
                      </a:r>
                    </a:p>
                  </a:txBody>
                  <a:tcPr>
                    <a:solidFill>
                      <a:srgbClr val="E8F5E9"/>
                    </a:solidFill>
                  </a:tcPr>
                </a:tc>
                <a:tc>
                  <a:txBody>
                    <a:bodyPr/>
                    <a:lstStyle/>
                    <a:p>
                      <a:pPr>
                        <a:spcBef>
                          <a:spcPts val="100"/>
                        </a:spcBef>
                        <a:spcAft>
                          <a:spcPts val="100"/>
                        </a:spcAft>
                      </a:pPr>
                      <a:r>
                        <a:rPr sz="900" b="0" i="0">
                          <a:solidFill>
                            <a:srgbClr val="202729"/>
                          </a:solidFill>
                          <a:latin typeface="Manrope"/>
                        </a:rPr>
                        <a:t>Citizens advocate for infrastructure, livelihood schemes via formal channel</a:t>
                      </a:r>
                    </a:p>
                  </a:txBody>
                  <a:tcPr>
                    <a:solidFill>
                      <a:srgbClr val="E8F5E9"/>
                    </a:solidFill>
                  </a:tcPr>
                </a:tc>
                <a:tc>
                  <a:txBody>
                    <a:bodyPr/>
                    <a:lstStyle/>
                    <a:p>
                      <a:pPr>
                        <a:spcBef>
                          <a:spcPts val="100"/>
                        </a:spcBef>
                        <a:spcAft>
                          <a:spcPts val="100"/>
                        </a:spcAft>
                      </a:pPr>
                      <a:r>
                        <a:rPr sz="900" b="0" i="0">
                          <a:solidFill>
                            <a:srgbClr val="202729"/>
                          </a:solidFill>
                          <a:latin typeface="Manrope"/>
                        </a:rPr>
                        <a:t>Reduce distress migration push factors</a:t>
                      </a:r>
                    </a:p>
                  </a:txBody>
                  <a:tcPr>
                    <a:solidFill>
                      <a:srgbClr val="E8F5E9"/>
                    </a:solidFill>
                  </a:tcPr>
                </a:tc>
              </a:tr>
              <a:tr h="207818">
                <a:tc>
                  <a:txBody>
                    <a:bodyPr/>
                    <a:lstStyle/>
                    <a:p>
                      <a:pPr>
                        <a:spcBef>
                          <a:spcPts val="100"/>
                        </a:spcBef>
                        <a:spcAft>
                          <a:spcPts val="100"/>
                        </a:spcAft>
                      </a:pPr>
                      <a:r>
                        <a:rPr sz="900" b="0" i="0">
                          <a:solidFill>
                            <a:srgbClr val="202729"/>
                          </a:solidFill>
                          <a:latin typeface="Manrope"/>
                        </a:rPr>
                        <a:t>Youth Engagement</a:t>
                      </a:r>
                    </a:p>
                  </a:txBody>
                  <a:tcPr/>
                </a:tc>
                <a:tc>
                  <a:txBody>
                    <a:bodyPr/>
                    <a:lstStyle/>
                    <a:p>
                      <a:pPr>
                        <a:spcBef>
                          <a:spcPts val="100"/>
                        </a:spcBef>
                        <a:spcAft>
                          <a:spcPts val="100"/>
                        </a:spcAft>
                      </a:pPr>
                      <a:r>
                        <a:rPr sz="900" b="0" i="0">
                          <a:solidFill>
                            <a:srgbClr val="202729"/>
                          </a:solidFill>
                          <a:latin typeface="Manrope"/>
                        </a:rPr>
                        <a:t>Mobile-first interface, real-time tracking, transparent process</a:t>
                      </a:r>
                    </a:p>
                  </a:txBody>
                  <a:tcPr/>
                </a:tc>
                <a:tc>
                  <a:txBody>
                    <a:bodyPr/>
                    <a:lstStyle/>
                    <a:p>
                      <a:pPr>
                        <a:spcBef>
                          <a:spcPts val="100"/>
                        </a:spcBef>
                        <a:spcAft>
                          <a:spcPts val="100"/>
                        </a:spcAft>
                      </a:pPr>
                      <a:r>
                        <a:rPr sz="900" b="0" i="0">
                          <a:solidFill>
                            <a:srgbClr val="202729"/>
                          </a:solidFill>
                          <a:latin typeface="Manrope"/>
                        </a:rPr>
                        <a:t>Younger demographic participating in governance</a:t>
                      </a:r>
                    </a:p>
                  </a:txBody>
                  <a:tcPr/>
                </a:tc>
              </a:tr>
              <a:tr h="207818">
                <a:tc>
                  <a:txBody>
                    <a:bodyPr/>
                    <a:lstStyle/>
                    <a:p>
                      <a:pPr>
                        <a:spcBef>
                          <a:spcPts val="100"/>
                        </a:spcBef>
                        <a:spcAft>
                          <a:spcPts val="100"/>
                        </a:spcAft>
                      </a:pPr>
                      <a:r>
                        <a:rPr sz="900" b="0" i="0">
                          <a:solidFill>
                            <a:srgbClr val="202729"/>
                          </a:solidFill>
                          <a:latin typeface="Manrope"/>
                        </a:rPr>
                        <a:t>Administrative Efficiency</a:t>
                      </a:r>
                    </a:p>
                  </a:txBody>
                  <a:tcPr>
                    <a:solidFill>
                      <a:srgbClr val="E8F5E9"/>
                    </a:solidFill>
                  </a:tcPr>
                </a:tc>
                <a:tc>
                  <a:txBody>
                    <a:bodyPr/>
                    <a:lstStyle/>
                    <a:p>
                      <a:pPr>
                        <a:spcBef>
                          <a:spcPts val="100"/>
                        </a:spcBef>
                        <a:spcAft>
                          <a:spcPts val="100"/>
                        </a:spcAft>
                      </a:pPr>
                      <a:r>
                        <a:rPr sz="900" b="0" i="0">
                          <a:solidFill>
                            <a:srgbClr val="202729"/>
                          </a:solidFill>
                          <a:latin typeface="Manrope"/>
                        </a:rPr>
                        <a:t>Digital records, pattern analytics, automated MOM &amp; agenda</a:t>
                      </a:r>
                    </a:p>
                  </a:txBody>
                  <a:tcPr>
                    <a:solidFill>
                      <a:srgbClr val="E8F5E9"/>
                    </a:solidFill>
                  </a:tcPr>
                </a:tc>
                <a:tc>
                  <a:txBody>
                    <a:bodyPr/>
                    <a:lstStyle/>
                    <a:p>
                      <a:pPr>
                        <a:spcBef>
                          <a:spcPts val="100"/>
                        </a:spcBef>
                        <a:spcAft>
                          <a:spcPts val="100"/>
                        </a:spcAft>
                      </a:pPr>
                      <a:r>
                        <a:rPr sz="900" b="0" i="0">
                          <a:solidFill>
                            <a:srgbClr val="202729"/>
                          </a:solidFill>
                          <a:latin typeface="Manrope"/>
                        </a:rPr>
                        <a:t>Block/District oversight without physical inspection</a:t>
                      </a:r>
                    </a:p>
                  </a:txBody>
                  <a:tcPr>
                    <a:solidFill>
                      <a:srgbClr val="E8F5E9"/>
                    </a:solidFill>
                  </a:tcPr>
                </a:tc>
              </a:tr>
              <a:tr h="207818">
                <a:tc>
                  <a:txBody>
                    <a:bodyPr/>
                    <a:lstStyle/>
                    <a:p>
                      <a:pPr>
                        <a:spcBef>
                          <a:spcPts val="100"/>
                        </a:spcBef>
                        <a:spcAft>
                          <a:spcPts val="100"/>
                        </a:spcAft>
                      </a:pPr>
                      <a:r>
                        <a:rPr sz="900" b="0" i="0">
                          <a:solidFill>
                            <a:srgbClr val="202729"/>
                          </a:solidFill>
                          <a:latin typeface="Manrope"/>
                        </a:rPr>
                        <a:t>Cost Reduction</a:t>
                      </a:r>
                    </a:p>
                  </a:txBody>
                  <a:tcPr/>
                </a:tc>
                <a:tc>
                  <a:txBody>
                    <a:bodyPr/>
                    <a:lstStyle/>
                    <a:p>
                      <a:pPr>
                        <a:spcBef>
                          <a:spcPts val="100"/>
                        </a:spcBef>
                        <a:spcAft>
                          <a:spcPts val="100"/>
                        </a:spcAft>
                      </a:pPr>
                      <a:r>
                        <a:rPr sz="900" b="0" i="0">
                          <a:solidFill>
                            <a:srgbClr val="202729"/>
                          </a:solidFill>
                          <a:latin typeface="Manrope"/>
                        </a:rPr>
                        <a:t>Digital vs paper-based processes at scale</a:t>
                      </a:r>
                    </a:p>
                  </a:txBody>
                  <a:tcPr/>
                </a:tc>
                <a:tc>
                  <a:txBody>
                    <a:bodyPr/>
                    <a:lstStyle/>
                    <a:p>
                      <a:pPr>
                        <a:spcBef>
                          <a:spcPts val="100"/>
                        </a:spcBef>
                        <a:spcAft>
                          <a:spcPts val="100"/>
                        </a:spcAft>
                      </a:pPr>
                      <a:r>
                        <a:rPr sz="900" b="0" i="0">
                          <a:solidFill>
                            <a:srgbClr val="202729"/>
                          </a:solidFill>
                          <a:latin typeface="Manrope"/>
                        </a:rPr>
                        <a:t>~100x cost reduction (Rs 500+/meeting vs Rs 5/citizen/year)</a:t>
                      </a:r>
                    </a:p>
                  </a:txBody>
                  <a:tcPr/>
                </a:tc>
              </a:tr>
              <a:tr h="207820">
                <a:tc>
                  <a:txBody>
                    <a:bodyPr/>
                    <a:lstStyle/>
                    <a:p>
                      <a:pPr>
                        <a:spcBef>
                          <a:spcPts val="100"/>
                        </a:spcBef>
                        <a:spcAft>
                          <a:spcPts val="100"/>
                        </a:spcAft>
                      </a:pPr>
                      <a:r>
                        <a:rPr sz="900" b="0" i="0">
                          <a:solidFill>
                            <a:srgbClr val="202729"/>
                          </a:solidFill>
                          <a:latin typeface="Manrope"/>
                        </a:rPr>
                        <a:t>Constitutional Compliance</a:t>
                      </a:r>
                    </a:p>
                  </a:txBody>
                  <a:tcPr>
                    <a:solidFill>
                      <a:srgbClr val="E8F5E9"/>
                    </a:solidFill>
                  </a:tcPr>
                </a:tc>
                <a:tc>
                  <a:txBody>
                    <a:bodyPr/>
                    <a:lstStyle/>
                    <a:p>
                      <a:pPr>
                        <a:spcBef>
                          <a:spcPts val="100"/>
                        </a:spcBef>
                        <a:spcAft>
                          <a:spcPts val="100"/>
                        </a:spcAft>
                      </a:pPr>
                      <a:r>
                        <a:rPr sz="900" b="0" i="0">
                          <a:solidFill>
                            <a:srgbClr val="202729"/>
                          </a:solidFill>
                          <a:latin typeface="Manrope"/>
                        </a:rPr>
                        <a:t>Regular, documented, inclusive, multilingual Gram Sabhas</a:t>
                      </a:r>
                    </a:p>
                  </a:txBody>
                  <a:tcPr>
                    <a:solidFill>
                      <a:srgbClr val="E8F5E9"/>
                    </a:solidFill>
                  </a:tcPr>
                </a:tc>
                <a:tc>
                  <a:txBody>
                    <a:bodyPr/>
                    <a:lstStyle/>
                    <a:p>
                      <a:pPr>
                        <a:spcBef>
                          <a:spcPts val="100"/>
                        </a:spcBef>
                        <a:spcAft>
                          <a:spcPts val="100"/>
                        </a:spcAft>
                      </a:pPr>
                      <a:r>
                        <a:rPr sz="900" b="0" i="0">
                          <a:solidFill>
                            <a:srgbClr val="202729"/>
                          </a:solidFill>
                          <a:latin typeface="Manrope"/>
                        </a:rPr>
                        <a:t>73rd Amendment actually implemented as designed</a:t>
                      </a:r>
                    </a:p>
                  </a:txBody>
                  <a:tcPr>
                    <a:solidFill>
                      <a:srgbClr val="E8F5E9"/>
                    </a:solidFill>
                  </a:tcPr>
                </a:tc>
              </a:tr>
            </a:tbl>
          </a:graphicData>
        </a:graphic>
      </p:graphicFrame>
      <p:sp>
        <p:nvSpPr>
          <p:cNvPr id="135" name="TextBox 134"/>
          <p:cNvSpPr txBox="1"/>
          <p:nvPr/>
        </p:nvSpPr>
        <p:spPr>
          <a:xfrm>
            <a:off x="274320" y="4572000"/>
            <a:ext cx="8686800" cy="274320"/>
          </a:xfrm>
          <a:prstGeom prst="rect">
            <a:avLst/>
          </a:prstGeom>
          <a:noFill/>
        </p:spPr>
        <p:txBody>
          <a:bodyPr wrap="square">
            <a:spAutoFit/>
          </a:bodyPr>
          <a:lstStyle/>
          <a:p>
            <a:r>
              <a:rPr sz="700" b="0" i="1">
                <a:solidFill>
                  <a:srgbClr val="757575"/>
                </a:solidFill>
                <a:latin typeface="Consolas"/>
              </a:rPr>
              <a:t>Source: IMPACT.md:14,330-340 | Tatarpur Digital Gram Sabha (April 2025)</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26" title="AI for Bharddat BANNER – 5.png"/>
          <p:cNvPicPr preferRelativeResize="0"/>
          <p:nvPr/>
        </p:nvPicPr>
        <p:blipFill rotWithShape="1">
          <a:blip r:embed="rId3">
            <a:alphaModFix/>
          </a:blip>
          <a:srcRect b="0" l="0" r="0" t="0"/>
          <a:stretch/>
        </p:blipFill>
        <p:spPr>
          <a:xfrm>
            <a:off x="0" y="0"/>
            <a:ext cx="9144018" cy="5143501"/>
          </a:xfrm>
          <a:prstGeom prst="rect">
            <a:avLst/>
          </a:prstGeom>
          <a:noFill/>
          <a:ln>
            <a:noFill/>
          </a:ln>
        </p:spPr>
      </p:pic>
      <p:sp>
        <p:nvSpPr>
          <p:cNvPr id="136" name="TextBox 135"/>
          <p:cNvSpPr txBox="1"/>
          <p:nvPr/>
        </p:nvSpPr>
        <p:spPr>
          <a:xfrm>
            <a:off x="311700" y="863550"/>
            <a:ext cx="8520600" cy="365760"/>
          </a:xfrm>
          <a:prstGeom prst="rect">
            <a:avLst/>
          </a:prstGeom>
          <a:noFill/>
        </p:spPr>
        <p:txBody>
          <a:bodyPr wrap="square">
            <a:spAutoFit/>
          </a:bodyPr>
          <a:lstStyle/>
          <a:p>
            <a:r>
              <a:rPr sz="2200" b="1" i="0">
                <a:solidFill>
                  <a:srgbClr val="202729"/>
                </a:solidFill>
                <a:latin typeface="Manrope"/>
              </a:rPr>
              <a:t>Additional Details / Future Development</a:t>
            </a:r>
          </a:p>
        </p:txBody>
      </p:sp>
      <p:sp>
        <p:nvSpPr>
          <p:cNvPr id="137" name="Rounded Rectangle 136"/>
          <p:cNvSpPr/>
          <p:nvPr/>
        </p:nvSpPr>
        <p:spPr>
          <a:xfrm>
            <a:off x="274320" y="1325880"/>
            <a:ext cx="2057400" cy="32004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Manrope"/>
              </a:rPr>
              <a:t>Immediate (Config changes)</a:t>
            </a:r>
          </a:p>
        </p:txBody>
      </p:sp>
      <p:sp>
        <p:nvSpPr>
          <p:cNvPr id="138" name="TextBox 137"/>
          <p:cNvSpPr txBox="1"/>
          <p:nvPr/>
        </p:nvSpPr>
        <p:spPr>
          <a:xfrm>
            <a:off x="274320" y="1691640"/>
            <a:ext cx="2057400" cy="1828800"/>
          </a:xfrm>
          <a:prstGeom prst="rect">
            <a:avLst/>
          </a:prstGeom>
          <a:noFill/>
        </p:spPr>
        <p:txBody>
          <a:bodyPr wrap="square">
            <a:spAutoFit/>
          </a:bodyPr>
          <a:lstStyle/>
          <a:p>
            <a:pPr>
              <a:spcBef>
                <a:spcPts val="300"/>
              </a:spcBef>
              <a:spcAft>
                <a:spcPts val="100"/>
              </a:spcAft>
            </a:pPr>
            <a:r>
              <a:rPr sz="800" b="0" i="0">
                <a:solidFill>
                  <a:srgbClr val="202729"/>
                </a:solidFill>
                <a:latin typeface="Manrope"/>
              </a:rPr>
              <a:t>&gt;&gt; Activate AWS Transcribe — code complete, needs subscription activation. Switch STT_PROVIDER=aws_transcribe</a:t>
            </a:r>
          </a:p>
          <a:p>
            <a:pPr>
              <a:spcBef>
                <a:spcPts val="300"/>
              </a:spcBef>
              <a:spcAft>
                <a:spcPts val="100"/>
              </a:spcAft>
            </a:pPr>
            <a:r>
              <a:rPr sz="800" b="0" i="0">
                <a:solidFill>
                  <a:srgbClr val="202729"/>
                </a:solidFill>
                <a:latin typeface="Manrope"/>
              </a:rPr>
              <a:t>&gt;&gt; DLT registration for SNS SMS — API calls succeed, delivery needs India TRAI DLT entity + template registration</a:t>
            </a:r>
          </a:p>
          <a:p>
            <a:pPr>
              <a:spcBef>
                <a:spcPts val="300"/>
              </a:spcBef>
              <a:spcAft>
                <a:spcPts val="100"/>
              </a:spcAft>
            </a:pPr>
            <a:r>
              <a:rPr sz="800" b="0" i="0">
                <a:solidFill>
                  <a:srgbClr val="202729"/>
                </a:solidFill>
                <a:latin typeface="Manrope"/>
              </a:rPr>
              <a:t>&gt;&gt; Enable Rekognition — server-side face verification. Set FACE_VERIFICATION_PROVIDER=rekognition. 90% threshold.</a:t>
            </a:r>
          </a:p>
        </p:txBody>
      </p:sp>
      <p:sp>
        <p:nvSpPr>
          <p:cNvPr id="139" name="Rounded Rectangle 138"/>
          <p:cNvSpPr/>
          <p:nvPr/>
        </p:nvSpPr>
        <p:spPr>
          <a:xfrm>
            <a:off x="2423160" y="1325880"/>
            <a:ext cx="2057400" cy="320040"/>
          </a:xfrm>
          <a:prstGeom prst="roundRect">
            <a:avLst/>
          </a:prstGeom>
          <a:solidFill>
            <a:srgbClr val="0073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Manrope"/>
              </a:rPr>
              <a:t>Short-term</a:t>
            </a:r>
          </a:p>
        </p:txBody>
      </p:sp>
      <p:sp>
        <p:nvSpPr>
          <p:cNvPr id="140" name="TextBox 139"/>
          <p:cNvSpPr txBox="1"/>
          <p:nvPr/>
        </p:nvSpPr>
        <p:spPr>
          <a:xfrm>
            <a:off x="2423160" y="1691640"/>
            <a:ext cx="2057400" cy="1828800"/>
          </a:xfrm>
          <a:prstGeom prst="rect">
            <a:avLst/>
          </a:prstGeom>
          <a:noFill/>
        </p:spPr>
        <p:txBody>
          <a:bodyPr wrap="square">
            <a:spAutoFit/>
          </a:bodyPr>
          <a:lstStyle/>
          <a:p>
            <a:pPr>
              <a:spcBef>
                <a:spcPts val="300"/>
              </a:spcBef>
              <a:spcAft>
                <a:spcPts val="100"/>
              </a:spcAft>
            </a:pPr>
            <a:r>
              <a:rPr sz="800" b="0" i="0">
                <a:solidFill>
                  <a:srgbClr val="202729"/>
                </a:solidFill>
                <a:latin typeface="Manrope"/>
              </a:rPr>
              <a:t>&gt;&gt; DocumentDB migration — set USE_DOCUMENTDB=true. Automated backups, multi-AZ failover, read replicas</a:t>
            </a:r>
          </a:p>
          <a:p>
            <a:pPr>
              <a:spcBef>
                <a:spcPts val="300"/>
              </a:spcBef>
              <a:spcAft>
                <a:spcPts val="100"/>
              </a:spcAft>
            </a:pPr>
            <a:r>
              <a:rPr sz="800" b="0" i="0">
                <a:solidFill>
                  <a:srgbClr val="202729"/>
                </a:solidFill>
                <a:latin typeface="Manrope"/>
              </a:rPr>
              <a:t>&gt;&gt; Native mobile app (React Native) — extend reach to feature phones and offline-first scenarios</a:t>
            </a:r>
          </a:p>
          <a:p>
            <a:pPr>
              <a:spcBef>
                <a:spcPts val="300"/>
              </a:spcBef>
              <a:spcAft>
                <a:spcPts val="100"/>
              </a:spcAft>
            </a:pPr>
            <a:r>
              <a:rPr sz="800" b="0" i="0">
                <a:solidFill>
                  <a:srgbClr val="202729"/>
                </a:solidFill>
                <a:latin typeface="Manrope"/>
              </a:rPr>
              <a:t>&gt;&gt; e-Gram Swaraj + Panchayat Nirnay integration — feed citizen issues to government planning portal</a:t>
            </a:r>
          </a:p>
        </p:txBody>
      </p:sp>
      <p:sp>
        <p:nvSpPr>
          <p:cNvPr id="141" name="Rounded Rectangle 140"/>
          <p:cNvSpPr/>
          <p:nvPr/>
        </p:nvSpPr>
        <p:spPr>
          <a:xfrm>
            <a:off x="4572000" y="1325880"/>
            <a:ext cx="2057400" cy="320040"/>
          </a:xfrm>
          <a:prstGeom prst="round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Manrope"/>
              </a:rPr>
              <a:t>Medium-term</a:t>
            </a:r>
          </a:p>
        </p:txBody>
      </p:sp>
      <p:sp>
        <p:nvSpPr>
          <p:cNvPr id="142" name="TextBox 141"/>
          <p:cNvSpPr txBox="1"/>
          <p:nvPr/>
        </p:nvSpPr>
        <p:spPr>
          <a:xfrm>
            <a:off x="4572000" y="1691640"/>
            <a:ext cx="2057400" cy="1828800"/>
          </a:xfrm>
          <a:prstGeom prst="rect">
            <a:avLst/>
          </a:prstGeom>
          <a:noFill/>
        </p:spPr>
        <p:txBody>
          <a:bodyPr wrap="square">
            <a:spAutoFit/>
          </a:bodyPr>
          <a:lstStyle/>
          <a:p>
            <a:pPr>
              <a:spcBef>
                <a:spcPts val="300"/>
              </a:spcBef>
              <a:spcAft>
                <a:spcPts val="100"/>
              </a:spcAft>
            </a:pPr>
            <a:r>
              <a:rPr sz="800" b="0" i="0">
                <a:solidFill>
                  <a:srgbClr val="202729"/>
                </a:solidFill>
                <a:latin typeface="Manrope"/>
              </a:rPr>
              <a:t>&gt;&gt; Multi-panchayat escalation — issues affecting multiple villages escalated to Block/District level</a:t>
            </a:r>
          </a:p>
          <a:p>
            <a:pPr>
              <a:spcBef>
                <a:spcPts val="300"/>
              </a:spcBef>
              <a:spcAft>
                <a:spcPts val="100"/>
              </a:spcAft>
            </a:pPr>
            <a:r>
              <a:rPr sz="800" b="0" i="0">
                <a:solidFill>
                  <a:srgbClr val="202729"/>
                </a:solidFill>
                <a:latin typeface="Manrope"/>
              </a:rPr>
              <a:t>&gt;&gt; Block/District analytics dashboards — aggregate issue data reveals systemic problems across panchayats</a:t>
            </a:r>
          </a:p>
          <a:p>
            <a:pPr>
              <a:spcBef>
                <a:spcPts val="300"/>
              </a:spcBef>
              <a:spcAft>
                <a:spcPts val="100"/>
              </a:spcAft>
            </a:pPr>
            <a:r>
              <a:rPr sz="800" b="0" i="0">
                <a:solidFill>
                  <a:srgbClr val="202729"/>
                </a:solidFill>
                <a:latin typeface="Manrope"/>
              </a:rPr>
              <a:t>&gt;&gt; Video Gram Sabha with AI transcription — virtual meeting participation via JioMeet with real-time MOM</a:t>
            </a:r>
          </a:p>
        </p:txBody>
      </p:sp>
      <p:sp>
        <p:nvSpPr>
          <p:cNvPr id="143" name="Rounded Rectangle 142"/>
          <p:cNvSpPr/>
          <p:nvPr/>
        </p:nvSpPr>
        <p:spPr>
          <a:xfrm>
            <a:off x="6720840" y="1325880"/>
            <a:ext cx="2057400" cy="320040"/>
          </a:xfrm>
          <a:prstGeom prst="round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Manrope"/>
              </a:rPr>
              <a:t>Long-term (National)</a:t>
            </a:r>
          </a:p>
        </p:txBody>
      </p:sp>
      <p:sp>
        <p:nvSpPr>
          <p:cNvPr id="144" name="TextBox 143"/>
          <p:cNvSpPr txBox="1"/>
          <p:nvPr/>
        </p:nvSpPr>
        <p:spPr>
          <a:xfrm>
            <a:off x="6720840" y="1691640"/>
            <a:ext cx="2057400" cy="1828800"/>
          </a:xfrm>
          <a:prstGeom prst="rect">
            <a:avLst/>
          </a:prstGeom>
          <a:noFill/>
        </p:spPr>
        <p:txBody>
          <a:bodyPr wrap="square">
            <a:spAutoFit/>
          </a:bodyPr>
          <a:lstStyle/>
          <a:p>
            <a:pPr>
              <a:spcBef>
                <a:spcPts val="300"/>
              </a:spcBef>
              <a:spcAft>
                <a:spcPts val="100"/>
              </a:spcAft>
            </a:pPr>
            <a:r>
              <a:rPr sz="800" b="0" i="0">
                <a:solidFill>
                  <a:srgbClr val="202729"/>
                </a:solidFill>
                <a:latin typeface="Manrope"/>
              </a:rPr>
              <a:t>&gt;&gt; National rollout to 250,000 panchayats, 250M+ citizens — ECS Fargate multi-region, global DocumentDB</a:t>
            </a:r>
          </a:p>
          <a:p>
            <a:pPr>
              <a:spcBef>
                <a:spcPts val="300"/>
              </a:spcBef>
              <a:spcAft>
                <a:spcPts val="100"/>
              </a:spcAft>
            </a:pPr>
            <a:r>
              <a:rPr sz="800" b="0" i="0">
                <a:solidFill>
                  <a:srgbClr val="202729"/>
                </a:solidFill>
                <a:latin typeface="Manrope"/>
              </a:rPr>
              <a:t>&gt;&gt; Aadhaar integration — biometric identity layer alongside face-api.js for maximum coverage</a:t>
            </a:r>
          </a:p>
          <a:p>
            <a:pPr>
              <a:spcBef>
                <a:spcPts val="300"/>
              </a:spcBef>
              <a:spcAft>
                <a:spcPts val="100"/>
              </a:spcAft>
            </a:pPr>
            <a:r>
              <a:rPr sz="800" b="0" i="0">
                <a:solidFill>
                  <a:srgbClr val="202729"/>
                </a:solidFill>
                <a:latin typeface="Manrope"/>
              </a:rPr>
              <a:t>&gt;&gt; Open API for third-party integrations — CSOs, researchers, government dashboards access Gram Sabha data</a:t>
            </a:r>
          </a:p>
          <a:p>
            <a:pPr>
              <a:spcBef>
                <a:spcPts val="300"/>
              </a:spcBef>
              <a:spcAft>
                <a:spcPts val="100"/>
              </a:spcAft>
            </a:pPr>
            <a:r>
              <a:rPr sz="800" b="0" i="0">
                <a:solidFill>
                  <a:srgbClr val="202729"/>
                </a:solidFill>
                <a:latin typeface="Manrope"/>
              </a:rPr>
              <a:t>&gt;&gt; Scheme delivery tracking — verify whether announced welfare schemes reach intended beneficiaries</a:t>
            </a:r>
          </a:p>
        </p:txBody>
      </p:sp>
      <p:sp>
        <p:nvSpPr>
          <p:cNvPr id="145" name="Rounded Rectangle 144"/>
          <p:cNvSpPr/>
          <p:nvPr/>
        </p:nvSpPr>
        <p:spPr>
          <a:xfrm>
            <a:off x="274320" y="3474720"/>
            <a:ext cx="8595360" cy="73152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FFFFFF"/>
                </a:solidFill>
                <a:latin typeface="Manrope"/>
              </a:rPr>
              <a:t>"Sashakt Panchayat, Samriddh Bharat" — Strong Panchayat, Prosperous India</a:t>
            </a:r>
          </a:p>
          <a:p>
            <a:pPr algn="ctr"/>
            <a:r>
              <a:rPr sz="900" b="0" i="1">
                <a:solidFill>
                  <a:srgbClr val="FFFFFF"/>
                </a:solidFill>
                <a:latin typeface="Manrope"/>
              </a:rPr>
              <a:t>Digital India alignment: UPI (350M+ users proves simple inclusive interfaces drive mass adoption), Aadhaar (identity infrastructure), DBT (funds reach beneficiaries — eGramSabha ensures RIGHT beneficiaries selected), CoWIN (scaled to hundreds of millions in months). Well-designed Digital Public Goods, once adopted, scale to hundreds of millions in years, not decades.</a:t>
            </a:r>
          </a:p>
        </p:txBody>
      </p:sp>
      <p:sp>
        <p:nvSpPr>
          <p:cNvPr id="146" name="Rounded Rectangle 145"/>
          <p:cNvSpPr/>
          <p:nvPr/>
        </p:nvSpPr>
        <p:spPr>
          <a:xfrm>
            <a:off x="274320" y="4297680"/>
            <a:ext cx="2057400" cy="41148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1" i="0">
                <a:solidFill>
                  <a:srgbClr val="FFFFFF"/>
                </a:solidFill>
                <a:latin typeface="Manrope"/>
              </a:rPr>
              <a:t>GitHub Public Repository: </a:t>
            </a:r>
            <a:r>
              <a:rPr sz="600" b="0" i="0">
                <a:solidFill>
                  <a:srgbClr val="FFFFFF"/>
                </a:solidFill>
                <a:latin typeface="Manrope"/>
              </a:rPr>
              <a:t>https://github.com/anshuljain90/ai4bharat-empowerpanchayat</a:t>
            </a:r>
          </a:p>
        </p:txBody>
      </p:sp>
      <p:sp>
        <p:nvSpPr>
          <p:cNvPr id="147" name="Rounded Rectangle 146"/>
          <p:cNvSpPr/>
          <p:nvPr/>
        </p:nvSpPr>
        <p:spPr>
          <a:xfrm>
            <a:off x="2468880" y="4297680"/>
            <a:ext cx="2057400" cy="411480"/>
          </a:xfrm>
          <a:prstGeom prst="roundRect">
            <a:avLst/>
          </a:prstGeom>
          <a:solidFill>
            <a:srgbClr val="0073B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1" i="0">
                <a:solidFill>
                  <a:srgbClr val="FFFFFF"/>
                </a:solidFill>
                <a:latin typeface="Manrope"/>
              </a:rPr>
              <a:t>Live Deployment: </a:t>
            </a:r>
            <a:r>
              <a:rPr sz="600" b="0" i="0">
                <a:solidFill>
                  <a:srgbClr val="FFFFFF"/>
                </a:solidFill>
                <a:latin typeface="Manrope"/>
              </a:rPr>
              <a:t>https://empowerpanchayat.org/</a:t>
            </a:r>
          </a:p>
        </p:txBody>
      </p:sp>
      <p:sp>
        <p:nvSpPr>
          <p:cNvPr id="148" name="Rounded Rectangle 147"/>
          <p:cNvSpPr/>
          <p:nvPr/>
        </p:nvSpPr>
        <p:spPr>
          <a:xfrm>
            <a:off x="4663440" y="4297680"/>
            <a:ext cx="2057400" cy="411480"/>
          </a:xfrm>
          <a:prstGeom prst="round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1" i="0">
                <a:solidFill>
                  <a:srgbClr val="FFFFFF"/>
                </a:solidFill>
                <a:latin typeface="Manrope"/>
              </a:rPr>
              <a:t>Demo Video: </a:t>
            </a:r>
            <a:r>
              <a:rPr sz="600" b="0" i="0">
                <a:solidFill>
                  <a:srgbClr val="FFFFFF"/>
                </a:solidFill>
                <a:latin typeface="Manrope"/>
              </a:rPr>
              <a:t>(Max 3 minutes — link to be provided)</a:t>
            </a:r>
          </a:p>
        </p:txBody>
      </p:sp>
      <p:sp>
        <p:nvSpPr>
          <p:cNvPr id="149" name="Rounded Rectangle 148"/>
          <p:cNvSpPr/>
          <p:nvPr/>
        </p:nvSpPr>
        <p:spPr>
          <a:xfrm>
            <a:off x="6858000" y="4297680"/>
            <a:ext cx="2057400" cy="411480"/>
          </a:xfrm>
          <a:prstGeom prst="roundRect">
            <a:avLst/>
          </a:prstGeom>
          <a:solidFill>
            <a:srgbClr val="7B1FA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700" b="1" i="0">
                <a:solidFill>
                  <a:srgbClr val="FFFFFF"/>
                </a:solidFill>
                <a:latin typeface="Manrope"/>
              </a:rPr>
              <a:t>License: </a:t>
            </a:r>
            <a:r>
              <a:rPr sz="600" b="0" i="0">
                <a:solidFill>
                  <a:srgbClr val="FFFFFF"/>
                </a:solidFill>
                <a:latin typeface="Manrope"/>
              </a:rPr>
              <a:t>Apache 2.0 — Digital Public Good (DPG)</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